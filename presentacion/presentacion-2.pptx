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00" b="0" i="0" u="none" strike="noStrike">
                <a:solidFill>
                  <a:srgbClr val="1E2B37"/>
                </a:solidFill>
                <a:latin typeface="Arial"/>
              </a:defRPr>
            </a:pPr>
            <a:r>
              <a:rPr sz="800" b="0" i="0" u="none" strike="noStrike">
                <a:solidFill>
                  <a:srgbClr val="1E2B37"/>
                </a:solidFill>
                <a:latin typeface="Arial"/>
              </a:rPr>
              <a:t>Coste por rol, novela publicada (USD)</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Sheet1!$A$2:$A$5</c:f>
              <c:multiLvlStrCache>
                <c:ptCount val="4"/>
                <c:lvl>
                  <c:pt idx="0">
                    <c:v>writer</c:v>
                  </c:pt>
                  <c:pt idx="1">
                    <c:v>editor</c:v>
                  </c:pt>
                  <c:pt idx="2">
                    <c:v>judge</c:v>
                  </c:pt>
                  <c:pt idx="3">
                    <c:v>planner</c:v>
                  </c:pt>
                </c:lvl>
              </c:multiLvlStrCache>
            </c:multiLvlStrRef>
          </c:cat>
          <c:val>
            <c:numRef>
              <c:f>Sheet1!$B$2:$B$5</c:f>
              <c:numCache>
                <c:formatCode>General</c:formatCode>
                <c:ptCount val="4"/>
                <c:pt idx="0">
                  <c:v>1.49</c:v>
                </c:pt>
                <c:pt idx="1">
                  <c:v>0.97</c:v>
                </c:pt>
                <c:pt idx="2">
                  <c:v>0.52</c:v>
                </c:pt>
                <c:pt idx="3">
                  <c:v>0.11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captura real: una sesión por novela, una traza por generación, spans por fase, por capítulo, por rol y por tool, con tokens, coste y latencia. La captura es una novela de un capítulo lanzada desde la página Nueva novela: 9 minutos 42 segundos, 0,43 USD. A la derecha, los scores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[7:00–7:30] Coste medido: la novela de diez capítulos publicada costó 3,10 USD de modelo y 69 minutos; un cambio del lector, unos 0,94 USD. El writer es el rol más caro, luego editor y juez: son los que producen y leen más texto.
Gasto real de todo el desarrollo con modelo: 27,03 USD, contando los tres intentos bloqueados, las evals antes y después del tuning y el experimento de Lean.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[7:30–8:00] Desglose por novela: 3,10 USD de tokens medidos en Langfuse, un 30 % de contingencia por reintentos, el cambio incluido y la infraestructura: unos 4,77 euros. Cobramos 12, así que nos queda un margen operativo de unos 7,23 euros.
El proyecto: 360 horas a 80 euros, 28.800 euros, que es exactamente el piloto.
Volumen: con 500 novelas al mes, Cuentalia gana unos 12.900 euros al mes.
Sensibilidad: si los tokens suben un 50 %, nuestro margen baja pero sigue positivo; si el cliente pide más de tres revisiones y no se cobran, el margen se come; por eso los cambios adicionales se cobran a 2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Prefiero decir yo lo que no está demostrado: el calendario solo se valida junto a una fecha; Lean solo prueba lo que el planner registra; un brief contradictorio se bloquea bien pero caro; las fichas no están versionadas; y antes de producción hay que enmascarar los datos personales en las trazas y calibrar el juez con revisión humana.
Todo eso está en el plan del piloto: ocho semanas hasta el catálogo de Navidad.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El detalle está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8" name="Shape 5"/>
          <p:cNvSpPr/>
          <p:nvPr/>
        </p:nvSpPr>
        <p:spPr>
          <a:xfrm>
            <a:off x="5989320" y="502920"/>
            <a:ext cx="2743200" cy="4023360"/>
          </a:xfrm>
          <a:prstGeom prst="roundRect">
            <a:avLst>
              <a:gd name="adj" fmla="val 4000"/>
            </a:avLst>
          </a:prstGeom>
          <a:solidFill>
            <a:srgbClr val="2A3B4A"/>
          </a:solidFill>
          <a:ln/>
        </p:spPr>
      </p:sp>
      <p:pic>
        <p:nvPicPr>
          <p:cNvPr id="9" name="Image 1" descr="/home/user/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0" name="Text 6"/>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home/user/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home/user/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en Langfuse</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4800600" cy="3148385"/>
          </a:xfrm>
          <a:prstGeom prst="roundRect">
            <a:avLst>
              <a:gd name="adj" fmla="val 2323"/>
            </a:avLst>
          </a:prstGeom>
          <a:solidFill>
            <a:srgbClr val="FFFFFF"/>
          </a:solidFill>
          <a:ln/>
        </p:spPr>
      </p:sp>
      <p:pic>
        <p:nvPicPr>
          <p:cNvPr id="9" name="Image 2" descr="/home/user/My-Story-Marker/presentacion/build/img2/langfuse-trace.png">    </p:cNvPr>
          <p:cNvPicPr>
            <a:picLocks noChangeAspect="1"/>
          </p:cNvPicPr>
          <p:nvPr/>
        </p:nvPicPr>
        <p:blipFill>
          <a:blip r:embed="rId3"/>
          <a:stretch>
            <a:fillRect/>
          </a:stretch>
        </p:blipFill>
        <p:spPr>
          <a:xfrm>
            <a:off x="493776" y="1225296"/>
            <a:ext cx="4727448" cy="3075233"/>
          </a:xfrm>
          <a:prstGeom prst="rect">
            <a:avLst/>
          </a:prstGeom>
        </p:spPr>
      </p:pic>
      <p:sp>
        <p:nvSpPr>
          <p:cNvPr id="10" name="Text 5"/>
          <p:cNvSpPr txBox="1"/>
          <p:nvPr/>
        </p:nvSpPr>
        <p:spPr>
          <a:xfrm>
            <a:off x="457200" y="4391969"/>
            <a:ext cx="4800600" cy="18288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Captura real de Langfuse: spans por fase, capítulo, rol, tool y validador. 9 min 42 s · 0,43 USD · 155.212 tokens.</a:t>
            </a:r>
            <a:endParaRPr lang="en-US" sz="700" dirty="0"/>
          </a:p>
        </p:txBody>
      </p:sp>
      <p:sp>
        <p:nvSpPr>
          <p:cNvPr id="11" name="Text 6"/>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(brief de inyección)</a:t>
            </a:r>
            <a:endParaRPr lang="en-US" sz="1100" dirty="0"/>
          </a:p>
        </p:txBody>
      </p:sp>
      <p:sp>
        <p:nvSpPr>
          <p:cNvPr id="12" name="Text 7"/>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13" name="Shape 8"/>
          <p:cNvSpPr/>
          <p:nvPr/>
        </p:nvSpPr>
        <p:spPr>
          <a:xfrm>
            <a:off x="7406640" y="1508760"/>
            <a:ext cx="1280160" cy="219456"/>
          </a:xfrm>
          <a:prstGeom prst="roundRect">
            <a:avLst>
              <a:gd name="adj" fmla="val 50000"/>
            </a:avLst>
          </a:prstGeom>
          <a:solidFill>
            <a:srgbClr val="FFE9DC"/>
          </a:solidFill>
          <a:ln/>
        </p:spPr>
      </p:sp>
      <p:sp>
        <p:nvSpPr>
          <p:cNvPr id="14" name="Text 9"/>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15" name="Text 10"/>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16" name="Shape 11"/>
          <p:cNvSpPr/>
          <p:nvPr/>
        </p:nvSpPr>
        <p:spPr>
          <a:xfrm>
            <a:off x="7406640" y="1837944"/>
            <a:ext cx="1280160" cy="219456"/>
          </a:xfrm>
          <a:prstGeom prst="roundRect">
            <a:avLst>
              <a:gd name="adj" fmla="val 50000"/>
            </a:avLst>
          </a:prstGeom>
          <a:solidFill>
            <a:srgbClr val="E4F5EA"/>
          </a:solidFill>
          <a:ln/>
        </p:spPr>
      </p:sp>
      <p:sp>
        <p:nvSpPr>
          <p:cNvPr id="17" name="Text 12"/>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18" name="Text 13"/>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19" name="Shape 14"/>
          <p:cNvSpPr/>
          <p:nvPr/>
        </p:nvSpPr>
        <p:spPr>
          <a:xfrm>
            <a:off x="7406640" y="2167128"/>
            <a:ext cx="1280160" cy="219456"/>
          </a:xfrm>
          <a:prstGeom prst="roundRect">
            <a:avLst>
              <a:gd name="adj" fmla="val 50000"/>
            </a:avLst>
          </a:prstGeom>
          <a:solidFill>
            <a:srgbClr val="E4F5EA"/>
          </a:solidFill>
          <a:ln/>
        </p:spPr>
      </p:sp>
      <p:sp>
        <p:nvSpPr>
          <p:cNvPr id="20" name="Text 15"/>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21" name="Text 16"/>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22" name="Shape 17"/>
          <p:cNvSpPr/>
          <p:nvPr/>
        </p:nvSpPr>
        <p:spPr>
          <a:xfrm>
            <a:off x="7406640" y="2496312"/>
            <a:ext cx="1280160" cy="219456"/>
          </a:xfrm>
          <a:prstGeom prst="roundRect">
            <a:avLst>
              <a:gd name="adj" fmla="val 50000"/>
            </a:avLst>
          </a:prstGeom>
          <a:solidFill>
            <a:srgbClr val="E4F5EA"/>
          </a:solidFill>
          <a:ln/>
        </p:spPr>
      </p:sp>
      <p:sp>
        <p:nvSpPr>
          <p:cNvPr id="23" name="Text 18"/>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24" name="Text 19"/>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25" name="Shape 20"/>
          <p:cNvSpPr/>
          <p:nvPr/>
        </p:nvSpPr>
        <p:spPr>
          <a:xfrm>
            <a:off x="7406640" y="2825496"/>
            <a:ext cx="1280160" cy="219456"/>
          </a:xfrm>
          <a:prstGeom prst="roundRect">
            <a:avLst>
              <a:gd name="adj" fmla="val 50000"/>
            </a:avLst>
          </a:prstGeom>
          <a:solidFill>
            <a:srgbClr val="E4F5EA"/>
          </a:solidFill>
          <a:ln/>
        </p:spPr>
      </p:sp>
      <p:sp>
        <p:nvSpPr>
          <p:cNvPr id="26" name="Text 21"/>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27" name="Text 22"/>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28" name="Text 23"/>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29" name="Text 24"/>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11680"/>
          <a:ext cx="1965960" cy="214884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2560320" y="2029968"/>
            <a:ext cx="19202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GASTO REAL MEDIDO</a:t>
            </a:r>
            <a:endParaRPr lang="en-US" sz="750" dirty="0"/>
          </a:p>
        </p:txBody>
      </p:sp>
      <p:sp>
        <p:nvSpPr>
          <p:cNvPr id="16" name="Text 11"/>
          <p:cNvSpPr txBox="1"/>
          <p:nvPr/>
        </p:nvSpPr>
        <p:spPr>
          <a:xfrm>
            <a:off x="2560320" y="2231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10 cap. publicada</a:t>
            </a:r>
            <a:endParaRPr lang="en-US" sz="750" dirty="0"/>
          </a:p>
        </p:txBody>
      </p:sp>
      <p:sp>
        <p:nvSpPr>
          <p:cNvPr id="17" name="Text 12"/>
          <p:cNvSpPr txBox="1"/>
          <p:nvPr/>
        </p:nvSpPr>
        <p:spPr>
          <a:xfrm>
            <a:off x="3886200" y="2231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3,09</a:t>
            </a:r>
            <a:endParaRPr lang="en-US" sz="750" dirty="0"/>
          </a:p>
        </p:txBody>
      </p:sp>
      <p:sp>
        <p:nvSpPr>
          <p:cNvPr id="18" name="Text 13"/>
          <p:cNvSpPr txBox="1"/>
          <p:nvPr/>
        </p:nvSpPr>
        <p:spPr>
          <a:xfrm>
            <a:off x="2560320" y="24597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Cambio del lector (v2)</a:t>
            </a:r>
            <a:endParaRPr lang="en-US" sz="750" dirty="0"/>
          </a:p>
        </p:txBody>
      </p:sp>
      <p:sp>
        <p:nvSpPr>
          <p:cNvPr id="19" name="Text 14"/>
          <p:cNvSpPr txBox="1"/>
          <p:nvPr/>
        </p:nvSpPr>
        <p:spPr>
          <a:xfrm>
            <a:off x="3886200" y="24597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0,94</a:t>
            </a:r>
            <a:endParaRPr lang="en-US" sz="750" dirty="0"/>
          </a:p>
        </p:txBody>
      </p:sp>
      <p:sp>
        <p:nvSpPr>
          <p:cNvPr id="20" name="Text 15"/>
          <p:cNvSpPr txBox="1"/>
          <p:nvPr/>
        </p:nvSpPr>
        <p:spPr>
          <a:xfrm>
            <a:off x="2560320" y="26883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3 capítulos</a:t>
            </a:r>
            <a:endParaRPr lang="en-US" sz="750" dirty="0"/>
          </a:p>
        </p:txBody>
      </p:sp>
      <p:sp>
        <p:nvSpPr>
          <p:cNvPr id="21" name="Text 16"/>
          <p:cNvSpPr txBox="1"/>
          <p:nvPr/>
        </p:nvSpPr>
        <p:spPr>
          <a:xfrm>
            <a:off x="3886200" y="26883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p>
        </p:txBody>
      </p:sp>
      <p:sp>
        <p:nvSpPr>
          <p:cNvPr id="22" name="Text 17"/>
          <p:cNvSpPr txBox="1"/>
          <p:nvPr/>
        </p:nvSpPr>
        <p:spPr>
          <a:xfrm>
            <a:off x="2560320" y="29169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3 intentos bloqueados</a:t>
            </a:r>
            <a:endParaRPr lang="en-US" sz="750" dirty="0"/>
          </a:p>
        </p:txBody>
      </p:sp>
      <p:sp>
        <p:nvSpPr>
          <p:cNvPr id="23" name="Text 18"/>
          <p:cNvSpPr txBox="1"/>
          <p:nvPr/>
        </p:nvSpPr>
        <p:spPr>
          <a:xfrm>
            <a:off x="3886200" y="29169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14,33</a:t>
            </a:r>
            <a:endParaRPr lang="en-US" sz="750" dirty="0"/>
          </a:p>
        </p:txBody>
      </p:sp>
      <p:sp>
        <p:nvSpPr>
          <p:cNvPr id="24" name="Text 19"/>
          <p:cNvSpPr txBox="1"/>
          <p:nvPr/>
        </p:nvSpPr>
        <p:spPr>
          <a:xfrm>
            <a:off x="2560320" y="31455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Evals antes + después</a:t>
            </a:r>
            <a:endParaRPr lang="en-US" sz="750" dirty="0"/>
          </a:p>
        </p:txBody>
      </p:sp>
      <p:sp>
        <p:nvSpPr>
          <p:cNvPr id="25" name="Text 20"/>
          <p:cNvSpPr txBox="1"/>
          <p:nvPr/>
        </p:nvSpPr>
        <p:spPr>
          <a:xfrm>
            <a:off x="3886200" y="31455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6,53</a:t>
            </a:r>
            <a:endParaRPr lang="en-US" sz="750" dirty="0"/>
          </a:p>
        </p:txBody>
      </p:sp>
      <p:sp>
        <p:nvSpPr>
          <p:cNvPr id="26" name="Text 21"/>
          <p:cNvSpPr txBox="1"/>
          <p:nvPr/>
        </p:nvSpPr>
        <p:spPr>
          <a:xfrm>
            <a:off x="2560320" y="3374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Experimento Lean (L04)</a:t>
            </a:r>
            <a:endParaRPr lang="en-US" sz="750" dirty="0"/>
          </a:p>
        </p:txBody>
      </p:sp>
      <p:sp>
        <p:nvSpPr>
          <p:cNvPr id="27" name="Text 22"/>
          <p:cNvSpPr txBox="1"/>
          <p:nvPr/>
        </p:nvSpPr>
        <p:spPr>
          <a:xfrm>
            <a:off x="3886200" y="3374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1,29</a:t>
            </a:r>
            <a:endParaRPr lang="en-US" sz="750" dirty="0"/>
          </a:p>
        </p:txBody>
      </p:sp>
      <p:sp>
        <p:nvSpPr>
          <p:cNvPr id="28" name="Text 23"/>
          <p:cNvSpPr txBox="1"/>
          <p:nvPr/>
        </p:nvSpPr>
        <p:spPr>
          <a:xfrm>
            <a:off x="2560320" y="3602736"/>
            <a:ext cx="1371600" cy="219456"/>
          </a:xfrm>
          <a:prstGeom prst="rect">
            <a:avLst/>
          </a:prstGeom>
          <a:noFill/>
          <a:ln/>
        </p:spPr>
        <p:txBody>
          <a:bodyPr wrap="square" lIns="0" tIns="0" rIns="0" bIns="0" rtlCol="0" anchor="ctr"/>
          <a:lstStyle/>
          <a:p>
            <a:pPr indent="0" marL="0">
              <a:buNone/>
            </a:pPr>
            <a:r>
              <a:rPr lang="en-US" sz="750" b="1" dirty="0">
                <a:solidFill>
                  <a:srgbClr val="1E2B37"/>
                </a:solidFill>
                <a:latin typeface="Arial" pitchFamily="34" charset="0"/>
                <a:ea typeface="Arial" pitchFamily="34" charset="-122"/>
                <a:cs typeface="Arial" pitchFamily="34" charset="-120"/>
              </a:rPr>
              <a:t>Total medido</a:t>
            </a:r>
            <a:endParaRPr lang="en-US" sz="750" dirty="0"/>
          </a:p>
        </p:txBody>
      </p:sp>
      <p:sp>
        <p:nvSpPr>
          <p:cNvPr id="29" name="Text 24"/>
          <p:cNvSpPr txBox="1"/>
          <p:nvPr/>
        </p:nvSpPr>
        <p:spPr>
          <a:xfrm>
            <a:off x="3886200" y="3602736"/>
            <a:ext cx="594360" cy="219456"/>
          </a:xfrm>
          <a:prstGeom prst="rect">
            <a:avLst/>
          </a:prstGeom>
          <a:noFill/>
          <a:ln/>
        </p:spPr>
        <p:txBody>
          <a:bodyPr wrap="square" lIns="0" tIns="0" rIns="0" bIns="0" rtlCol="0" anchor="ctr"/>
          <a:lstStyle/>
          <a:p>
            <a:pPr algn="r" indent="0" marL="0">
              <a:buNone/>
            </a:pPr>
            <a:r>
              <a:rPr lang="en-US" sz="750" b="1" dirty="0">
                <a:solidFill>
                  <a:srgbClr val="AE4E14"/>
                </a:solidFill>
                <a:latin typeface="Arial" pitchFamily="34" charset="0"/>
                <a:ea typeface="Arial" pitchFamily="34" charset="-122"/>
                <a:cs typeface="Arial" pitchFamily="34" charset="-120"/>
              </a:rPr>
              <a:t>27,03</a:t>
            </a:r>
            <a:endParaRPr lang="en-US" sz="750" dirty="0"/>
          </a:p>
        </p:txBody>
      </p:sp>
      <p:sp>
        <p:nvSpPr>
          <p:cNvPr id="30" name="Text 25"/>
          <p:cNvSpPr txBox="1"/>
          <p:nvPr/>
        </p:nvSpPr>
        <p:spPr>
          <a:xfrm>
            <a:off x="457200" y="4187952"/>
            <a:ext cx="4023360" cy="4572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Novela publicada: 0,20–0,49 USD por capítulo, 55 llamadas, 472.436 tokens de salida. Techo por bucles acotados: el peor intento costó 6,05 USD y no se cobra (solo se factura lo publicado). Haiku 4.5: 1 USD/M tokens de entrada, 5 USD/M de salida.</a:t>
            </a:r>
            <a:endParaRPr lang="en-US" sz="700" dirty="0"/>
          </a:p>
        </p:txBody>
      </p:sp>
      <p:sp>
        <p:nvSpPr>
          <p:cNvPr id="31" name="Shape 26"/>
          <p:cNvSpPr/>
          <p:nvPr/>
        </p:nvSpPr>
        <p:spPr>
          <a:xfrm>
            <a:off x="4709160" y="1143000"/>
            <a:ext cx="3977640" cy="3474720"/>
          </a:xfrm>
          <a:prstGeom prst="roundRect">
            <a:avLst>
              <a:gd name="adj" fmla="val 2105"/>
            </a:avLst>
          </a:prstGeom>
          <a:solidFill>
            <a:srgbClr val="1E2B37"/>
          </a:solidFill>
          <a:ln/>
        </p:spPr>
      </p:sp>
      <p:sp>
        <p:nvSpPr>
          <p:cNvPr id="32" name="Text 27"/>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33" name="Text 28"/>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34" name="Text 29"/>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35" name="Text 30"/>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36" name="Text 31"/>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37" name="Text 32"/>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38" name="Text 33"/>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39" name="Text 34"/>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40" name="Text 35"/>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41" name="Text 36"/>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42" name="Text 37"/>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43" name="Text 38"/>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44" name="Text 39"/>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45" name="Text 40"/>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46" name="Text 41"/>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47" name="Text 42"/>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48" name="Text 43"/>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49" name="Text 44"/>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50" name="Text 45"/>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51" name="Shape 46"/>
          <p:cNvSpPr/>
          <p:nvPr/>
        </p:nvSpPr>
        <p:spPr>
          <a:xfrm>
            <a:off x="4846320" y="3767328"/>
            <a:ext cx="3703320" cy="731520"/>
          </a:xfrm>
          <a:prstGeom prst="roundRect">
            <a:avLst>
              <a:gd name="adj" fmla="val 10000"/>
            </a:avLst>
          </a:prstGeom>
          <a:solidFill>
            <a:srgbClr val="2A3B4A"/>
          </a:solidFill>
          <a:ln/>
        </p:spPr>
      </p:sp>
      <p:sp>
        <p:nvSpPr>
          <p:cNvPr id="52" name="Text 47"/>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unitario, proyecto, volumen y sensibilidad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Text 4"/>
          <p:cNvSpPr txBox="1"/>
          <p:nvPr/>
        </p:nvSpPr>
        <p:spPr>
          <a:xfrm>
            <a:off x="457200" y="1115568"/>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COSTE UNITARIO POR NOVELA</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4023360" cy="914400"/>
        </p:xfrm>
        <a:graphic>
          <a:graphicData uri="http://schemas.openxmlformats.org/drawingml/2006/table">
            <a:tbl>
              <a:tblPr/>
              <a:tblGrid>
                <a:gridCol w="2834640"/>
                <a:gridCol w="118872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Concepto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medidos en Langfuse (3,10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2,79</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Contingencia de reintentos (+30 %)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1 cambio del lector incluido (0,94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Infraestructura (150 €/mes ÷ 500 novelas)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total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4,77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AE4E14"/>
                          </a:solidFill>
                          <a:latin typeface="Arial" pitchFamily="34" charset="0"/>
                          <a:ea typeface="Arial" pitchFamily="34" charset="-122"/>
                          <a:cs typeface="Arial" pitchFamily="34" charset="-120"/>
                        </a:rPr>
                        <a:t>Precio a Cuentalia · margen operativo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 · 7,23 (60 %)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0" name="Text 5"/>
          <p:cNvSpPr txBox="1"/>
          <p:nvPr/>
        </p:nvSpPr>
        <p:spPr>
          <a:xfrm>
            <a:off x="4709160" y="1115568"/>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PROYECTO DE DESARROLLO</a:t>
            </a:r>
            <a:endParaRPr lang="en-US" sz="7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709160" y="1325880"/>
          <a:ext cx="3977640" cy="914400"/>
        </p:xfrm>
        <a:graphic>
          <a:graphicData uri="http://schemas.openxmlformats.org/drawingml/2006/table">
            <a:tbl>
              <a:tblPr/>
              <a:tblGrid>
                <a:gridCol w="2514600"/>
                <a:gridCol w="548640"/>
                <a:gridCol w="9144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Fase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Horas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Diseño (specs, arquitectura, TLA+)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4.800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Desarrollo (pipeline, lector, integración)</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180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14.400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Validación (evals, Lean, QA editorial)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7.200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Despliegue (RGPD, puesta en marcha)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Total a 80 €/h</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28.800 €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2" name="Text 6"/>
          <p:cNvSpPr txBox="1"/>
          <p:nvPr/>
        </p:nvSpPr>
        <p:spPr>
          <a:xfrm>
            <a:off x="457200" y="2971800"/>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ESCENARIOS DE VOLUMEN (€/MES)</a:t>
            </a:r>
            <a:endParaRPr lang="en-US" sz="750" dirty="0"/>
          </a:p>
        </p:txBody>
      </p:sp>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457200" y="3182112"/>
          <a:ext cx="4023360" cy="914400"/>
        </p:xfrm>
        <a:graphic>
          <a:graphicData uri="http://schemas.openxmlformats.org/drawingml/2006/table">
            <a:tbl>
              <a:tblPr/>
              <a:tblGrid>
                <a:gridCol w="1737360"/>
                <a:gridCol w="758952"/>
                <a:gridCol w="758952"/>
                <a:gridCol w="768096"/>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Novelas/mes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2.000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Ventas Cuentalia (PVP 39 €)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78.000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Cuentalia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2.100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12.900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53.400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1.203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4.214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15.504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4" name="Text 7"/>
          <p:cNvSpPr txBox="1"/>
          <p:nvPr/>
        </p:nvSpPr>
        <p:spPr>
          <a:xfrm>
            <a:off x="4709160" y="2971800"/>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SENSIBILIDAD (POR NOVELA)</a:t>
            </a:r>
            <a:endParaRPr lang="en-US" sz="750" dirty="0"/>
          </a:p>
        </p:txBody>
      </p:sp>
      <p:graphicFrame>
        <p:nvGraphicFramePr>
          <p:cNvPr id="49" name="Table 3"/>
          <p:cNvGraphicFramePr>
            <a:graphicFrameLocks noGrp="1"/>
          </p:cNvGraphicFramePr>
          <p:nvPr>
            <p:extLst>
              <p:ext uri="{D42A27DB-BD31-4B8C-83A1-F6EECF244321}">
                <p14:modId xmlns:p14="http://schemas.microsoft.com/office/powerpoint/2010/main" val="1579011935"/>
              </p:ext>
            </p:extLst>
          </p:nvPr>
        </p:nvGraphicFramePr>
        <p:xfrm>
          <a:off x="4709160" y="3182112"/>
          <a:ext cx="3977640" cy="914400"/>
        </p:xfrm>
        <a:graphic>
          <a:graphicData uri="http://schemas.openxmlformats.org/drawingml/2006/table">
            <a:tbl>
              <a:tblPr/>
              <a:tblGrid>
                <a:gridCol w="1965960"/>
                <a:gridCol w="868680"/>
                <a:gridCol w="11430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Escenario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Coste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Base (1 cambio)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4,77 €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7,23 €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7,01 €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4,99 €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4 revisiones (3 extra a 2 €)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7,31 €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10,69 €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6 revisiones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 y 6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13,35 €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B83232"/>
                          </a:solidFill>
                          <a:latin typeface="Arial" pitchFamily="34" charset="0"/>
                          <a:ea typeface="Arial" pitchFamily="34" charset="-122"/>
                          <a:cs typeface="Arial" pitchFamily="34" charset="-120"/>
                        </a:rPr>
                        <a:t>-1,35 €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6" name="Text 8"/>
          <p:cNvSpPr txBox="1"/>
          <p:nvPr/>
        </p:nvSpPr>
        <p:spPr>
          <a:xfrm>
            <a:off x="4709160" y="4553712"/>
            <a:ext cx="3977640" cy="182880"/>
          </a:xfrm>
          <a:prstGeom prst="rect">
            <a:avLst/>
          </a:prstGeom>
          <a:noFill/>
          <a:ln/>
        </p:spPr>
        <p:txBody>
          <a:bodyPr wrap="square" lIns="0" tIns="0" rIns="0" bIns="0" rtlCol="0" anchor="t"/>
          <a:lstStyle/>
          <a:p>
            <a:pPr indent="0" marL="0">
              <a:buNone/>
            </a:pPr>
            <a:r>
              <a:rPr lang="en-US" sz="650" i="1" dirty="0">
                <a:solidFill>
                  <a:srgbClr val="5E6A77"/>
                </a:solidFill>
                <a:latin typeface="Arial" pitchFamily="34" charset="0"/>
                <a:ea typeface="Arial" pitchFamily="34" charset="-122"/>
                <a:cs typeface="Arial" pitchFamily="34" charset="-120"/>
              </a:rPr>
              <a:t>Con un precio fijo por novela, la subida de tokens la absorbe Qaracter; cobrar los cambios adicionales protege el margen. Tope recomendado: 3 revisiones incluidas.</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home/user/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RIESGOS Y SIGUIENTES PASOS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Lo que aún no está demostrado y cómo lo cerramos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2743200"/>
                <a:gridCol w="2468880"/>
              </a:tblGrid>
              <a:tr h="384048">
                <a:tc>
                  <a:txBody>
                    <a:bodyPr/>
                    <a:lstStyle/>
                    <a:p>
                      <a:pPr indent="0" marL="0">
                        <a:buNone/>
                      </a:pPr>
                      <a:r>
                        <a:rPr lang="en-US" sz="800" b="1" dirty="0">
                          <a:solidFill>
                            <a:srgbClr val="FFFFFF"/>
                          </a:solidFill>
                          <a:latin typeface="Arial" pitchFamily="34" charset="0"/>
                          <a:ea typeface="Arial" pitchFamily="34" charset="-122"/>
                          <a:cs typeface="Arial" pitchFamily="34" charset="-120"/>
                        </a:rPr>
                        <a:t>Riesgo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Mitigación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Días sin fecha al lado («aquel lunes») y duraciones no se validan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extender calendar_consistency a la prosa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Lean solo prueba lo que el planner registra en la cronología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evento «departure» obligatorio si el brief dice que alguien se fue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Un brief contradictorio bloquea bien pero caro (b4: timeout de 45 min)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prechequeo del plan más estricto; parar antes de escribir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Fichas de personajes sin versionar (solo el nombre)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versionar reparto por versión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Datos personales reales en prompts y trazas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enmascarado en Langfuse, borrado a petición y DPA (piloto)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Juez aún no calibrado con revisión humana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QA editorial de 50 novelas con la misma rúbrica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5989320" y="1188720"/>
            <a:ext cx="274320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Siguientes pasos</a:t>
            </a:r>
            <a:endParaRPr lang="en-US" sz="1200" dirty="0"/>
          </a:p>
        </p:txBody>
      </p:sp>
      <p:sp>
        <p:nvSpPr>
          <p:cNvPr id="10" name="Shape 5"/>
          <p:cNvSpPr/>
          <p:nvPr/>
        </p:nvSpPr>
        <p:spPr>
          <a:xfrm>
            <a:off x="5989320" y="1554480"/>
            <a:ext cx="329184" cy="329184"/>
          </a:xfrm>
          <a:prstGeom prst="roundRect">
            <a:avLst>
              <a:gd name="adj" fmla="val 22222"/>
            </a:avLst>
          </a:prstGeom>
          <a:solidFill>
            <a:srgbClr val="1E2B37"/>
          </a:solidFill>
          <a:ln/>
        </p:spPr>
      </p:sp>
      <p:sp>
        <p:nvSpPr>
          <p:cNvPr id="11" name="Text 6"/>
          <p:cNvSpPr txBox="1"/>
          <p:nvPr/>
        </p:nvSpPr>
        <p:spPr>
          <a:xfrm>
            <a:off x="5989320" y="1554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7"/>
          <p:cNvSpPr/>
          <p:nvPr/>
        </p:nvSpPr>
        <p:spPr>
          <a:xfrm>
            <a:off x="6153912" y="1901952"/>
            <a:ext cx="0" cy="365760"/>
          </a:xfrm>
          <a:prstGeom prst="line">
            <a:avLst/>
          </a:prstGeom>
          <a:noFill/>
          <a:ln w="19050">
            <a:solidFill>
              <a:srgbClr val="E6E9EC"/>
            </a:solidFill>
            <a:prstDash val="solid"/>
          </a:ln>
        </p:spPr>
      </p:sp>
      <p:sp>
        <p:nvSpPr>
          <p:cNvPr id="13" name="Text 8"/>
          <p:cNvSpPr txBox="1"/>
          <p:nvPr/>
        </p:nvSpPr>
        <p:spPr>
          <a:xfrm>
            <a:off x="6446520" y="153619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1–2</a:t>
            </a:r>
            <a:endParaRPr lang="en-US" sz="950" dirty="0"/>
          </a:p>
        </p:txBody>
      </p:sp>
      <p:sp>
        <p:nvSpPr>
          <p:cNvPr id="14" name="Text 9"/>
          <p:cNvSpPr txBox="1"/>
          <p:nvPr/>
        </p:nvSpPr>
        <p:spPr>
          <a:xfrm>
            <a:off x="6446520" y="173736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integración y RGPD</a:t>
            </a:r>
            <a:endParaRPr lang="en-US" sz="850" dirty="0"/>
          </a:p>
        </p:txBody>
      </p:sp>
      <p:sp>
        <p:nvSpPr>
          <p:cNvPr id="15" name="Shape 10"/>
          <p:cNvSpPr/>
          <p:nvPr/>
        </p:nvSpPr>
        <p:spPr>
          <a:xfrm>
            <a:off x="5989320" y="2286000"/>
            <a:ext cx="329184" cy="329184"/>
          </a:xfrm>
          <a:prstGeom prst="roundRect">
            <a:avLst>
              <a:gd name="adj" fmla="val 22222"/>
            </a:avLst>
          </a:prstGeom>
          <a:solidFill>
            <a:srgbClr val="1E2B37"/>
          </a:solidFill>
          <a:ln/>
        </p:spPr>
      </p:sp>
      <p:sp>
        <p:nvSpPr>
          <p:cNvPr id="16" name="Text 11"/>
          <p:cNvSpPr txBox="1"/>
          <p:nvPr/>
        </p:nvSpPr>
        <p:spPr>
          <a:xfrm>
            <a:off x="5989320" y="2286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Shape 12"/>
          <p:cNvSpPr/>
          <p:nvPr/>
        </p:nvSpPr>
        <p:spPr>
          <a:xfrm>
            <a:off x="6153912" y="2633472"/>
            <a:ext cx="0" cy="365760"/>
          </a:xfrm>
          <a:prstGeom prst="line">
            <a:avLst/>
          </a:prstGeom>
          <a:noFill/>
          <a:ln w="19050">
            <a:solidFill>
              <a:srgbClr val="E6E9EC"/>
            </a:solidFill>
            <a:prstDash val="solid"/>
          </a:ln>
        </p:spPr>
      </p:sp>
      <p:sp>
        <p:nvSpPr>
          <p:cNvPr id="18" name="Text 13"/>
          <p:cNvSpPr txBox="1"/>
          <p:nvPr/>
        </p:nvSpPr>
        <p:spPr>
          <a:xfrm>
            <a:off x="6446520" y="226771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3–5</a:t>
            </a:r>
            <a:endParaRPr lang="en-US" sz="950" dirty="0"/>
          </a:p>
        </p:txBody>
      </p:sp>
      <p:sp>
        <p:nvSpPr>
          <p:cNvPr id="19" name="Text 14"/>
          <p:cNvSpPr txBox="1"/>
          <p:nvPr/>
        </p:nvSpPr>
        <p:spPr>
          <a:xfrm>
            <a:off x="6446520" y="246888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marca blanca y 50 novelas de QA</a:t>
            </a:r>
            <a:endParaRPr lang="en-US" sz="850" dirty="0"/>
          </a:p>
        </p:txBody>
      </p:sp>
      <p:sp>
        <p:nvSpPr>
          <p:cNvPr id="20" name="Shape 15"/>
          <p:cNvSpPr/>
          <p:nvPr/>
        </p:nvSpPr>
        <p:spPr>
          <a:xfrm>
            <a:off x="5989320" y="3017520"/>
            <a:ext cx="329184" cy="329184"/>
          </a:xfrm>
          <a:prstGeom prst="roundRect">
            <a:avLst>
              <a:gd name="adj" fmla="val 22222"/>
            </a:avLst>
          </a:prstGeom>
          <a:solidFill>
            <a:srgbClr val="1E2B37"/>
          </a:solidFill>
          <a:ln/>
        </p:spPr>
      </p:sp>
      <p:sp>
        <p:nvSpPr>
          <p:cNvPr id="21" name="Text 16"/>
          <p:cNvSpPr txBox="1"/>
          <p:nvPr/>
        </p:nvSpPr>
        <p:spPr>
          <a:xfrm>
            <a:off x="5989320"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17"/>
          <p:cNvSpPr/>
          <p:nvPr/>
        </p:nvSpPr>
        <p:spPr>
          <a:xfrm>
            <a:off x="6153912" y="3364992"/>
            <a:ext cx="0" cy="365760"/>
          </a:xfrm>
          <a:prstGeom prst="line">
            <a:avLst/>
          </a:prstGeom>
          <a:noFill/>
          <a:ln w="19050">
            <a:solidFill>
              <a:srgbClr val="E6E9EC"/>
            </a:solidFill>
            <a:prstDash val="solid"/>
          </a:ln>
        </p:spPr>
      </p:sp>
      <p:sp>
        <p:nvSpPr>
          <p:cNvPr id="23" name="Text 18"/>
          <p:cNvSpPr txBox="1"/>
          <p:nvPr/>
        </p:nvSpPr>
        <p:spPr>
          <a:xfrm>
            <a:off x="6446520" y="299923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6–7</a:t>
            </a:r>
            <a:endParaRPr lang="en-US" sz="950" dirty="0"/>
          </a:p>
        </p:txBody>
      </p:sp>
      <p:sp>
        <p:nvSpPr>
          <p:cNvPr id="24" name="Text 19"/>
          <p:cNvSpPr txBox="1"/>
          <p:nvPr/>
        </p:nvSpPr>
        <p:spPr>
          <a:xfrm>
            <a:off x="6446520" y="320040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calibración del juez y validadores nuevos</a:t>
            </a:r>
            <a:endParaRPr lang="en-US" sz="850" dirty="0"/>
          </a:p>
        </p:txBody>
      </p:sp>
      <p:sp>
        <p:nvSpPr>
          <p:cNvPr id="25" name="Shape 20"/>
          <p:cNvSpPr/>
          <p:nvPr/>
        </p:nvSpPr>
        <p:spPr>
          <a:xfrm>
            <a:off x="5989320" y="3749040"/>
            <a:ext cx="329184" cy="329184"/>
          </a:xfrm>
          <a:prstGeom prst="roundRect">
            <a:avLst>
              <a:gd name="adj" fmla="val 22222"/>
            </a:avLst>
          </a:prstGeom>
          <a:solidFill>
            <a:srgbClr val="FF7A2F"/>
          </a:solidFill>
          <a:ln/>
        </p:spPr>
      </p:sp>
      <p:sp>
        <p:nvSpPr>
          <p:cNvPr id="26" name="Text 21"/>
          <p:cNvSpPr txBox="1"/>
          <p:nvPr/>
        </p:nvSpPr>
        <p:spPr>
          <a:xfrm>
            <a:off x="5989320"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7" name="Text 22"/>
          <p:cNvSpPr txBox="1"/>
          <p:nvPr/>
        </p:nvSpPr>
        <p:spPr>
          <a:xfrm>
            <a:off x="6446520" y="373075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 8</a:t>
            </a:r>
            <a:endParaRPr lang="en-US" sz="950" dirty="0"/>
          </a:p>
        </p:txBody>
      </p:sp>
      <p:sp>
        <p:nvSpPr>
          <p:cNvPr id="28" name="Text 23"/>
          <p:cNvSpPr txBox="1"/>
          <p:nvPr/>
        </p:nvSpPr>
        <p:spPr>
          <a:xfrm>
            <a:off x="6446520" y="393192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lanzamiento en el catálogo de Navidad</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home/user/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2026-09-25T10:17:07Z</dcterms:created>
  <dcterms:modified xsi:type="dcterms:W3CDTF">2026-09-25T10:17:07Z</dcterms:modified>
</cp:coreProperties>
</file>