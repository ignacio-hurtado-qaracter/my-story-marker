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00" b="0" i="0" u="none" strike="noStrike">
                <a:solidFill>
                  <a:srgbClr val="1E2B37"/>
                </a:solidFill>
                <a:latin typeface="Arial"/>
              </a:defRPr>
            </a:pPr>
            <a:r>
              <a:rPr sz="800" b="0" i="0" u="none" strike="noStrike">
                <a:solidFill>
                  <a:srgbClr val="1E2B37"/>
                </a:solidFill>
                <a:latin typeface="Arial"/>
              </a:rPr>
              <a:t>Coste por rol, novela publicada (USD)</a:t>
            </a:r>
          </a:p>
        </c:rich>
      </c:tx>
      <c:layout/>
      <c:overlay val="0"/>
    </c:title>
    <c:autoTitleDeleted val="0"/>
    <c:plotArea>
      <c:layout/>
      <c:barChart>
        <c:barDir val="bar"/>
        <c:grouping val="clustered"/>
        <c:varyColors val="0"/>
        <c:ser>
          <c:idx val="0"/>
          <c:order val="0"/>
          <c:tx>
            <c:strRef>
              <c:f>Sheet1!$B$1</c:f>
              <c:strCache>
                <c:ptCount val="1"/>
                <c:pt idx="0">
                  <c:v>USD</c:v>
                </c:pt>
              </c:strCache>
            </c:strRef>
          </c:tx>
          <c:spPr>
            <a:solidFill>
              <a:srgbClr val="FF7A2F"/>
            </a:solidFill>
            <a:effectLst/>
          </c:spPr>
          <c:invertIfNegative val="0"/>
          <c:dLbls>
            <c:numFmt formatCode="0.00" sourceLinked="0"/>
            <c:txPr>
              <a:bodyPr/>
              <a:lstStyle/>
              <a:p>
                <a:pPr>
                  <a:defRPr b="0" i="0" strike="noStrike" sz="800" u="none">
                    <a:solidFill>
                      <a:srgbClr val="1E2B37"/>
                    </a:solidFill>
                    <a:latin typeface="Arial"/>
                  </a:defRPr>
                </a:pPr>
              </a:p>
            </c:txPr>
            <c:showLegendKey val="0"/>
            <c:showVal val="1"/>
            <c:showCatName val="0"/>
            <c:showSerName val="0"/>
            <c:showPercent val="0"/>
            <c:showBubbleSize val="0"/>
            <c:showLeaderLines val="0"/>
          </c:dLbls>
          <c:cat>
            <c:multiLvlStrRef>
              <c:f>Sheet1!$A$2:$A$5</c:f>
              <c:multiLvlStrCache>
                <c:ptCount val="4"/>
                <c:lvl>
                  <c:pt idx="0">
                    <c:v>writer</c:v>
                  </c:pt>
                  <c:pt idx="1">
                    <c:v>editor</c:v>
                  </c:pt>
                  <c:pt idx="2">
                    <c:v>judge</c:v>
                  </c:pt>
                  <c:pt idx="3">
                    <c:v>planner</c:v>
                  </c:pt>
                </c:lvl>
              </c:multiLvlStrCache>
            </c:multiLvlStrRef>
          </c:cat>
          <c:val>
            <c:numRef>
              <c:f>Sheet1!$B$2:$B$5</c:f>
              <c:numCache>
                <c:formatCode>General</c:formatCode>
                <c:ptCount val="4"/>
                <c:pt idx="0">
                  <c:v>1.49</c:v>
                </c:pt>
                <c:pt idx="1">
                  <c:v>0.97</c:v>
                </c:pt>
                <c:pt idx="2">
                  <c:v>0.52</c:v>
                </c:pt>
                <c:pt idx="3">
                  <c:v>0.11</c:v>
                </c:pt>
              </c:numCache>
            </c:numRef>
          </c:val>
        </c:ser>
        <c:dLbls>
          <c:numFmt formatCode="0.00" sourceLinked="0"/>
          <c:txPr>
            <a:bodyPr/>
            <a:lstStyle/>
            <a:p>
              <a:pPr>
                <a:defRPr b="0" i="0" strike="noStrike" sz="800" u="none">
                  <a:solidFill>
                    <a:srgbClr val="1E2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3D4A56"/>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Buenos días. Soy [NOMBRE_ESTUDIANTE], de Qaracter, y presento a Cuentalia Regalos, S.L. nuestra propuesta: My Story Marker, un servicio que escribe novelas personalizadas para regalar.
La ocasión es su catálogo de Navidad: quieren vender un regalo que no existe hecho.
La idea que quiero que se lleven: lo difícil no es escribir diez capítulos con IA, es poder demostrar que lo que se entrega es coherente, está personalizado y no contiene nada vetado.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[0:30–1:30] ¿Quién compra? Hijos para la jubilación de un padre, parejas para un aniversario, padres que quieren un cuento con su hijo de protagonista.
Las alternativas fallan: un escritor tarda meses y un regalo tiene fecha; un libro plantilla solo cambia el nombre; y un chat con un LLM, sin más, cambia nombres, olvida recuerdos, contradice fechas y no respeta los vetos del cliente, como el nombre de una expareja.
Nuestro criterio de calidad: personalización y calidad narrativa pesan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[1:30–2:30] Configurar: el comprador rellena un asistente de cinco pasos. Al final, el brief se valida: si faltan datos o hay contradicciones, por ejemplo romance para un niño de seis años, se rechaza antes de generar nada.
Leer: la novela se publica en un lector web con portada, dedicatoria, índice y fichas de personajes; y se exporta a PDF con la misma estructura.
Corregir: si el lector dice «la perra se llama Nala», solo se regeneran los capítulos que usan ese dato, en una versión nueva; la anterior no se toca. Lo veremos en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[2:30–3:30] El interviewer convierte la entrevista en un brief y extrae hechos del texto libre. El planner hace el plan, el reparto, la cronología y el calendario. El writer escribe tres escenas por capítulo, el editor las une y pule, y el juez puntúa con una rúbrica.
Debajo de cada rol está su validación: al entregar el brief, en el plan, en cada escena, al cerrar cada capítulo y antes de publicar.
Todos los bucles están acotados: dos reescrituras por escena, dos por capítulo y dos rondas de reparación. Si se agotan, la versión se bloquea.
La clave: el orquestador, en Python, decide; los modelos solo redactan. Ningún modelo tiene herramientas de escritura.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[3:30–4:30] Contexto: ningún rol ve toda la novela ni el texto libre crudo. Recibe su trozo del plan, los hechos que le tocan, resúmenes de los capítulos anteriores y el final del último. Así cabemos de sobra en el límite de 100k tokens y el texto del cliente nunca actúa como instrucción.
Story bible: una SQLite autoritativa. Cada hecho es una fila, y sabemos en qué escena se usa: es lo que permite regenerar solo lo afectado.
Tools de solo lectura con schema, trazadas en Langfuse, y los hooks de Claude Code usan el mismo código que el pipeline.
Por qué: permisos en código y no en prompts, hechos exactos en vez de RAG, y lo determinista (el calendario) fuera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[4:30–5:00] Cuatro tipos de validador y cuatro puntos de ejecución. Programáticos: schema, longitud, nombres exactos, cobertura de los datos del brief, y calendar_consistency, que comprueba que un día de la semana junto a una fecha es correcto. Guardrails: inyección y palabras prohibidas, en escena y en capítulo. Semánticos: el juez por capítulo y por novela. Formales: Lean sobre la cronología de cada novela y TLA+ sobre el propio harness.
Cada fallo vuelve al rol que lo produjo, con la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[5:00–5:30] Cinco briefs de evaluación: ejemplo, infantil, inyección, trampas temporales y contradictorio. Antes del tuning se publicaban 0 de 3: brief_coverage exigía la frase literal del recuerdo. Tras el tuning 1, 2 de 3, sin bajar ningún umbral de calidad. El de trampas temporales sigue bloqueado, y es lo correcto.
En la novela de 10 capítulos, el segundo intento se bloqueó porque los días de la semana no cuadraban con sus fechas y cada reparación inventaba otros. Tuning 2: el calendario lo calcula Python. El intento siguiente se publicó a la primera: 10645 palabras, 3,10 USD.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[5:30–6:00] Lean: de la story bible se genera la cronología y se demuestran cuatro invariantes. El caso real: con el brief de trampas temporales, la mascota muere en 2005 y lleva los anillos en la boda de 2008. Lean lo vio, con evento y capítulo; el juez de capítulo lo aprobó. Siendo honestos, el juez de novela también lo vio; el valor de Lean es que es determinista y actúa sobre el plan, antes de gastar la escritura.
TLA+: el harness es una máquina de estados. TLC comprueba que nunca se publica nada sin validar, que reanudar no duplica ni pierde capítulos, que la versión anterior se conserva, que los reintentos están acotados y que toda generación termina. Cinco millones y medio de estados, sin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[6:00–6:30] Así se ve una novela en Langfuse, captura real: una sesión por novela, una traza por generación, spans por fase, por capítulo, por rol y por tool, con tokens, coste y latencia. La captura es una novela de un capítulo lanzada desde la página Nueva novela: 9 minutos 42 segundos, 0,43 USD. A la derecha, los scores del brief con inyección: 19 llamadas, 1,02 USD, unos 24 minutos.
Cada validador llega como score: aquí se ve la inyección marcada dos veces, por el prescan y por el modelo, y aun así todos los validadores en verde: no se siguió.
Y los prompts están versionados: sabemos qué versión produjo cada resultado, que es lo que hace creíble el antes y el después del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[6:30–7:00] Palabras prohibidas: en un experimento real, una escena usó un insulto de la lista global; forbidden_words_scene la rechazó, volvió al writer con el término y la reescritura lo eliminó. Todo queda en policy_decision.
Datos personales: solo en la base de datos, cada novela tiene dueño y nadie más la ve. Inyección: prescan determinista, y el texto libre nunca llega crudo a un rol. Y todo queda en el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[7:00–7:30] Coste medido: la novela de diez capítulos publicada costó 3,10 USD de modelo y 69 minutos; un cambio del lector, unos 0,94 USD. El writer es el rol más caro, luego editor y juez: son los que producen y leen más texto.
Gasto real de todo el desarrollo con modelo: 27,03 USD, contando los tres intentos bloqueados, las evals antes y después del tuning y el experimento de Lean.
Como los bucles están acotados, el coste también: el peor intento medido costó 6,05 USD, y ese riesgo lo asumimos nosotros: solo se factura lo publicado.
Propuesta: un piloto de ocho semanas por 28.800 euros (integración, marca blanca, QA editorial con 50 novelas y el trabajo de RGPD), 600 euros al mes de plataforma y 12 euros por novela publicada. Con un precio de venta de 39 euros, a Cuentalia le quedan 27 de margen bruto.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[7:30–8:00] Desglose por novela: 3,10 USD de tokens medidos en Langfuse, un 30 % de contingencia por reintentos, el cambio incluido y la infraestructura: unos 4,77 euros. Cobramos 12, así que nos queda un margen operativo de unos 7,23 euros.
El proyecto: 360 horas a 80 euros, 28.800 euros, que es exactamente el piloto.
Volumen: con 500 novelas al mes, Cuentalia gana unos 12.900 euros al mes.
Sensibilidad: si los tokens suben un 50 %, nuestro margen baja pero sigue positivo; si el cliente pide más de tres revisiones y no se cobran, el margen se come; por eso los cambios adicionales se cobran a 2 euros.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[8:00–8:30] DEMO. Abrir el lector en la novela de ejemplo, capítulo 1, y pedir «la perra se llama Nala» (o mostrar el PDF regenerado si no hay tiempo).
El sistema busca el hecho, ve en fact_usage que lo usan los capítulos 1 y 3 a 10, y regenera solo esos en la versión 2; el capítulo 2 se copia tal cual. Pasan los mismos validadores y el PDF sale con una página de novedades.
Resultado: Canela aparecía 44 veces en la versión 1 y 0 en la 2; Nala 45 veces. La versión 1 sigue intacta. Unos 27 minutos y menos de un dólar.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[8:30–9:30] Prefiero decir yo lo que no está demostrado: el calendario solo se valida junto a una fecha; Lean solo prueba lo que el planner registra; un brief contradictorio se bloquea bien pero caro; las fichas no están versionadas; y antes de producción hay que enmascarar los datos personales en las trazas y calibrar el juez con revisión humana.
Todo eso está en el plan del piloto: ocho semanas hasta el catálogo de Navidad.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[9:30–10:00] Si me tengo que quedar con una decisión: separar la verdad de la prosa. Lo que es cierto sobre la historia vive en una base de datos y lo comprueban validadores deterministas, Lean y TLA+; los modelos solo redactan, y solo se publica lo que pasa todo.
Muchas gracias. En el anexo está la tabla completa de evals, y el resto del detalle en los anexos PDF; encantado de responder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la tabla completa de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cómo reducir el coste de desarrollo. Datos reales: 27 USD de modelo, más de la mitad en intentos bloqueados de 10 capítulos que se podían haber descubierto con 1–3 capítulos. La idea: fijar la spec antes del código, iterar en pequeño y mover a código determinista todo lo que el modelo no tiene por qué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B37"/>
        </a:solidFill>
      </p:bgPr>
    </p:bg>
    <p:spTree>
      <p:nvGrpSpPr>
        <p:cNvPr id="1" name=""/>
        <p:cNvGrpSpPr/>
        <p:nvPr/>
      </p:nvGrpSpPr>
      <p:grpSpPr>
        <a:xfrm>
          <a:off x="0" y="0"/>
          <a:ext cx="0" cy="0"/>
          <a:chOff x="0" y="0"/>
          <a:chExt cx="0" cy="0"/>
        </a:xfrm>
      </p:grpSpPr>
      <p:pic>
        <p:nvPicPr>
          <p:cNvPr id="2" name="Image 0" descr="/home/user/My-Story-Marker/presentacion/build/img2/logo-white.png">    </p:cNvPr>
          <p:cNvPicPr>
            <a:picLocks noChangeAspect="1"/>
          </p:cNvPicPr>
          <p:nvPr/>
        </p:nvPicPr>
        <p:blipFill>
          <a:blip r:embed="rId1"/>
          <a:stretch>
            <a:fillRect/>
          </a:stretch>
        </p:blipFill>
        <p:spPr>
          <a:xfrm>
            <a:off x="457200" y="411480"/>
            <a:ext cx="1551709" cy="365760"/>
          </a:xfrm>
          <a:prstGeom prst="rect">
            <a:avLst/>
          </a:prstGeom>
        </p:spPr>
      </p:pic>
      <p:sp>
        <p:nvSpPr>
          <p:cNvPr id="3" name="Text 0"/>
          <p:cNvSpPr txBox="1"/>
          <p:nvPr/>
        </p:nvSpPr>
        <p:spPr>
          <a:xfrm>
            <a:off x="457200" y="1234440"/>
            <a:ext cx="5029200" cy="228600"/>
          </a:xfrm>
          <a:prstGeom prst="rect">
            <a:avLst/>
          </a:prstGeom>
          <a:noFill/>
          <a:ln/>
        </p:spPr>
        <p:txBody>
          <a:bodyPr wrap="square" lIns="0" tIns="0" rIns="0" bIns="0" rtlCol="0" anchor="t"/>
          <a:lstStyle/>
          <a:p>
            <a:pPr indent="0" marL="0">
              <a:buNone/>
            </a:pPr>
            <a:r>
              <a:rPr lang="en-US" sz="1000" b="1" spc="200" kern="0" dirty="0">
                <a:solidFill>
                  <a:srgbClr val="FF7A2F"/>
                </a:solidFill>
                <a:latin typeface="Arial" pitchFamily="34" charset="0"/>
                <a:ea typeface="Arial" pitchFamily="34" charset="-122"/>
                <a:cs typeface="Arial" pitchFamily="34" charset="-120"/>
              </a:rPr>
              <a:t>PROPUESTA DE SERVICIO</a:t>
            </a:r>
            <a:endParaRPr lang="en-US" sz="1000" dirty="0"/>
          </a:p>
        </p:txBody>
      </p:sp>
      <p:sp>
        <p:nvSpPr>
          <p:cNvPr id="4" name="Text 1"/>
          <p:cNvSpPr txBox="1"/>
          <p:nvPr/>
        </p:nvSpPr>
        <p:spPr>
          <a:xfrm>
            <a:off x="457200" y="1481328"/>
            <a:ext cx="5486400" cy="6858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My Story Marker</a:t>
            </a:r>
            <a:endParaRPr lang="en-US" sz="4000" dirty="0"/>
          </a:p>
        </p:txBody>
      </p:sp>
      <p:sp>
        <p:nvSpPr>
          <p:cNvPr id="5" name="Text 2"/>
          <p:cNvSpPr txBox="1"/>
          <p:nvPr/>
        </p:nvSpPr>
        <p:spPr>
          <a:xfrm>
            <a:off x="457200" y="2194560"/>
            <a:ext cx="5120640" cy="548640"/>
          </a:xfrm>
          <a:prstGeom prst="rect">
            <a:avLst/>
          </a:prstGeom>
          <a:noFill/>
          <a:ln/>
        </p:spPr>
        <p:txBody>
          <a:bodyPr wrap="square" lIns="0" tIns="0" rIns="0" bIns="0" rtlCol="0" anchor="t"/>
          <a:lstStyle/>
          <a:p>
            <a:pPr indent="0" marL="0">
              <a:buNone/>
            </a:pPr>
            <a:r>
              <a:rPr lang="en-US" sz="1400" dirty="0">
                <a:solidFill>
                  <a:srgbClr val="C9D1D9"/>
                </a:solidFill>
                <a:latin typeface="Arial" pitchFamily="34" charset="0"/>
                <a:ea typeface="Arial" pitchFamily="34" charset="-122"/>
                <a:cs typeface="Arial" pitchFamily="34" charset="-120"/>
              </a:rPr>
              <a:t>Novelas personalizadas para regalar, escritas por un harness de agentes que se puede verificar</a:t>
            </a:r>
            <a:endParaRPr lang="en-US" sz="1400" dirty="0"/>
          </a:p>
        </p:txBody>
      </p:sp>
      <p:sp>
        <p:nvSpPr>
          <p:cNvPr id="6" name="Text 3"/>
          <p:cNvSpPr txBox="1"/>
          <p:nvPr/>
        </p:nvSpPr>
        <p:spPr>
          <a:xfrm>
            <a:off x="457200" y="3017520"/>
            <a:ext cx="1005840" cy="274320"/>
          </a:xfrm>
          <a:prstGeom prst="rect">
            <a:avLst/>
          </a:prstGeom>
          <a:noFill/>
          <a:ln/>
        </p:spPr>
        <p:txBody>
          <a:bodyPr wrap="square" lIns="0" tIns="0" rIns="0" bIns="0" rtlCol="0" anchor="ctr"/>
          <a:lstStyle/>
          <a:p>
            <a:pPr indent="0" marL="0">
              <a:buNone/>
            </a:pPr>
            <a:r>
              <a:rPr lang="en-US" sz="850" b="1" spc="100" kern="0" dirty="0">
                <a:solidFill>
                  <a:srgbClr val="FF7A2F"/>
                </a:solidFill>
                <a:latin typeface="Arial" pitchFamily="34" charset="0"/>
                <a:ea typeface="Arial" pitchFamily="34" charset="-122"/>
                <a:cs typeface="Arial" pitchFamily="34" charset="-120"/>
              </a:rPr>
              <a:t>FECHA</a:t>
            </a:r>
            <a:endParaRPr lang="en-US" sz="850" dirty="0"/>
          </a:p>
        </p:txBody>
      </p:sp>
      <p:sp>
        <p:nvSpPr>
          <p:cNvPr id="7" name="Text 4"/>
          <p:cNvSpPr txBox="1"/>
          <p:nvPr/>
        </p:nvSpPr>
        <p:spPr>
          <a:xfrm>
            <a:off x="1508760" y="3017520"/>
            <a:ext cx="4206240" cy="2743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25 de septiembre de 2026</a:t>
            </a:r>
            <a:endParaRPr lang="en-US" sz="1150" dirty="0"/>
          </a:p>
        </p:txBody>
      </p:sp>
      <p:sp>
        <p:nvSpPr>
          <p:cNvPr id="8" name="Shape 5"/>
          <p:cNvSpPr/>
          <p:nvPr/>
        </p:nvSpPr>
        <p:spPr>
          <a:xfrm>
            <a:off x="5989320" y="502920"/>
            <a:ext cx="2743200" cy="4023360"/>
          </a:xfrm>
          <a:prstGeom prst="roundRect">
            <a:avLst>
              <a:gd name="adj" fmla="val 4000"/>
            </a:avLst>
          </a:prstGeom>
          <a:solidFill>
            <a:srgbClr val="2A3B4A"/>
          </a:solidFill>
          <a:ln/>
        </p:spPr>
      </p:sp>
      <p:pic>
        <p:nvPicPr>
          <p:cNvPr id="9" name="Image 1" descr="/home/user/My-Story-Marker/presentacion/build/img2/crops/portada.png">    </p:cNvPr>
          <p:cNvPicPr>
            <a:picLocks noChangeAspect="1"/>
          </p:cNvPicPr>
          <p:nvPr/>
        </p:nvPicPr>
        <p:blipFill>
          <a:blip r:embed="rId2"/>
          <a:stretch>
            <a:fillRect/>
          </a:stretch>
        </p:blipFill>
        <p:spPr>
          <a:xfrm>
            <a:off x="6217920" y="731520"/>
            <a:ext cx="2254348" cy="3200400"/>
          </a:xfrm>
          <a:prstGeom prst="rect">
            <a:avLst/>
          </a:prstGeom>
        </p:spPr>
      </p:pic>
      <p:sp>
        <p:nvSpPr>
          <p:cNvPr id="10" name="Text 6"/>
          <p:cNvSpPr txBox="1"/>
          <p:nvPr/>
        </p:nvSpPr>
        <p:spPr>
          <a:xfrm>
            <a:off x="6217920" y="4041648"/>
            <a:ext cx="2286000" cy="365760"/>
          </a:xfrm>
          <a:prstGeom prst="rect">
            <a:avLst/>
          </a:prstGeom>
          <a:noFill/>
          <a:ln/>
        </p:spPr>
        <p:txBody>
          <a:bodyPr wrap="square" lIns="0" tIns="0" rIns="0" bIns="0" rtlCol="0" anchor="t"/>
          <a:lstStyle/>
          <a:p>
            <a:pPr indent="0" marL="0">
              <a:buNone/>
            </a:pPr>
            <a:r>
              <a:rPr lang="en-US" sz="750" dirty="0">
                <a:solidFill>
                  <a:srgbClr val="AEB8C2"/>
                </a:solidFill>
                <a:latin typeface="Arial" pitchFamily="34" charset="0"/>
                <a:ea typeface="Arial" pitchFamily="34" charset="-122"/>
                <a:cs typeface="Arial" pitchFamily="34" charset="-120"/>
              </a:rPr>
              <a:t>Portada real de la novela de ejemplo (10 capítulos, PDF exportado por el sistema)</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PROBLEMA Y CLIENTE</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Un regalo único que hoy no se puede comprar hecho</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2</a:t>
            </a:r>
            <a:endParaRPr lang="en-US" sz="750" dirty="0"/>
          </a:p>
        </p:txBody>
      </p:sp>
      <p:sp>
        <p:nvSpPr>
          <p:cNvPr id="8" name="Text 4"/>
          <p:cNvSpPr txBox="1"/>
          <p:nvPr/>
        </p:nvSpPr>
        <p:spPr>
          <a:xfrm>
            <a:off x="457200" y="1188720"/>
            <a:ext cx="3657600" cy="274320"/>
          </a:xfrm>
          <a:prstGeom prst="rect">
            <a:avLst/>
          </a:prstGeom>
          <a:noFill/>
          <a:ln/>
        </p:spPr>
        <p:txBody>
          <a:bodyPr wrap="square" lIns="0" tIns="0" rIns="0" bIns="0" rtlCol="0" anchor="t"/>
          <a:lstStyle/>
          <a:p>
            <a:pPr indent="0" marL="0">
              <a:buNone/>
            </a:pPr>
            <a:r>
              <a:rPr lang="en-US" sz="1300" b="1" dirty="0">
                <a:solidFill>
                  <a:srgbClr val="1E2B37"/>
                </a:solidFill>
                <a:latin typeface="Arial" pitchFamily="34" charset="0"/>
                <a:ea typeface="Arial" pitchFamily="34" charset="-122"/>
                <a:cs typeface="Arial" pitchFamily="34" charset="-120"/>
              </a:rPr>
              <a:t>Quién compra y para qué</a:t>
            </a:r>
            <a:endParaRPr lang="en-US" sz="1300" dirty="0"/>
          </a:p>
        </p:txBody>
      </p:sp>
      <p:sp>
        <p:nvSpPr>
          <p:cNvPr id="9" name="Shape 5"/>
          <p:cNvSpPr/>
          <p:nvPr/>
        </p:nvSpPr>
        <p:spPr>
          <a:xfrm>
            <a:off x="457200" y="1572768"/>
            <a:ext cx="3749040" cy="603504"/>
          </a:xfrm>
          <a:prstGeom prst="roundRect">
            <a:avLst>
              <a:gd name="adj" fmla="val 12121"/>
            </a:avLst>
          </a:prstGeom>
          <a:solidFill>
            <a:srgbClr val="FFF5EE"/>
          </a:solidFill>
          <a:ln/>
        </p:spPr>
      </p:sp>
      <p:sp>
        <p:nvSpPr>
          <p:cNvPr id="10" name="Shape 6"/>
          <p:cNvSpPr/>
          <p:nvPr/>
        </p:nvSpPr>
        <p:spPr>
          <a:xfrm>
            <a:off x="585216" y="1719072"/>
            <a:ext cx="310896" cy="310896"/>
          </a:xfrm>
          <a:prstGeom prst="roundRect">
            <a:avLst>
              <a:gd name="adj" fmla="val 23529"/>
            </a:avLst>
          </a:prstGeom>
          <a:solidFill>
            <a:srgbClr val="FF7A2F"/>
          </a:solidFill>
          <a:ln/>
        </p:spPr>
      </p:sp>
      <p:sp>
        <p:nvSpPr>
          <p:cNvPr id="11" name="Text 7"/>
          <p:cNvSpPr txBox="1"/>
          <p:nvPr/>
        </p:nvSpPr>
        <p:spPr>
          <a:xfrm>
            <a:off x="585216" y="17190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Text 8"/>
          <p:cNvSpPr txBox="1"/>
          <p:nvPr/>
        </p:nvSpPr>
        <p:spPr>
          <a:xfrm>
            <a:off x="1024128" y="1645920"/>
            <a:ext cx="3063240" cy="219456"/>
          </a:xfrm>
          <a:prstGeom prst="rect">
            <a:avLst/>
          </a:prstGeom>
          <a:noFill/>
          <a:ln/>
        </p:spPr>
        <p:txBody>
          <a:bodyPr wrap="square" lIns="0" tIns="0" rIns="0" bIns="0" rtlCol="0" anchor="t"/>
          <a:lstStyle/>
          <a:p>
            <a:pPr indent="0" marL="0">
              <a:buNone/>
            </a:pPr>
            <a:r>
              <a:rPr lang="en-US" sz="1100" b="1" dirty="0">
                <a:solidFill>
                  <a:srgbClr val="1E2B37"/>
                </a:solidFill>
                <a:latin typeface="Arial" pitchFamily="34" charset="0"/>
                <a:ea typeface="Arial" pitchFamily="34" charset="-122"/>
                <a:cs typeface="Arial" pitchFamily="34" charset="-120"/>
              </a:rPr>
              <a:t>Hijos y nietos</a:t>
            </a:r>
            <a:endParaRPr lang="en-US" sz="1100" dirty="0"/>
          </a:p>
        </p:txBody>
      </p:sp>
      <p:sp>
        <p:nvSpPr>
          <p:cNvPr id="13" name="Text 9"/>
          <p:cNvSpPr txBox="1"/>
          <p:nvPr/>
        </p:nvSpPr>
        <p:spPr>
          <a:xfrm>
            <a:off x="1024128" y="1865376"/>
            <a:ext cx="3063240" cy="274320"/>
          </a:xfrm>
          <a:prstGeom prst="rect">
            <a:avLst/>
          </a:prstGeom>
          <a:noFill/>
          <a:ln/>
        </p:spPr>
        <p:txBody>
          <a:bodyPr wrap="square" lIns="0" tIns="0" rIns="0" bIns="0" rtlCol="0" anchor="t"/>
          <a:lstStyle/>
          <a:p>
            <a:pPr indent="0" marL="0">
              <a:buNone/>
            </a:pPr>
            <a:r>
              <a:rPr lang="en-US" sz="900" dirty="0">
                <a:solidFill>
                  <a:srgbClr val="3D4A56"/>
                </a:solidFill>
                <a:latin typeface="Arial" pitchFamily="34" charset="0"/>
                <a:ea typeface="Arial" pitchFamily="34" charset="-122"/>
                <a:cs typeface="Arial" pitchFamily="34" charset="-120"/>
              </a:rPr>
              <a:t>jubilaciones, 70 cumpleaños, homenajes a un padre o una abuela</a:t>
            </a:r>
            <a:endParaRPr lang="en-US" sz="900" dirty="0"/>
          </a:p>
        </p:txBody>
      </p:sp>
      <p:sp>
        <p:nvSpPr>
          <p:cNvPr id="14" name="Shape 10"/>
          <p:cNvSpPr/>
          <p:nvPr/>
        </p:nvSpPr>
        <p:spPr>
          <a:xfrm>
            <a:off x="457200" y="2286000"/>
            <a:ext cx="3749040" cy="603504"/>
          </a:xfrm>
          <a:prstGeom prst="roundRect">
            <a:avLst>
              <a:gd name="adj" fmla="val 12121"/>
            </a:avLst>
          </a:prstGeom>
          <a:solidFill>
            <a:srgbClr val="FFF5EE"/>
          </a:solidFill>
          <a:ln/>
        </p:spPr>
      </p:sp>
      <p:sp>
        <p:nvSpPr>
          <p:cNvPr id="15" name="Shape 11"/>
          <p:cNvSpPr/>
          <p:nvPr/>
        </p:nvSpPr>
        <p:spPr>
          <a:xfrm>
            <a:off x="585216" y="2432304"/>
            <a:ext cx="310896" cy="310896"/>
          </a:xfrm>
          <a:prstGeom prst="roundRect">
            <a:avLst>
              <a:gd name="adj" fmla="val 23529"/>
            </a:avLst>
          </a:prstGeom>
          <a:solidFill>
            <a:srgbClr val="FF7A2F"/>
          </a:solidFill>
          <a:ln/>
        </p:spPr>
      </p:sp>
      <p:sp>
        <p:nvSpPr>
          <p:cNvPr id="16" name="Text 12"/>
          <p:cNvSpPr txBox="1"/>
          <p:nvPr/>
        </p:nvSpPr>
        <p:spPr>
          <a:xfrm>
            <a:off x="585216" y="24323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Text 13"/>
          <p:cNvSpPr txBox="1"/>
          <p:nvPr/>
        </p:nvSpPr>
        <p:spPr>
          <a:xfrm>
            <a:off x="1024128" y="2359152"/>
            <a:ext cx="3063240" cy="219456"/>
          </a:xfrm>
          <a:prstGeom prst="rect">
            <a:avLst/>
          </a:prstGeom>
          <a:noFill/>
          <a:ln/>
        </p:spPr>
        <p:txBody>
          <a:bodyPr wrap="square" lIns="0" tIns="0" rIns="0" bIns="0" rtlCol="0" anchor="t"/>
          <a:lstStyle/>
          <a:p>
            <a:pPr indent="0" marL="0">
              <a:buNone/>
            </a:pPr>
            <a:r>
              <a:rPr lang="en-US" sz="1100" b="1" dirty="0">
                <a:solidFill>
                  <a:srgbClr val="1E2B37"/>
                </a:solidFill>
                <a:latin typeface="Arial" pitchFamily="34" charset="0"/>
                <a:ea typeface="Arial" pitchFamily="34" charset="-122"/>
                <a:cs typeface="Arial" pitchFamily="34" charset="-120"/>
              </a:rPr>
              <a:t>Parejas</a:t>
            </a:r>
            <a:endParaRPr lang="en-US" sz="1100" dirty="0"/>
          </a:p>
        </p:txBody>
      </p:sp>
      <p:sp>
        <p:nvSpPr>
          <p:cNvPr id="18" name="Text 14"/>
          <p:cNvSpPr txBox="1"/>
          <p:nvPr/>
        </p:nvSpPr>
        <p:spPr>
          <a:xfrm>
            <a:off x="1024128" y="2578608"/>
            <a:ext cx="3063240" cy="274320"/>
          </a:xfrm>
          <a:prstGeom prst="rect">
            <a:avLst/>
          </a:prstGeom>
          <a:noFill/>
          <a:ln/>
        </p:spPr>
        <p:txBody>
          <a:bodyPr wrap="square" lIns="0" tIns="0" rIns="0" bIns="0" rtlCol="0" anchor="t"/>
          <a:lstStyle/>
          <a:p>
            <a:pPr indent="0" marL="0">
              <a:buNone/>
            </a:pPr>
            <a:r>
              <a:rPr lang="en-US" sz="900" dirty="0">
                <a:solidFill>
                  <a:srgbClr val="3D4A56"/>
                </a:solidFill>
                <a:latin typeface="Arial" pitchFamily="34" charset="0"/>
                <a:ea typeface="Arial" pitchFamily="34" charset="-122"/>
                <a:cs typeface="Arial" pitchFamily="34" charset="-120"/>
              </a:rPr>
              <a:t>aniversarios, bodas, «cómo nos conocimos»</a:t>
            </a:r>
            <a:endParaRPr lang="en-US" sz="900" dirty="0"/>
          </a:p>
        </p:txBody>
      </p:sp>
      <p:sp>
        <p:nvSpPr>
          <p:cNvPr id="19" name="Shape 15"/>
          <p:cNvSpPr/>
          <p:nvPr/>
        </p:nvSpPr>
        <p:spPr>
          <a:xfrm>
            <a:off x="457200" y="2999232"/>
            <a:ext cx="3749040" cy="603504"/>
          </a:xfrm>
          <a:prstGeom prst="roundRect">
            <a:avLst>
              <a:gd name="adj" fmla="val 12121"/>
            </a:avLst>
          </a:prstGeom>
          <a:solidFill>
            <a:srgbClr val="FFF5EE"/>
          </a:solidFill>
          <a:ln/>
        </p:spPr>
      </p:sp>
      <p:sp>
        <p:nvSpPr>
          <p:cNvPr id="20" name="Shape 16"/>
          <p:cNvSpPr/>
          <p:nvPr/>
        </p:nvSpPr>
        <p:spPr>
          <a:xfrm>
            <a:off x="585216" y="3145536"/>
            <a:ext cx="310896" cy="310896"/>
          </a:xfrm>
          <a:prstGeom prst="roundRect">
            <a:avLst>
              <a:gd name="adj" fmla="val 23529"/>
            </a:avLst>
          </a:prstGeom>
          <a:solidFill>
            <a:srgbClr val="FF7A2F"/>
          </a:solidFill>
          <a:ln/>
        </p:spPr>
      </p:sp>
      <p:sp>
        <p:nvSpPr>
          <p:cNvPr id="21" name="Text 17"/>
          <p:cNvSpPr txBox="1"/>
          <p:nvPr/>
        </p:nvSpPr>
        <p:spPr>
          <a:xfrm>
            <a:off x="585216" y="3145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2" name="Text 18"/>
          <p:cNvSpPr txBox="1"/>
          <p:nvPr/>
        </p:nvSpPr>
        <p:spPr>
          <a:xfrm>
            <a:off x="1024128" y="3072384"/>
            <a:ext cx="3063240" cy="219456"/>
          </a:xfrm>
          <a:prstGeom prst="rect">
            <a:avLst/>
          </a:prstGeom>
          <a:noFill/>
          <a:ln/>
        </p:spPr>
        <p:txBody>
          <a:bodyPr wrap="square" lIns="0" tIns="0" rIns="0" bIns="0" rtlCol="0" anchor="t"/>
          <a:lstStyle/>
          <a:p>
            <a:pPr indent="0" marL="0">
              <a:buNone/>
            </a:pPr>
            <a:r>
              <a:rPr lang="en-US" sz="1100" b="1" dirty="0">
                <a:solidFill>
                  <a:srgbClr val="1E2B37"/>
                </a:solidFill>
                <a:latin typeface="Arial" pitchFamily="34" charset="0"/>
                <a:ea typeface="Arial" pitchFamily="34" charset="-122"/>
                <a:cs typeface="Arial" pitchFamily="34" charset="-120"/>
              </a:rPr>
              <a:t>Padres y padrinos</a:t>
            </a:r>
            <a:endParaRPr lang="en-US" sz="1100" dirty="0"/>
          </a:p>
        </p:txBody>
      </p:sp>
      <p:sp>
        <p:nvSpPr>
          <p:cNvPr id="23" name="Text 19"/>
          <p:cNvSpPr txBox="1"/>
          <p:nvPr/>
        </p:nvSpPr>
        <p:spPr>
          <a:xfrm>
            <a:off x="1024128" y="3291840"/>
            <a:ext cx="3063240" cy="274320"/>
          </a:xfrm>
          <a:prstGeom prst="rect">
            <a:avLst/>
          </a:prstGeom>
          <a:noFill/>
          <a:ln/>
        </p:spPr>
        <p:txBody>
          <a:bodyPr wrap="square" lIns="0" tIns="0" rIns="0" bIns="0" rtlCol="0" anchor="t"/>
          <a:lstStyle/>
          <a:p>
            <a:pPr indent="0" marL="0">
              <a:buNone/>
            </a:pPr>
            <a:r>
              <a:rPr lang="en-US" sz="900" dirty="0">
                <a:solidFill>
                  <a:srgbClr val="3D4A56"/>
                </a:solidFill>
                <a:latin typeface="Arial" pitchFamily="34" charset="0"/>
                <a:ea typeface="Arial" pitchFamily="34" charset="-122"/>
                <a:cs typeface="Arial" pitchFamily="34" charset="-120"/>
              </a:rPr>
              <a:t>un cuento en el que el niño es el protagonista (cumpleaños, comunión)</a:t>
            </a:r>
            <a:endParaRPr lang="en-US" sz="900" dirty="0"/>
          </a:p>
        </p:txBody>
      </p:sp>
      <p:sp>
        <p:nvSpPr>
          <p:cNvPr id="24" name="Text 20"/>
          <p:cNvSpPr txBox="1"/>
          <p:nvPr/>
        </p:nvSpPr>
        <p:spPr>
          <a:xfrm>
            <a:off x="4480560" y="1188720"/>
            <a:ext cx="4206240" cy="274320"/>
          </a:xfrm>
          <a:prstGeom prst="rect">
            <a:avLst/>
          </a:prstGeom>
          <a:noFill/>
          <a:ln/>
        </p:spPr>
        <p:txBody>
          <a:bodyPr wrap="square" lIns="0" tIns="0" rIns="0" bIns="0" rtlCol="0" anchor="t"/>
          <a:lstStyle/>
          <a:p>
            <a:pPr indent="0" marL="0">
              <a:buNone/>
            </a:pPr>
            <a:r>
              <a:rPr lang="en-US" sz="1300" b="1" dirty="0">
                <a:solidFill>
                  <a:srgbClr val="1E2B37"/>
                </a:solidFill>
                <a:latin typeface="Arial" pitchFamily="34" charset="0"/>
                <a:ea typeface="Arial" pitchFamily="34" charset="-122"/>
                <a:cs typeface="Arial" pitchFamily="34" charset="-120"/>
              </a:rPr>
              <a:t>Por qué las alternativas actuales no funcionan</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480560" y="1572768"/>
          <a:ext cx="4206240" cy="914400"/>
        </p:xfrm>
        <a:graphic>
          <a:graphicData uri="http://schemas.openxmlformats.org/drawingml/2006/table">
            <a:tbl>
              <a:tblPr/>
              <a:tblGrid>
                <a:gridCol w="1234440"/>
                <a:gridCol w="2971800"/>
              </a:tblGrid>
              <a:tr h="384048">
                <a:tc>
                  <a:txBody>
                    <a:bodyPr/>
                    <a:lstStyle/>
                    <a:p>
                      <a:pPr indent="0" marL="0">
                        <a:buNone/>
                      </a:pPr>
                      <a:r>
                        <a:rPr lang="en-US" sz="900" b="1" dirty="0">
                          <a:solidFill>
                            <a:srgbClr val="FFFFFF"/>
                          </a:solidFill>
                          <a:latin typeface="Arial" pitchFamily="34" charset="0"/>
                          <a:ea typeface="Arial" pitchFamily="34" charset="-122"/>
                          <a:cs typeface="Arial" pitchFamily="34" charset="-120"/>
                        </a:rPr>
                        <a:t>Alternativa</a:t>
                      </a:r>
                      <a:endParaRPr lang="en-US" sz="9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Por qué falla</a:t>
                      </a:r>
                      <a:endParaRPr lang="en-US" sz="9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r>
              <a:tr h="384048">
                <a:tc>
                  <a:txBody>
                    <a:bodyPr/>
                    <a:lstStyle/>
                    <a:p>
                      <a:pPr indent="0" marL="0">
                        <a:buNone/>
                      </a:pPr>
                      <a:r>
                        <a:rPr lang="en-US" sz="900" dirty="0">
                          <a:solidFill>
                            <a:srgbClr val="1E2B37"/>
                          </a:solidFill>
                          <a:latin typeface="Arial" pitchFamily="34" charset="0"/>
                          <a:ea typeface="Arial" pitchFamily="34" charset="-122"/>
                          <a:cs typeface="Arial" pitchFamily="34" charset="-120"/>
                        </a:rPr>
                        <a:t>Escritor por encargo</a:t>
                      </a:r>
                      <a:endParaRPr lang="en-US" sz="9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900" dirty="0">
                          <a:solidFill>
                            <a:srgbClr val="1E2B37"/>
                          </a:solidFill>
                          <a:latin typeface="Arial" pitchFamily="34" charset="0"/>
                          <a:ea typeface="Arial" pitchFamily="34" charset="-122"/>
                          <a:cs typeface="Arial" pitchFamily="34" charset="-120"/>
                        </a:rPr>
                        <a:t>semanas o meses y precio de artesanía; un regalo tiene fecha</a:t>
                      </a:r>
                      <a:endParaRPr lang="en-US" sz="9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384048">
                <a:tc>
                  <a:txBody>
                    <a:bodyPr/>
                    <a:lstStyle/>
                    <a:p>
                      <a:pPr indent="0" marL="0">
                        <a:buNone/>
                      </a:pPr>
                      <a:r>
                        <a:rPr lang="en-US" sz="900" dirty="0">
                          <a:solidFill>
                            <a:srgbClr val="1E2B37"/>
                          </a:solidFill>
                          <a:latin typeface="Arial" pitchFamily="34" charset="0"/>
                          <a:ea typeface="Arial" pitchFamily="34" charset="-122"/>
                          <a:cs typeface="Arial" pitchFamily="34" charset="-120"/>
                        </a:rPr>
                        <a:t>Libro plantilla</a:t>
                      </a:r>
                      <a:endParaRPr lang="en-US" sz="9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900" dirty="0">
                          <a:solidFill>
                            <a:srgbClr val="1E2B37"/>
                          </a:solidFill>
                          <a:latin typeface="Arial" pitchFamily="34" charset="0"/>
                          <a:ea typeface="Arial" pitchFamily="34" charset="-122"/>
                          <a:cs typeface="Arial" pitchFamily="34" charset="-120"/>
                        </a:rPr>
                        <a:t>solo cambia el nombre: el destinatario no se reconoce</a:t>
                      </a:r>
                      <a:endParaRPr lang="en-US" sz="9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384048">
                <a:tc>
                  <a:txBody>
                    <a:bodyPr/>
                    <a:lstStyle/>
                    <a:p>
                      <a:pPr indent="0" marL="0">
                        <a:buNone/>
                      </a:pPr>
                      <a:r>
                        <a:rPr lang="en-US" sz="900" dirty="0">
                          <a:solidFill>
                            <a:srgbClr val="1E2B37"/>
                          </a:solidFill>
                          <a:latin typeface="Arial" pitchFamily="34" charset="0"/>
                          <a:ea typeface="Arial" pitchFamily="34" charset="-122"/>
                          <a:cs typeface="Arial" pitchFamily="34" charset="-120"/>
                        </a:rPr>
                        <a:t>Chat con un LLM</a:t>
                      </a:r>
                      <a:endParaRPr lang="en-US" sz="9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900" dirty="0">
                          <a:solidFill>
                            <a:srgbClr val="1E2B37"/>
                          </a:solidFill>
                          <a:latin typeface="Arial" pitchFamily="34" charset="0"/>
                          <a:ea typeface="Arial" pitchFamily="34" charset="-122"/>
                          <a:cs typeface="Arial" pitchFamily="34" charset="-120"/>
                        </a:rPr>
                        <a:t>mezcla nombres, olvida recuerdos, contradice fechas, ignora vetos; sin PDF ni correcciones</a:t>
                      </a:r>
                      <a:endParaRPr lang="en-US" sz="9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bl>
          </a:graphicData>
        </a:graphic>
      </p:graphicFrame>
      <p:sp>
        <p:nvSpPr>
          <p:cNvPr id="26" name="Shape 21"/>
          <p:cNvSpPr/>
          <p:nvPr/>
        </p:nvSpPr>
        <p:spPr>
          <a:xfrm>
            <a:off x="4480560" y="3401568"/>
            <a:ext cx="4206240" cy="566928"/>
          </a:xfrm>
          <a:prstGeom prst="roundRect">
            <a:avLst>
              <a:gd name="adj" fmla="val 12903"/>
            </a:avLst>
          </a:prstGeom>
          <a:solidFill>
            <a:srgbClr val="1E2B37"/>
          </a:solidFill>
          <a:ln/>
        </p:spPr>
      </p:sp>
      <p:sp>
        <p:nvSpPr>
          <p:cNvPr id="27" name="Text 22"/>
          <p:cNvSpPr txBox="1"/>
          <p:nvPr/>
        </p:nvSpPr>
        <p:spPr>
          <a:xfrm>
            <a:off x="4617720" y="3401568"/>
            <a:ext cx="3931920" cy="566928"/>
          </a:xfrm>
          <a:prstGeom prst="rect">
            <a:avLst/>
          </a:prstGeom>
          <a:noFill/>
          <a:ln/>
        </p:spPr>
        <p:txBody>
          <a:bodyPr wrap="square" lIns="0" tIns="0" rIns="0" bIns="0" rtlCol="0" anchor="ctr"/>
          <a:lstStyle/>
          <a:p>
            <a:pPr indent="0" marL="0">
              <a:buNone/>
            </a:pPr>
            <a:r>
              <a:rPr lang="en-US" sz="1000" b="1" dirty="0">
                <a:solidFill>
                  <a:srgbClr val="FF7A2F"/>
                </a:solidFill>
                <a:latin typeface="Arial" pitchFamily="34" charset="0"/>
                <a:ea typeface="Arial" pitchFamily="34" charset="-122"/>
                <a:cs typeface="Arial" pitchFamily="34" charset="-120"/>
              </a:rPr>
              <a:t>Lo que pide Cuentalia: </a:t>
            </a:r>
            <a:pPr indent="0" marL="0">
              <a:buNone/>
            </a:pPr>
            <a:r>
              <a:rPr lang="en-US" sz="1000" dirty="0">
                <a:solidFill>
                  <a:srgbClr val="FFFFFF"/>
                </a:solidFill>
                <a:latin typeface="Arial" pitchFamily="34" charset="0"/>
                <a:ea typeface="Arial" pitchFamily="34" charset="-122"/>
                <a:cs typeface="Arial" pitchFamily="34" charset="-120"/>
              </a:rPr>
              <a:t>10 capítulos en horas, en los que el destinatario se reconozca, sin nada vetado y corregibles.</a:t>
            </a:r>
            <a:endParaRPr lang="en-US" sz="1000" dirty="0"/>
          </a:p>
        </p:txBody>
      </p:sp>
      <p:sp>
        <p:nvSpPr>
          <p:cNvPr id="28" name="Text 23"/>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900" i="1" dirty="0">
                <a:solidFill>
                  <a:srgbClr val="5E6A77"/>
                </a:solidFill>
                <a:latin typeface="Arial" pitchFamily="34" charset="0"/>
                <a:ea typeface="Arial" pitchFamily="34" charset="-122"/>
                <a:cs typeface="Arial" pitchFamily="34" charset="-120"/>
              </a:rPr>
              <a:t>Criterio de calidad del sistema (D11): personalización y calidad narrativa pesan igual. Meter los datos a martillazos no cuenta como éxito.</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CONFIGURACIÓN Y LECTURA</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Configurar, leer y corregir una novela</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3</a:t>
            </a:r>
            <a:endParaRPr lang="en-US" sz="750" dirty="0"/>
          </a:p>
        </p:txBody>
      </p:sp>
      <p:sp>
        <p:nvSpPr>
          <p:cNvPr id="8" name="Shape 4"/>
          <p:cNvSpPr/>
          <p:nvPr/>
        </p:nvSpPr>
        <p:spPr>
          <a:xfrm>
            <a:off x="420624" y="1197864"/>
            <a:ext cx="2670048" cy="1554480"/>
          </a:xfrm>
          <a:prstGeom prst="roundRect">
            <a:avLst>
              <a:gd name="adj" fmla="val 3529"/>
            </a:avLst>
          </a:prstGeom>
          <a:solidFill>
            <a:srgbClr val="FFFFFF"/>
          </a:solidFill>
          <a:ln w="9525">
            <a:solidFill>
              <a:srgbClr val="E6E9EC"/>
            </a:solidFill>
            <a:prstDash val="solid"/>
          </a:ln>
          <a:effectLst>
            <a:outerShdw sx="100000" sy="100000" kx="0" ky="0" algn="bl" rotWithShape="0" blurRad="76200" dist="25400" dir="5400000">
              <a:srgbClr val="1E2B37">
                <a:alpha val="12000"/>
              </a:srgbClr>
            </a:outerShdw>
          </a:effectLst>
        </p:spPr>
      </p:sp>
      <p:pic>
        <p:nvPicPr>
          <p:cNvPr id="9" name="Image 2" descr="/home/user/My-Story-Marker/presentacion/build/img2/crops/wizard.png">    </p:cNvPr>
          <p:cNvPicPr>
            <a:picLocks noChangeAspect="1"/>
          </p:cNvPicPr>
          <p:nvPr/>
        </p:nvPicPr>
        <p:blipFill>
          <a:blip r:embed="rId3"/>
          <a:stretch>
            <a:fillRect/>
          </a:stretch>
        </p:blipFill>
        <p:spPr>
          <a:xfrm>
            <a:off x="457200" y="1234440"/>
            <a:ext cx="2596896" cy="1481328"/>
          </a:xfrm>
          <a:prstGeom prst="rect">
            <a:avLst/>
          </a:prstGeom>
        </p:spPr>
      </p:pic>
      <p:sp>
        <p:nvSpPr>
          <p:cNvPr id="10" name="Shape 5"/>
          <p:cNvSpPr/>
          <p:nvPr/>
        </p:nvSpPr>
        <p:spPr>
          <a:xfrm>
            <a:off x="457200" y="2926080"/>
            <a:ext cx="310896" cy="310896"/>
          </a:xfrm>
          <a:prstGeom prst="roundRect">
            <a:avLst>
              <a:gd name="adj" fmla="val 23529"/>
            </a:avLst>
          </a:prstGeom>
          <a:solidFill>
            <a:srgbClr val="FF7A2F"/>
          </a:solidFill>
          <a:ln/>
        </p:spPr>
      </p:sp>
      <p:sp>
        <p:nvSpPr>
          <p:cNvPr id="11" name="Text 6"/>
          <p:cNvSpPr txBox="1"/>
          <p:nvPr/>
        </p:nvSpPr>
        <p:spPr>
          <a:xfrm>
            <a:off x="457200" y="29260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Text 7"/>
          <p:cNvSpPr txBox="1"/>
          <p:nvPr/>
        </p:nvSpPr>
        <p:spPr>
          <a:xfrm>
            <a:off x="868680" y="2926080"/>
            <a:ext cx="2185416" cy="310896"/>
          </a:xfrm>
          <a:prstGeom prst="rect">
            <a:avLst/>
          </a:prstGeom>
          <a:noFill/>
          <a:ln/>
        </p:spPr>
        <p:txBody>
          <a:bodyPr wrap="square" lIns="0" tIns="0" rIns="0" bIns="0" rtlCol="0" anchor="ctr"/>
          <a:lstStyle/>
          <a:p>
            <a:pPr indent="0" marL="0">
              <a:buNone/>
            </a:pPr>
            <a:r>
              <a:rPr lang="en-US" sz="1300" b="1" dirty="0">
                <a:solidFill>
                  <a:srgbClr val="1E2B37"/>
                </a:solidFill>
                <a:latin typeface="Arial" pitchFamily="34" charset="0"/>
                <a:ea typeface="Arial" pitchFamily="34" charset="-122"/>
                <a:cs typeface="Arial" pitchFamily="34" charset="-120"/>
              </a:rPr>
              <a:t>Configurar</a:t>
            </a:r>
            <a:endParaRPr lang="en-US" sz="1300" dirty="0"/>
          </a:p>
        </p:txBody>
      </p:sp>
      <p:sp>
        <p:nvSpPr>
          <p:cNvPr id="13" name="Text 8"/>
          <p:cNvSpPr txBox="1"/>
          <p:nvPr/>
        </p:nvSpPr>
        <p:spPr>
          <a:xfrm>
            <a:off x="457200" y="3310128"/>
            <a:ext cx="2596896" cy="1097280"/>
          </a:xfrm>
          <a:prstGeom prst="rect">
            <a:avLst/>
          </a:prstGeom>
          <a:noFill/>
          <a:ln/>
        </p:spPr>
        <p:txBody>
          <a:bodyPr wrap="square" lIns="0" tIns="0" rIns="0" bIns="0" rtlCol="0" anchor="t"/>
          <a:lstStyle/>
          <a:p>
            <a:pPr indent="0" marL="0">
              <a:buNone/>
            </a:pPr>
            <a:r>
              <a:rPr lang="en-US" sz="950" dirty="0">
                <a:solidFill>
                  <a:srgbClr val="3D4A56"/>
                </a:solidFill>
                <a:latin typeface="Arial" pitchFamily="34" charset="0"/>
                <a:ea typeface="Arial" pitchFamily="34" charset="-122"/>
                <a:cs typeface="Arial" pitchFamily="34" charset="-120"/>
              </a:rPr>
              <a:t>Asistente de 5 pasos: destinatario, personas, recuerdos, historia (género, tono, vetos) y dedicatoria. El brief se valida con JSON Schema y reglas de coherencia antes de gastar un token.</a:t>
            </a:r>
            <a:endParaRPr lang="en-US" sz="950" dirty="0"/>
          </a:p>
        </p:txBody>
      </p:sp>
      <p:sp>
        <p:nvSpPr>
          <p:cNvPr id="14" name="Shape 9"/>
          <p:cNvSpPr/>
          <p:nvPr/>
        </p:nvSpPr>
        <p:spPr>
          <a:xfrm>
            <a:off x="3236976" y="1197864"/>
            <a:ext cx="2670048" cy="1554480"/>
          </a:xfrm>
          <a:prstGeom prst="roundRect">
            <a:avLst>
              <a:gd name="adj" fmla="val 3529"/>
            </a:avLst>
          </a:prstGeom>
          <a:solidFill>
            <a:srgbClr val="FFFFFF"/>
          </a:solidFill>
          <a:ln w="9525">
            <a:solidFill>
              <a:srgbClr val="E6E9EC"/>
            </a:solidFill>
            <a:prstDash val="solid"/>
          </a:ln>
          <a:effectLst>
            <a:outerShdw sx="100000" sy="100000" kx="0" ky="0" algn="bl" rotWithShape="0" blurRad="76200" dist="25400" dir="5400000">
              <a:srgbClr val="1E2B37">
                <a:alpha val="12000"/>
              </a:srgbClr>
            </a:outerShdw>
          </a:effectLst>
        </p:spPr>
      </p:sp>
      <p:pic>
        <p:nvPicPr>
          <p:cNvPr id="15" name="Image 3" descr="/home/user/My-Story-Marker/presentacion/build/img2/crops/reader.png">    </p:cNvPr>
          <p:cNvPicPr>
            <a:picLocks noChangeAspect="1"/>
          </p:cNvPicPr>
          <p:nvPr/>
        </p:nvPicPr>
        <p:blipFill>
          <a:blip r:embed="rId4"/>
          <a:stretch>
            <a:fillRect/>
          </a:stretch>
        </p:blipFill>
        <p:spPr>
          <a:xfrm>
            <a:off x="3273552" y="1234440"/>
            <a:ext cx="2596896" cy="1481328"/>
          </a:xfrm>
          <a:prstGeom prst="rect">
            <a:avLst/>
          </a:prstGeom>
        </p:spPr>
      </p:pic>
      <p:sp>
        <p:nvSpPr>
          <p:cNvPr id="16" name="Shape 10"/>
          <p:cNvSpPr/>
          <p:nvPr/>
        </p:nvSpPr>
        <p:spPr>
          <a:xfrm>
            <a:off x="3273552" y="2926080"/>
            <a:ext cx="310896" cy="310896"/>
          </a:xfrm>
          <a:prstGeom prst="roundRect">
            <a:avLst>
              <a:gd name="adj" fmla="val 23529"/>
            </a:avLst>
          </a:prstGeom>
          <a:solidFill>
            <a:srgbClr val="FF7A2F"/>
          </a:solidFill>
          <a:ln/>
        </p:spPr>
      </p:sp>
      <p:sp>
        <p:nvSpPr>
          <p:cNvPr id="17" name="Text 11"/>
          <p:cNvSpPr txBox="1"/>
          <p:nvPr/>
        </p:nvSpPr>
        <p:spPr>
          <a:xfrm>
            <a:off x="3273552" y="29260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 name="Text 12"/>
          <p:cNvSpPr txBox="1"/>
          <p:nvPr/>
        </p:nvSpPr>
        <p:spPr>
          <a:xfrm>
            <a:off x="3685032" y="2926080"/>
            <a:ext cx="2185416" cy="310896"/>
          </a:xfrm>
          <a:prstGeom prst="rect">
            <a:avLst/>
          </a:prstGeom>
          <a:noFill/>
          <a:ln/>
        </p:spPr>
        <p:txBody>
          <a:bodyPr wrap="square" lIns="0" tIns="0" rIns="0" bIns="0" rtlCol="0" anchor="ctr"/>
          <a:lstStyle/>
          <a:p>
            <a:pPr indent="0" marL="0">
              <a:buNone/>
            </a:pPr>
            <a:r>
              <a:rPr lang="en-US" sz="1300" b="1" dirty="0">
                <a:solidFill>
                  <a:srgbClr val="1E2B37"/>
                </a:solidFill>
                <a:latin typeface="Arial" pitchFamily="34" charset="0"/>
                <a:ea typeface="Arial" pitchFamily="34" charset="-122"/>
                <a:cs typeface="Arial" pitchFamily="34" charset="-120"/>
              </a:rPr>
              <a:t>Leer</a:t>
            </a:r>
            <a:endParaRPr lang="en-US" sz="1300" dirty="0"/>
          </a:p>
        </p:txBody>
      </p:sp>
      <p:sp>
        <p:nvSpPr>
          <p:cNvPr id="19" name="Text 13"/>
          <p:cNvSpPr txBox="1"/>
          <p:nvPr/>
        </p:nvSpPr>
        <p:spPr>
          <a:xfrm>
            <a:off x="3273552" y="3310128"/>
            <a:ext cx="2596896" cy="1097280"/>
          </a:xfrm>
          <a:prstGeom prst="rect">
            <a:avLst/>
          </a:prstGeom>
          <a:noFill/>
          <a:ln/>
        </p:spPr>
        <p:txBody>
          <a:bodyPr wrap="square" lIns="0" tIns="0" rIns="0" bIns="0" rtlCol="0" anchor="t"/>
          <a:lstStyle/>
          <a:p>
            <a:pPr indent="0" marL="0">
              <a:buNone/>
            </a:pPr>
            <a:r>
              <a:rPr lang="en-US" sz="950" dirty="0">
                <a:solidFill>
                  <a:srgbClr val="3D4A56"/>
                </a:solidFill>
                <a:latin typeface="Arial" pitchFamily="34" charset="0"/>
                <a:ea typeface="Arial" pitchFamily="34" charset="-122"/>
                <a:cs typeface="Arial" pitchFamily="34" charset="-120"/>
              </a:rPr>
              <a:t>Lector web con portada y dedicatoria, índice, capítulos y fichas de personajes con «Aparece en». El PDF exportado tiene la misma estructura y enlaces internos.</a:t>
            </a:r>
            <a:endParaRPr lang="en-US" sz="950" dirty="0"/>
          </a:p>
        </p:txBody>
      </p:sp>
      <p:sp>
        <p:nvSpPr>
          <p:cNvPr id="20" name="Shape 14"/>
          <p:cNvSpPr/>
          <p:nvPr/>
        </p:nvSpPr>
        <p:spPr>
          <a:xfrm>
            <a:off x="6774058" y="1197864"/>
            <a:ext cx="1228588" cy="1554480"/>
          </a:xfrm>
          <a:prstGeom prst="roundRect">
            <a:avLst>
              <a:gd name="adj" fmla="val 4466"/>
            </a:avLst>
          </a:prstGeom>
          <a:solidFill>
            <a:srgbClr val="FFFFFF"/>
          </a:solidFill>
          <a:ln w="9525">
            <a:solidFill>
              <a:srgbClr val="E6E9EC"/>
            </a:solidFill>
            <a:prstDash val="solid"/>
          </a:ln>
          <a:effectLst>
            <a:outerShdw sx="100000" sy="100000" kx="0" ky="0" algn="bl" rotWithShape="0" blurRad="76200" dist="25400" dir="5400000">
              <a:srgbClr val="1E2B37">
                <a:alpha val="12000"/>
              </a:srgbClr>
            </a:outerShdw>
          </a:effectLst>
        </p:spPr>
      </p:sp>
      <p:pic>
        <p:nvPicPr>
          <p:cNvPr id="21" name="Image 4" descr="/home/user/My-Story-Marker/presentacion/build/img2/crops/v2n.png">    </p:cNvPr>
          <p:cNvPicPr>
            <a:picLocks noChangeAspect="1"/>
          </p:cNvPicPr>
          <p:nvPr/>
        </p:nvPicPr>
        <p:blipFill>
          <a:blip r:embed="rId5"/>
          <a:stretch>
            <a:fillRect/>
          </a:stretch>
        </p:blipFill>
        <p:spPr>
          <a:xfrm>
            <a:off x="6810634" y="1234440"/>
            <a:ext cx="1155436" cy="1481328"/>
          </a:xfrm>
          <a:prstGeom prst="rect">
            <a:avLst/>
          </a:prstGeom>
        </p:spPr>
      </p:pic>
      <p:sp>
        <p:nvSpPr>
          <p:cNvPr id="22" name="Shape 15"/>
          <p:cNvSpPr/>
          <p:nvPr/>
        </p:nvSpPr>
        <p:spPr>
          <a:xfrm>
            <a:off x="6089904" y="2926080"/>
            <a:ext cx="310896" cy="310896"/>
          </a:xfrm>
          <a:prstGeom prst="roundRect">
            <a:avLst>
              <a:gd name="adj" fmla="val 23529"/>
            </a:avLst>
          </a:prstGeom>
          <a:solidFill>
            <a:srgbClr val="FF7A2F"/>
          </a:solidFill>
          <a:ln/>
        </p:spPr>
      </p:sp>
      <p:sp>
        <p:nvSpPr>
          <p:cNvPr id="23" name="Text 16"/>
          <p:cNvSpPr txBox="1"/>
          <p:nvPr/>
        </p:nvSpPr>
        <p:spPr>
          <a:xfrm>
            <a:off x="6089904" y="29260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4" name="Text 17"/>
          <p:cNvSpPr txBox="1"/>
          <p:nvPr/>
        </p:nvSpPr>
        <p:spPr>
          <a:xfrm>
            <a:off x="6501384" y="2926080"/>
            <a:ext cx="2185416" cy="310896"/>
          </a:xfrm>
          <a:prstGeom prst="rect">
            <a:avLst/>
          </a:prstGeom>
          <a:noFill/>
          <a:ln/>
        </p:spPr>
        <p:txBody>
          <a:bodyPr wrap="square" lIns="0" tIns="0" rIns="0" bIns="0" rtlCol="0" anchor="ctr"/>
          <a:lstStyle/>
          <a:p>
            <a:pPr indent="0" marL="0">
              <a:buNone/>
            </a:pPr>
            <a:r>
              <a:rPr lang="en-US" sz="1300" b="1" dirty="0">
                <a:solidFill>
                  <a:srgbClr val="1E2B37"/>
                </a:solidFill>
                <a:latin typeface="Arial" pitchFamily="34" charset="0"/>
                <a:ea typeface="Arial" pitchFamily="34" charset="-122"/>
                <a:cs typeface="Arial" pitchFamily="34" charset="-120"/>
              </a:rPr>
              <a:t>Corregir</a:t>
            </a:r>
            <a:endParaRPr lang="en-US" sz="1300" dirty="0"/>
          </a:p>
        </p:txBody>
      </p:sp>
      <p:sp>
        <p:nvSpPr>
          <p:cNvPr id="25" name="Text 18"/>
          <p:cNvSpPr txBox="1"/>
          <p:nvPr/>
        </p:nvSpPr>
        <p:spPr>
          <a:xfrm>
            <a:off x="6089904" y="3310128"/>
            <a:ext cx="2596896" cy="1097280"/>
          </a:xfrm>
          <a:prstGeom prst="rect">
            <a:avLst/>
          </a:prstGeom>
          <a:noFill/>
          <a:ln/>
        </p:spPr>
        <p:txBody>
          <a:bodyPr wrap="square" lIns="0" tIns="0" rIns="0" bIns="0" rtlCol="0" anchor="t"/>
          <a:lstStyle/>
          <a:p>
            <a:pPr indent="0" marL="0">
              <a:buNone/>
            </a:pPr>
            <a:r>
              <a:rPr lang="en-US" sz="950" dirty="0">
                <a:solidFill>
                  <a:srgbClr val="3D4A56"/>
                </a:solidFill>
                <a:latin typeface="Arial" pitchFamily="34" charset="0"/>
                <a:ea typeface="Arial" pitchFamily="34" charset="-122"/>
                <a:cs typeface="Arial" pitchFamily="34" charset="-120"/>
              </a:rPr>
              <a:t>«La perra se llama Nala»: se pide desde el lector, la CLI o la API. Solo se regeneran los capítulos que usan ese hecho, en una versión nueva; la anterior se conserva.</a:t>
            </a:r>
            <a:endParaRPr lang="en-US" sz="950" dirty="0"/>
          </a:p>
        </p:txBody>
      </p:sp>
      <p:sp>
        <p:nvSpPr>
          <p:cNvPr id="26" name="Text 19"/>
          <p:cNvSpPr txBox="1"/>
          <p:nvPr/>
        </p:nvSpPr>
        <p:spPr>
          <a:xfrm>
            <a:off x="457200" y="4407408"/>
            <a:ext cx="8229600" cy="228600"/>
          </a:xfrm>
          <a:prstGeom prst="rect">
            <a:avLst/>
          </a:prstGeom>
          <a:noFill/>
          <a:ln/>
        </p:spPr>
        <p:txBody>
          <a:bodyPr wrap="square" lIns="0" tIns="0" rIns="0" bIns="0" rtlCol="0" anchor="t"/>
          <a:lstStyle/>
          <a:p>
            <a:pPr indent="0" marL="0">
              <a:buNone/>
            </a:pPr>
            <a:r>
              <a:rPr lang="en-US" sz="800" i="1" dirty="0">
                <a:solidFill>
                  <a:srgbClr val="5E6A77"/>
                </a:solidFill>
                <a:latin typeface="Arial" pitchFamily="34" charset="0"/>
                <a:ea typeface="Arial" pitchFamily="34" charset="-122"/>
                <a:cs typeface="Arial" pitchFamily="34" charset="-120"/>
              </a:rPr>
              <a:t>Capturas reales: asistente «Nueva novela», validador visual del lector (Playwright MCP) y página «Novedades» del PDF de la versión 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ARQUITECTURA DEL HARNESS · 1/2</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Cinco roles con un solo trabajo, orquestados por código</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4</a:t>
            </a:r>
            <a:endParaRPr lang="en-US" sz="750" dirty="0"/>
          </a:p>
        </p:txBody>
      </p:sp>
      <p:sp>
        <p:nvSpPr>
          <p:cNvPr id="8" name="Shape 4"/>
          <p:cNvSpPr/>
          <p:nvPr/>
        </p:nvSpPr>
        <p:spPr>
          <a:xfrm>
            <a:off x="457200" y="1188720"/>
            <a:ext cx="1188720" cy="749808"/>
          </a:xfrm>
          <a:prstGeom prst="roundRect">
            <a:avLst>
              <a:gd name="adj" fmla="val 9756"/>
            </a:avLst>
          </a:prstGeom>
          <a:solidFill>
            <a:srgbClr val="1E2B37"/>
          </a:solidFill>
          <a:ln/>
        </p:spPr>
      </p:sp>
      <p:sp>
        <p:nvSpPr>
          <p:cNvPr id="9" name="Text 5"/>
          <p:cNvSpPr txBox="1"/>
          <p:nvPr/>
        </p:nvSpPr>
        <p:spPr>
          <a:xfrm>
            <a:off x="530352" y="1261872"/>
            <a:ext cx="1042416" cy="237744"/>
          </a:xfrm>
          <a:prstGeom prst="rect">
            <a:avLst/>
          </a:prstGeom>
          <a:noFill/>
          <a:ln/>
        </p:spPr>
        <p:txBody>
          <a:bodyPr wrap="square" lIns="0" tIns="0" rIns="0" bIns="0" rtlCol="0" anchor="t"/>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interviewer</a:t>
            </a:r>
            <a:endParaRPr lang="en-US" sz="1100" dirty="0"/>
          </a:p>
        </p:txBody>
      </p:sp>
      <p:sp>
        <p:nvSpPr>
          <p:cNvPr id="10" name="Text 6"/>
          <p:cNvSpPr txBox="1"/>
          <p:nvPr/>
        </p:nvSpPr>
        <p:spPr>
          <a:xfrm>
            <a:off x="530352" y="1517904"/>
            <a:ext cx="1042416" cy="365760"/>
          </a:xfrm>
          <a:prstGeom prst="rect">
            <a:avLst/>
          </a:prstGeom>
          <a:noFill/>
          <a:ln/>
        </p:spPr>
        <p:txBody>
          <a:bodyPr wrap="square" lIns="0" tIns="0" rIns="0" bIns="0" rtlCol="0" anchor="t"/>
          <a:lstStyle/>
          <a:p>
            <a:pPr algn="ctr" indent="0" marL="0">
              <a:buNone/>
            </a:pPr>
            <a:r>
              <a:rPr lang="en-US" sz="800" dirty="0">
                <a:solidFill>
                  <a:srgbClr val="C9D1D9"/>
                </a:solidFill>
                <a:latin typeface="Arial" pitchFamily="34" charset="0"/>
                <a:ea typeface="Arial" pitchFamily="34" charset="-122"/>
                <a:cs typeface="Arial" pitchFamily="34" charset="-120"/>
              </a:rPr>
              <a:t>brief + hechos del texto libre</a:t>
            </a:r>
            <a:endParaRPr lang="en-US" sz="800" dirty="0"/>
          </a:p>
        </p:txBody>
      </p:sp>
      <p:sp>
        <p:nvSpPr>
          <p:cNvPr id="11" name="Shape 7"/>
          <p:cNvSpPr/>
          <p:nvPr/>
        </p:nvSpPr>
        <p:spPr>
          <a:xfrm>
            <a:off x="1664208" y="1563624"/>
            <a:ext cx="182880" cy="914"/>
          </a:xfrm>
          <a:prstGeom prst="line">
            <a:avLst/>
          </a:prstGeom>
          <a:noFill/>
          <a:ln w="15875">
            <a:solidFill>
              <a:srgbClr val="FF7A2F"/>
            </a:solidFill>
            <a:prstDash val="solid"/>
            <a:tailEnd type="triangle"/>
          </a:ln>
        </p:spPr>
      </p:sp>
      <p:sp>
        <p:nvSpPr>
          <p:cNvPr id="12" name="Shape 8"/>
          <p:cNvSpPr/>
          <p:nvPr/>
        </p:nvSpPr>
        <p:spPr>
          <a:xfrm>
            <a:off x="1051560" y="1956816"/>
            <a:ext cx="914" cy="146304"/>
          </a:xfrm>
          <a:prstGeom prst="line">
            <a:avLst/>
          </a:prstGeom>
          <a:noFill/>
          <a:ln w="15875">
            <a:solidFill>
              <a:srgbClr val="5E6A77"/>
            </a:solidFill>
            <a:prstDash val="solid"/>
            <a:tailEnd type="triangle"/>
          </a:ln>
        </p:spPr>
      </p:sp>
      <p:sp>
        <p:nvSpPr>
          <p:cNvPr id="13" name="Shape 9"/>
          <p:cNvSpPr/>
          <p:nvPr/>
        </p:nvSpPr>
        <p:spPr>
          <a:xfrm>
            <a:off x="457200" y="2121408"/>
            <a:ext cx="1188720" cy="457200"/>
          </a:xfrm>
          <a:prstGeom prst="roundRect">
            <a:avLst>
              <a:gd name="adj" fmla="val 24000"/>
            </a:avLst>
          </a:prstGeom>
          <a:solidFill>
            <a:srgbClr val="FFF5EE"/>
          </a:solidFill>
          <a:ln/>
        </p:spPr>
      </p:sp>
      <p:sp>
        <p:nvSpPr>
          <p:cNvPr id="14" name="Text 10"/>
          <p:cNvSpPr txBox="1"/>
          <p:nvPr/>
        </p:nvSpPr>
        <p:spPr>
          <a:xfrm>
            <a:off x="502920" y="2121408"/>
            <a:ext cx="1097280" cy="457200"/>
          </a:xfrm>
          <a:prstGeom prst="rect">
            <a:avLst/>
          </a:prstGeom>
          <a:noFill/>
          <a:ln/>
        </p:spPr>
        <p:txBody>
          <a:bodyPr wrap="square" lIns="0" tIns="0" rIns="0" bIns="0" rtlCol="0" anchor="ctr"/>
          <a:lstStyle/>
          <a:p>
            <a:pPr algn="ctr" indent="0" marL="0">
              <a:buNone/>
            </a:pPr>
            <a:r>
              <a:rPr lang="en-US" sz="750" b="1" dirty="0">
                <a:solidFill>
                  <a:srgbClr val="AE4E14"/>
                </a:solidFill>
                <a:latin typeface="Arial" pitchFamily="34" charset="0"/>
                <a:ea typeface="Arial" pitchFamily="34" charset="-122"/>
                <a:cs typeface="Arial" pitchFamily="34" charset="-120"/>
              </a:rPr>
              <a:t>hook · brief_schema</a:t>
            </a:r>
            <a:endParaRPr lang="en-US" sz="750" dirty="0"/>
          </a:p>
        </p:txBody>
      </p:sp>
      <p:sp>
        <p:nvSpPr>
          <p:cNvPr id="15" name="Shape 11"/>
          <p:cNvSpPr/>
          <p:nvPr/>
        </p:nvSpPr>
        <p:spPr>
          <a:xfrm>
            <a:off x="1865376" y="1188720"/>
            <a:ext cx="1188720" cy="749808"/>
          </a:xfrm>
          <a:prstGeom prst="roundRect">
            <a:avLst>
              <a:gd name="adj" fmla="val 9756"/>
            </a:avLst>
          </a:prstGeom>
          <a:solidFill>
            <a:srgbClr val="1E2B37"/>
          </a:solidFill>
          <a:ln/>
        </p:spPr>
      </p:sp>
      <p:sp>
        <p:nvSpPr>
          <p:cNvPr id="16" name="Text 12"/>
          <p:cNvSpPr txBox="1"/>
          <p:nvPr/>
        </p:nvSpPr>
        <p:spPr>
          <a:xfrm>
            <a:off x="1938528" y="1261872"/>
            <a:ext cx="1042416" cy="237744"/>
          </a:xfrm>
          <a:prstGeom prst="rect">
            <a:avLst/>
          </a:prstGeom>
          <a:noFill/>
          <a:ln/>
        </p:spPr>
        <p:txBody>
          <a:bodyPr wrap="square" lIns="0" tIns="0" rIns="0" bIns="0" rtlCol="0" anchor="t"/>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planner</a:t>
            </a:r>
            <a:endParaRPr lang="en-US" sz="1100" dirty="0"/>
          </a:p>
        </p:txBody>
      </p:sp>
      <p:sp>
        <p:nvSpPr>
          <p:cNvPr id="17" name="Text 13"/>
          <p:cNvSpPr txBox="1"/>
          <p:nvPr/>
        </p:nvSpPr>
        <p:spPr>
          <a:xfrm>
            <a:off x="1938528" y="1517904"/>
            <a:ext cx="1042416" cy="365760"/>
          </a:xfrm>
          <a:prstGeom prst="rect">
            <a:avLst/>
          </a:prstGeom>
          <a:noFill/>
          <a:ln/>
        </p:spPr>
        <p:txBody>
          <a:bodyPr wrap="square" lIns="0" tIns="0" rIns="0" bIns="0" rtlCol="0" anchor="t"/>
          <a:lstStyle/>
          <a:p>
            <a:pPr algn="ctr" indent="0" marL="0">
              <a:buNone/>
            </a:pPr>
            <a:r>
              <a:rPr lang="en-US" sz="800" dirty="0">
                <a:solidFill>
                  <a:srgbClr val="C9D1D9"/>
                </a:solidFill>
                <a:latin typeface="Arial" pitchFamily="34" charset="0"/>
                <a:ea typeface="Arial" pitchFamily="34" charset="-122"/>
                <a:cs typeface="Arial" pitchFamily="34" charset="-120"/>
              </a:rPr>
              <a:t>plan, reparto, cronología, calendario</a:t>
            </a:r>
            <a:endParaRPr lang="en-US" sz="800" dirty="0"/>
          </a:p>
        </p:txBody>
      </p:sp>
      <p:sp>
        <p:nvSpPr>
          <p:cNvPr id="18" name="Shape 14"/>
          <p:cNvSpPr/>
          <p:nvPr/>
        </p:nvSpPr>
        <p:spPr>
          <a:xfrm>
            <a:off x="3072384" y="1563624"/>
            <a:ext cx="182880" cy="914"/>
          </a:xfrm>
          <a:prstGeom prst="line">
            <a:avLst/>
          </a:prstGeom>
          <a:noFill/>
          <a:ln w="15875">
            <a:solidFill>
              <a:srgbClr val="FF7A2F"/>
            </a:solidFill>
            <a:prstDash val="solid"/>
            <a:tailEnd type="triangle"/>
          </a:ln>
        </p:spPr>
      </p:sp>
      <p:sp>
        <p:nvSpPr>
          <p:cNvPr id="19" name="Shape 15"/>
          <p:cNvSpPr/>
          <p:nvPr/>
        </p:nvSpPr>
        <p:spPr>
          <a:xfrm>
            <a:off x="2459736" y="1956816"/>
            <a:ext cx="914" cy="146304"/>
          </a:xfrm>
          <a:prstGeom prst="line">
            <a:avLst/>
          </a:prstGeom>
          <a:noFill/>
          <a:ln w="15875">
            <a:solidFill>
              <a:srgbClr val="5E6A77"/>
            </a:solidFill>
            <a:prstDash val="solid"/>
            <a:tailEnd type="triangle"/>
          </a:ln>
        </p:spPr>
      </p:sp>
      <p:sp>
        <p:nvSpPr>
          <p:cNvPr id="20" name="Shape 16"/>
          <p:cNvSpPr/>
          <p:nvPr/>
        </p:nvSpPr>
        <p:spPr>
          <a:xfrm>
            <a:off x="1865376" y="2121408"/>
            <a:ext cx="1188720" cy="457200"/>
          </a:xfrm>
          <a:prstGeom prst="roundRect">
            <a:avLst>
              <a:gd name="adj" fmla="val 24000"/>
            </a:avLst>
          </a:prstGeom>
          <a:solidFill>
            <a:srgbClr val="FFF5EE"/>
          </a:solidFill>
          <a:ln/>
        </p:spPr>
      </p:sp>
      <p:sp>
        <p:nvSpPr>
          <p:cNvPr id="21" name="Text 17"/>
          <p:cNvSpPr txBox="1"/>
          <p:nvPr/>
        </p:nvSpPr>
        <p:spPr>
          <a:xfrm>
            <a:off x="1911096" y="2121408"/>
            <a:ext cx="1097280" cy="457200"/>
          </a:xfrm>
          <a:prstGeom prst="rect">
            <a:avLst/>
          </a:prstGeom>
          <a:noFill/>
          <a:ln/>
        </p:spPr>
        <p:txBody>
          <a:bodyPr wrap="square" lIns="0" tIns="0" rIns="0" bIns="0" rtlCol="0" anchor="ctr"/>
          <a:lstStyle/>
          <a:p>
            <a:pPr algn="ctr" indent="0" marL="0">
              <a:buNone/>
            </a:pPr>
            <a:r>
              <a:rPr lang="en-US" sz="750" b="1" dirty="0">
                <a:solidFill>
                  <a:srgbClr val="AE4E14"/>
                </a:solidFill>
                <a:latin typeface="Arial" pitchFamily="34" charset="0"/>
                <a:ea typeface="Arial" pitchFamily="34" charset="-122"/>
                <a:cs typeface="Arial" pitchFamily="34" charset="-120"/>
              </a:rPr>
              <a:t>plan_check · Lean del plan</a:t>
            </a:r>
            <a:endParaRPr lang="en-US" sz="750" dirty="0"/>
          </a:p>
        </p:txBody>
      </p:sp>
      <p:sp>
        <p:nvSpPr>
          <p:cNvPr id="22" name="Shape 18"/>
          <p:cNvSpPr/>
          <p:nvPr/>
        </p:nvSpPr>
        <p:spPr>
          <a:xfrm>
            <a:off x="3273552" y="1188720"/>
            <a:ext cx="1188720" cy="749808"/>
          </a:xfrm>
          <a:prstGeom prst="roundRect">
            <a:avLst>
              <a:gd name="adj" fmla="val 9756"/>
            </a:avLst>
          </a:prstGeom>
          <a:solidFill>
            <a:srgbClr val="1E2B37"/>
          </a:solidFill>
          <a:ln/>
        </p:spPr>
      </p:sp>
      <p:sp>
        <p:nvSpPr>
          <p:cNvPr id="23" name="Text 19"/>
          <p:cNvSpPr txBox="1"/>
          <p:nvPr/>
        </p:nvSpPr>
        <p:spPr>
          <a:xfrm>
            <a:off x="3346704" y="1261872"/>
            <a:ext cx="1042416" cy="237744"/>
          </a:xfrm>
          <a:prstGeom prst="rect">
            <a:avLst/>
          </a:prstGeom>
          <a:noFill/>
          <a:ln/>
        </p:spPr>
        <p:txBody>
          <a:bodyPr wrap="square" lIns="0" tIns="0" rIns="0" bIns="0" rtlCol="0" anchor="t"/>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writer</a:t>
            </a:r>
            <a:endParaRPr lang="en-US" sz="1100" dirty="0"/>
          </a:p>
        </p:txBody>
      </p:sp>
      <p:sp>
        <p:nvSpPr>
          <p:cNvPr id="24" name="Text 20"/>
          <p:cNvSpPr txBox="1"/>
          <p:nvPr/>
        </p:nvSpPr>
        <p:spPr>
          <a:xfrm>
            <a:off x="3346704" y="1517904"/>
            <a:ext cx="1042416" cy="365760"/>
          </a:xfrm>
          <a:prstGeom prst="rect">
            <a:avLst/>
          </a:prstGeom>
          <a:noFill/>
          <a:ln/>
        </p:spPr>
        <p:txBody>
          <a:bodyPr wrap="square" lIns="0" tIns="0" rIns="0" bIns="0" rtlCol="0" anchor="t"/>
          <a:lstStyle/>
          <a:p>
            <a:pPr algn="ctr" indent="0" marL="0">
              <a:buNone/>
            </a:pPr>
            <a:r>
              <a:rPr lang="en-US" sz="800" dirty="0">
                <a:solidFill>
                  <a:srgbClr val="C9D1D9"/>
                </a:solidFill>
                <a:latin typeface="Arial" pitchFamily="34" charset="0"/>
                <a:ea typeface="Arial" pitchFamily="34" charset="-122"/>
                <a:cs typeface="Arial" pitchFamily="34" charset="-120"/>
              </a:rPr>
              <a:t>3 escenas por capítulo</a:t>
            </a:r>
            <a:endParaRPr lang="en-US" sz="800" dirty="0"/>
          </a:p>
        </p:txBody>
      </p:sp>
      <p:sp>
        <p:nvSpPr>
          <p:cNvPr id="25" name="Shape 21"/>
          <p:cNvSpPr/>
          <p:nvPr/>
        </p:nvSpPr>
        <p:spPr>
          <a:xfrm>
            <a:off x="4480560" y="1563624"/>
            <a:ext cx="182880" cy="914"/>
          </a:xfrm>
          <a:prstGeom prst="line">
            <a:avLst/>
          </a:prstGeom>
          <a:noFill/>
          <a:ln w="15875">
            <a:solidFill>
              <a:srgbClr val="FF7A2F"/>
            </a:solidFill>
            <a:prstDash val="solid"/>
            <a:tailEnd type="triangle"/>
          </a:ln>
        </p:spPr>
      </p:sp>
      <p:sp>
        <p:nvSpPr>
          <p:cNvPr id="26" name="Shape 22"/>
          <p:cNvSpPr/>
          <p:nvPr/>
        </p:nvSpPr>
        <p:spPr>
          <a:xfrm>
            <a:off x="3867912" y="1956816"/>
            <a:ext cx="914" cy="146304"/>
          </a:xfrm>
          <a:prstGeom prst="line">
            <a:avLst/>
          </a:prstGeom>
          <a:noFill/>
          <a:ln w="15875">
            <a:solidFill>
              <a:srgbClr val="5E6A77"/>
            </a:solidFill>
            <a:prstDash val="solid"/>
            <a:tailEnd type="triangle"/>
          </a:ln>
        </p:spPr>
      </p:sp>
      <p:sp>
        <p:nvSpPr>
          <p:cNvPr id="27" name="Shape 23"/>
          <p:cNvSpPr/>
          <p:nvPr/>
        </p:nvSpPr>
        <p:spPr>
          <a:xfrm>
            <a:off x="3273552" y="2121408"/>
            <a:ext cx="1188720" cy="457200"/>
          </a:xfrm>
          <a:prstGeom prst="roundRect">
            <a:avLst>
              <a:gd name="adj" fmla="val 24000"/>
            </a:avLst>
          </a:prstGeom>
          <a:solidFill>
            <a:srgbClr val="FFF5EE"/>
          </a:solidFill>
          <a:ln/>
        </p:spPr>
      </p:sp>
      <p:sp>
        <p:nvSpPr>
          <p:cNvPr id="28" name="Text 24"/>
          <p:cNvSpPr txBox="1"/>
          <p:nvPr/>
        </p:nvSpPr>
        <p:spPr>
          <a:xfrm>
            <a:off x="3319272" y="2121408"/>
            <a:ext cx="1097280" cy="457200"/>
          </a:xfrm>
          <a:prstGeom prst="rect">
            <a:avLst/>
          </a:prstGeom>
          <a:noFill/>
          <a:ln/>
        </p:spPr>
        <p:txBody>
          <a:bodyPr wrap="square" lIns="0" tIns="0" rIns="0" bIns="0" rtlCol="0" anchor="ctr"/>
          <a:lstStyle/>
          <a:p>
            <a:pPr algn="ctr" indent="0" marL="0">
              <a:buNone/>
            </a:pPr>
            <a:r>
              <a:rPr lang="en-US" sz="750" b="1" dirty="0">
                <a:solidFill>
                  <a:srgbClr val="AE4E14"/>
                </a:solidFill>
                <a:latin typeface="Arial" pitchFamily="34" charset="0"/>
                <a:ea typeface="Arial" pitchFamily="34" charset="-122"/>
                <a:cs typeface="Arial" pitchFamily="34" charset="-120"/>
              </a:rPr>
              <a:t>scene_accept · ≤ 2 reescrituras</a:t>
            </a:r>
            <a:endParaRPr lang="en-US" sz="750" dirty="0"/>
          </a:p>
        </p:txBody>
      </p:sp>
      <p:sp>
        <p:nvSpPr>
          <p:cNvPr id="29" name="Shape 25"/>
          <p:cNvSpPr/>
          <p:nvPr/>
        </p:nvSpPr>
        <p:spPr>
          <a:xfrm>
            <a:off x="4681728" y="1188720"/>
            <a:ext cx="1188720" cy="749808"/>
          </a:xfrm>
          <a:prstGeom prst="roundRect">
            <a:avLst>
              <a:gd name="adj" fmla="val 9756"/>
            </a:avLst>
          </a:prstGeom>
          <a:solidFill>
            <a:srgbClr val="1E2B37"/>
          </a:solidFill>
          <a:ln/>
        </p:spPr>
      </p:sp>
      <p:sp>
        <p:nvSpPr>
          <p:cNvPr id="30" name="Text 26"/>
          <p:cNvSpPr txBox="1"/>
          <p:nvPr/>
        </p:nvSpPr>
        <p:spPr>
          <a:xfrm>
            <a:off x="4754880" y="1261872"/>
            <a:ext cx="1042416" cy="237744"/>
          </a:xfrm>
          <a:prstGeom prst="rect">
            <a:avLst/>
          </a:prstGeom>
          <a:noFill/>
          <a:ln/>
        </p:spPr>
        <p:txBody>
          <a:bodyPr wrap="square" lIns="0" tIns="0" rIns="0" bIns="0" rtlCol="0" anchor="t"/>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editor</a:t>
            </a:r>
            <a:endParaRPr lang="en-US" sz="1100" dirty="0"/>
          </a:p>
        </p:txBody>
      </p:sp>
      <p:sp>
        <p:nvSpPr>
          <p:cNvPr id="31" name="Text 27"/>
          <p:cNvSpPr txBox="1"/>
          <p:nvPr/>
        </p:nvSpPr>
        <p:spPr>
          <a:xfrm>
            <a:off x="4754880" y="1517904"/>
            <a:ext cx="1042416" cy="365760"/>
          </a:xfrm>
          <a:prstGeom prst="rect">
            <a:avLst/>
          </a:prstGeom>
          <a:noFill/>
          <a:ln/>
        </p:spPr>
        <p:txBody>
          <a:bodyPr wrap="square" lIns="0" tIns="0" rIns="0" bIns="0" rtlCol="0" anchor="t"/>
          <a:lstStyle/>
          <a:p>
            <a:pPr algn="ctr" indent="0" marL="0">
              <a:buNone/>
            </a:pPr>
            <a:r>
              <a:rPr lang="en-US" sz="800" dirty="0">
                <a:solidFill>
                  <a:srgbClr val="C9D1D9"/>
                </a:solidFill>
                <a:latin typeface="Arial" pitchFamily="34" charset="0"/>
                <a:ea typeface="Arial" pitchFamily="34" charset="-122"/>
                <a:cs typeface="Arial" pitchFamily="34" charset="-120"/>
              </a:rPr>
              <a:t>une, pule y reescribe</a:t>
            </a:r>
            <a:endParaRPr lang="en-US" sz="800" dirty="0"/>
          </a:p>
        </p:txBody>
      </p:sp>
      <p:sp>
        <p:nvSpPr>
          <p:cNvPr id="32" name="Shape 28"/>
          <p:cNvSpPr/>
          <p:nvPr/>
        </p:nvSpPr>
        <p:spPr>
          <a:xfrm>
            <a:off x="5888736" y="1563624"/>
            <a:ext cx="182880" cy="914"/>
          </a:xfrm>
          <a:prstGeom prst="line">
            <a:avLst/>
          </a:prstGeom>
          <a:noFill/>
          <a:ln w="15875">
            <a:solidFill>
              <a:srgbClr val="FF7A2F"/>
            </a:solidFill>
            <a:prstDash val="solid"/>
            <a:tailEnd type="triangle"/>
          </a:ln>
        </p:spPr>
      </p:sp>
      <p:sp>
        <p:nvSpPr>
          <p:cNvPr id="33" name="Shape 29"/>
          <p:cNvSpPr/>
          <p:nvPr/>
        </p:nvSpPr>
        <p:spPr>
          <a:xfrm>
            <a:off x="5276088" y="1956816"/>
            <a:ext cx="914" cy="146304"/>
          </a:xfrm>
          <a:prstGeom prst="line">
            <a:avLst/>
          </a:prstGeom>
          <a:noFill/>
          <a:ln w="15875">
            <a:solidFill>
              <a:srgbClr val="5E6A77"/>
            </a:solidFill>
            <a:prstDash val="solid"/>
            <a:tailEnd type="triangle"/>
          </a:ln>
        </p:spPr>
      </p:sp>
      <p:sp>
        <p:nvSpPr>
          <p:cNvPr id="34" name="Shape 30"/>
          <p:cNvSpPr/>
          <p:nvPr/>
        </p:nvSpPr>
        <p:spPr>
          <a:xfrm>
            <a:off x="4681728" y="2121408"/>
            <a:ext cx="1188720" cy="457200"/>
          </a:xfrm>
          <a:prstGeom prst="roundRect">
            <a:avLst>
              <a:gd name="adj" fmla="val 24000"/>
            </a:avLst>
          </a:prstGeom>
          <a:solidFill>
            <a:srgbClr val="FFF5EE"/>
          </a:solidFill>
          <a:ln/>
        </p:spPr>
      </p:sp>
      <p:sp>
        <p:nvSpPr>
          <p:cNvPr id="35" name="Text 31"/>
          <p:cNvSpPr txBox="1"/>
          <p:nvPr/>
        </p:nvSpPr>
        <p:spPr>
          <a:xfrm>
            <a:off x="4727448" y="2121408"/>
            <a:ext cx="1097280" cy="457200"/>
          </a:xfrm>
          <a:prstGeom prst="rect">
            <a:avLst/>
          </a:prstGeom>
          <a:noFill/>
          <a:ln/>
        </p:spPr>
        <p:txBody>
          <a:bodyPr wrap="square" lIns="0" tIns="0" rIns="0" bIns="0" rtlCol="0" anchor="ctr"/>
          <a:lstStyle/>
          <a:p>
            <a:pPr algn="ctr" indent="0" marL="0">
              <a:buNone/>
            </a:pPr>
            <a:r>
              <a:rPr lang="en-US" sz="750" b="1" dirty="0">
                <a:solidFill>
                  <a:srgbClr val="AE4E14"/>
                </a:solidFill>
                <a:latin typeface="Arial" pitchFamily="34" charset="0"/>
                <a:ea typeface="Arial" pitchFamily="34" charset="-122"/>
                <a:cs typeface="Arial" pitchFamily="34" charset="-120"/>
              </a:rPr>
              <a:t>chapter_close · ≤ 2 · checkpoint</a:t>
            </a:r>
            <a:endParaRPr lang="en-US" sz="750" dirty="0"/>
          </a:p>
        </p:txBody>
      </p:sp>
      <p:sp>
        <p:nvSpPr>
          <p:cNvPr id="36" name="Shape 32"/>
          <p:cNvSpPr/>
          <p:nvPr/>
        </p:nvSpPr>
        <p:spPr>
          <a:xfrm>
            <a:off x="6089904" y="1188720"/>
            <a:ext cx="1188720" cy="749808"/>
          </a:xfrm>
          <a:prstGeom prst="roundRect">
            <a:avLst>
              <a:gd name="adj" fmla="val 9756"/>
            </a:avLst>
          </a:prstGeom>
          <a:solidFill>
            <a:srgbClr val="1E2B37"/>
          </a:solidFill>
          <a:ln/>
        </p:spPr>
      </p:sp>
      <p:sp>
        <p:nvSpPr>
          <p:cNvPr id="37" name="Text 33"/>
          <p:cNvSpPr txBox="1"/>
          <p:nvPr/>
        </p:nvSpPr>
        <p:spPr>
          <a:xfrm>
            <a:off x="6163056" y="1261872"/>
            <a:ext cx="1042416" cy="237744"/>
          </a:xfrm>
          <a:prstGeom prst="rect">
            <a:avLst/>
          </a:prstGeom>
          <a:noFill/>
          <a:ln/>
        </p:spPr>
        <p:txBody>
          <a:bodyPr wrap="square" lIns="0" tIns="0" rIns="0" bIns="0" rtlCol="0" anchor="t"/>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judge</a:t>
            </a:r>
            <a:endParaRPr lang="en-US" sz="1100" dirty="0"/>
          </a:p>
        </p:txBody>
      </p:sp>
      <p:sp>
        <p:nvSpPr>
          <p:cNvPr id="38" name="Text 34"/>
          <p:cNvSpPr txBox="1"/>
          <p:nvPr/>
        </p:nvSpPr>
        <p:spPr>
          <a:xfrm>
            <a:off x="6163056" y="1517904"/>
            <a:ext cx="1042416" cy="365760"/>
          </a:xfrm>
          <a:prstGeom prst="rect">
            <a:avLst/>
          </a:prstGeom>
          <a:noFill/>
          <a:ln/>
        </p:spPr>
        <p:txBody>
          <a:bodyPr wrap="square" lIns="0" tIns="0" rIns="0" bIns="0" rtlCol="0" anchor="t"/>
          <a:lstStyle/>
          <a:p>
            <a:pPr algn="ctr" indent="0" marL="0">
              <a:buNone/>
            </a:pPr>
            <a:r>
              <a:rPr lang="en-US" sz="800" dirty="0">
                <a:solidFill>
                  <a:srgbClr val="C9D1D9"/>
                </a:solidFill>
                <a:latin typeface="Arial" pitchFamily="34" charset="0"/>
                <a:ea typeface="Arial" pitchFamily="34" charset="-122"/>
                <a:cs typeface="Arial" pitchFamily="34" charset="-120"/>
              </a:rPr>
              <a:t>rúbrica de 5 criterios</a:t>
            </a:r>
            <a:endParaRPr lang="en-US" sz="800" dirty="0"/>
          </a:p>
        </p:txBody>
      </p:sp>
      <p:sp>
        <p:nvSpPr>
          <p:cNvPr id="39" name="Shape 35"/>
          <p:cNvSpPr/>
          <p:nvPr/>
        </p:nvSpPr>
        <p:spPr>
          <a:xfrm>
            <a:off x="7296912" y="1563624"/>
            <a:ext cx="182880" cy="914"/>
          </a:xfrm>
          <a:prstGeom prst="line">
            <a:avLst/>
          </a:prstGeom>
          <a:noFill/>
          <a:ln w="15875">
            <a:solidFill>
              <a:srgbClr val="FF7A2F"/>
            </a:solidFill>
            <a:prstDash val="solid"/>
            <a:tailEnd type="triangle"/>
          </a:ln>
        </p:spPr>
      </p:sp>
      <p:sp>
        <p:nvSpPr>
          <p:cNvPr id="40" name="Shape 36"/>
          <p:cNvSpPr/>
          <p:nvPr/>
        </p:nvSpPr>
        <p:spPr>
          <a:xfrm>
            <a:off x="6684264" y="1956816"/>
            <a:ext cx="914" cy="146304"/>
          </a:xfrm>
          <a:prstGeom prst="line">
            <a:avLst/>
          </a:prstGeom>
          <a:noFill/>
          <a:ln w="15875">
            <a:solidFill>
              <a:srgbClr val="5E6A77"/>
            </a:solidFill>
            <a:prstDash val="solid"/>
            <a:tailEnd type="triangle"/>
          </a:ln>
        </p:spPr>
      </p:sp>
      <p:sp>
        <p:nvSpPr>
          <p:cNvPr id="41" name="Shape 37"/>
          <p:cNvSpPr/>
          <p:nvPr/>
        </p:nvSpPr>
        <p:spPr>
          <a:xfrm>
            <a:off x="6089904" y="2121408"/>
            <a:ext cx="1188720" cy="457200"/>
          </a:xfrm>
          <a:prstGeom prst="roundRect">
            <a:avLst>
              <a:gd name="adj" fmla="val 24000"/>
            </a:avLst>
          </a:prstGeom>
          <a:solidFill>
            <a:srgbClr val="FFF5EE"/>
          </a:solidFill>
          <a:ln/>
        </p:spPr>
      </p:sp>
      <p:sp>
        <p:nvSpPr>
          <p:cNvPr id="42" name="Text 38"/>
          <p:cNvSpPr txBox="1"/>
          <p:nvPr/>
        </p:nvSpPr>
        <p:spPr>
          <a:xfrm>
            <a:off x="6135624" y="2121408"/>
            <a:ext cx="1097280" cy="457200"/>
          </a:xfrm>
          <a:prstGeom prst="rect">
            <a:avLst/>
          </a:prstGeom>
          <a:noFill/>
          <a:ln/>
        </p:spPr>
        <p:txBody>
          <a:bodyPr wrap="square" lIns="0" tIns="0" rIns="0" bIns="0" rtlCol="0" anchor="ctr"/>
          <a:lstStyle/>
          <a:p>
            <a:pPr algn="ctr" indent="0" marL="0">
              <a:buNone/>
            </a:pPr>
            <a:r>
              <a:rPr lang="en-US" sz="750" b="1" dirty="0">
                <a:solidFill>
                  <a:srgbClr val="AE4E14"/>
                </a:solidFill>
                <a:latin typeface="Arial" pitchFamily="34" charset="0"/>
                <a:ea typeface="Arial" pitchFamily="34" charset="-122"/>
                <a:cs typeface="Arial" pitchFamily="34" charset="-120"/>
              </a:rPr>
              <a:t>pre_publish · cobertura · Lean · juez · visual</a:t>
            </a:r>
            <a:endParaRPr lang="en-US" sz="750" dirty="0"/>
          </a:p>
        </p:txBody>
      </p:sp>
      <p:sp>
        <p:nvSpPr>
          <p:cNvPr id="43" name="Shape 39"/>
          <p:cNvSpPr/>
          <p:nvPr/>
        </p:nvSpPr>
        <p:spPr>
          <a:xfrm>
            <a:off x="7498080" y="1188720"/>
            <a:ext cx="1188720" cy="749808"/>
          </a:xfrm>
          <a:prstGeom prst="roundRect">
            <a:avLst>
              <a:gd name="adj" fmla="val 9756"/>
            </a:avLst>
          </a:prstGeom>
          <a:solidFill>
            <a:srgbClr val="FF7A2F"/>
          </a:solidFill>
          <a:ln/>
        </p:spPr>
      </p:sp>
      <p:sp>
        <p:nvSpPr>
          <p:cNvPr id="44" name="Text 40"/>
          <p:cNvSpPr txBox="1"/>
          <p:nvPr/>
        </p:nvSpPr>
        <p:spPr>
          <a:xfrm>
            <a:off x="7571232" y="1261872"/>
            <a:ext cx="1042416" cy="237744"/>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publicación</a:t>
            </a:r>
            <a:endParaRPr lang="en-US" sz="1100" dirty="0"/>
          </a:p>
        </p:txBody>
      </p:sp>
      <p:sp>
        <p:nvSpPr>
          <p:cNvPr id="45" name="Text 41"/>
          <p:cNvSpPr txBox="1"/>
          <p:nvPr/>
        </p:nvSpPr>
        <p:spPr>
          <a:xfrm>
            <a:off x="7571232" y="1517904"/>
            <a:ext cx="1042416" cy="365760"/>
          </a:xfrm>
          <a:prstGeom prst="rect">
            <a:avLst/>
          </a:prstGeom>
          <a:noFill/>
          <a:ln/>
        </p:spPr>
        <p:txBody>
          <a:bodyPr wrap="square" lIns="0" tIns="0" rIns="0" bIns="0" rtlCol="0" anchor="t"/>
          <a:lstStyle/>
          <a:p>
            <a:pPr algn="ctr" indent="0" marL="0">
              <a:buNone/>
            </a:pPr>
            <a:r>
              <a:rPr lang="en-US" sz="800" dirty="0">
                <a:solidFill>
                  <a:srgbClr val="FFFFFF"/>
                </a:solidFill>
                <a:latin typeface="Arial" pitchFamily="34" charset="0"/>
                <a:ea typeface="Arial" pitchFamily="34" charset="-122"/>
                <a:cs typeface="Arial" pitchFamily="34" charset="-120"/>
              </a:rPr>
              <a:t>versión v · lector + PDF</a:t>
            </a:r>
            <a:endParaRPr lang="en-US" sz="800" dirty="0"/>
          </a:p>
        </p:txBody>
      </p:sp>
      <p:sp>
        <p:nvSpPr>
          <p:cNvPr id="46" name="Shape 42"/>
          <p:cNvSpPr/>
          <p:nvPr/>
        </p:nvSpPr>
        <p:spPr>
          <a:xfrm>
            <a:off x="8092440" y="1956816"/>
            <a:ext cx="914" cy="146304"/>
          </a:xfrm>
          <a:prstGeom prst="line">
            <a:avLst/>
          </a:prstGeom>
          <a:noFill/>
          <a:ln w="15875">
            <a:solidFill>
              <a:srgbClr val="5E6A77"/>
            </a:solidFill>
            <a:prstDash val="solid"/>
            <a:tailEnd type="triangle"/>
          </a:ln>
        </p:spPr>
      </p:sp>
      <p:sp>
        <p:nvSpPr>
          <p:cNvPr id="47" name="Shape 43"/>
          <p:cNvSpPr/>
          <p:nvPr/>
        </p:nvSpPr>
        <p:spPr>
          <a:xfrm>
            <a:off x="7498080" y="2121408"/>
            <a:ext cx="1188720" cy="457200"/>
          </a:xfrm>
          <a:prstGeom prst="roundRect">
            <a:avLst>
              <a:gd name="adj" fmla="val 24000"/>
            </a:avLst>
          </a:prstGeom>
          <a:solidFill>
            <a:srgbClr val="FFF5EE"/>
          </a:solidFill>
          <a:ln/>
        </p:spPr>
      </p:sp>
      <p:sp>
        <p:nvSpPr>
          <p:cNvPr id="48" name="Text 44"/>
          <p:cNvSpPr txBox="1"/>
          <p:nvPr/>
        </p:nvSpPr>
        <p:spPr>
          <a:xfrm>
            <a:off x="7543800" y="2121408"/>
            <a:ext cx="1097280" cy="457200"/>
          </a:xfrm>
          <a:prstGeom prst="rect">
            <a:avLst/>
          </a:prstGeom>
          <a:noFill/>
          <a:ln/>
        </p:spPr>
        <p:txBody>
          <a:bodyPr wrap="square" lIns="0" tIns="0" rIns="0" bIns="0" rtlCol="0" anchor="ctr"/>
          <a:lstStyle/>
          <a:p>
            <a:pPr algn="ctr" indent="0" marL="0">
              <a:buNone/>
            </a:pPr>
            <a:r>
              <a:rPr lang="en-US" sz="750" b="1" dirty="0">
                <a:solidFill>
                  <a:srgbClr val="AE4E14"/>
                </a:solidFill>
                <a:latin typeface="Arial" pitchFamily="34" charset="0"/>
                <a:ea typeface="Arial" pitchFamily="34" charset="-122"/>
                <a:cs typeface="Arial" pitchFamily="34" charset="-120"/>
              </a:rPr>
              <a:t>≤ 2 rondas de reparación; si no, bloqueada</a:t>
            </a:r>
            <a:endParaRPr lang="en-US" sz="750" dirty="0"/>
          </a:p>
        </p:txBody>
      </p:sp>
      <p:sp>
        <p:nvSpPr>
          <p:cNvPr id="49" name="Text 45"/>
          <p:cNvSpPr txBox="1"/>
          <p:nvPr/>
        </p:nvSpPr>
        <p:spPr>
          <a:xfrm>
            <a:off x="457200" y="2697480"/>
            <a:ext cx="8229600" cy="274320"/>
          </a:xfrm>
          <a:prstGeom prst="rect">
            <a:avLst/>
          </a:prstGeom>
          <a:noFill/>
          <a:ln/>
        </p:spPr>
        <p:txBody>
          <a:bodyPr wrap="square" lIns="0" tIns="0" rIns="0" bIns="0" rtlCol="0" anchor="t"/>
          <a:lstStyle/>
          <a:p>
            <a:pPr indent="0" marL="0">
              <a:buNone/>
            </a:pPr>
            <a:r>
              <a:rPr lang="en-US" sz="950" b="1" dirty="0">
                <a:solidFill>
                  <a:srgbClr val="AE4E14"/>
                </a:solidFill>
                <a:latin typeface="Arial" pitchFamily="34" charset="0"/>
                <a:ea typeface="Arial" pitchFamily="34" charset="-122"/>
                <a:cs typeface="Arial" pitchFamily="34" charset="-120"/>
              </a:rPr>
              <a:t>↺  Cada fallo vuelve, con su evidencia y un presupuesto de reintentos, al rol que puede arreglarlo. Agotado el presupuesto, la versión se bloquea: nunca se publica.</a:t>
            </a:r>
            <a:endParaRPr lang="en-US" sz="950" dirty="0"/>
          </a:p>
        </p:txBody>
      </p:sp>
      <p:sp>
        <p:nvSpPr>
          <p:cNvPr id="50" name="Shape 46"/>
          <p:cNvSpPr/>
          <p:nvPr/>
        </p:nvSpPr>
        <p:spPr>
          <a:xfrm>
            <a:off x="457200" y="3108960"/>
            <a:ext cx="4023360" cy="1417320"/>
          </a:xfrm>
          <a:prstGeom prst="roundRect">
            <a:avLst>
              <a:gd name="adj" fmla="val 5161"/>
            </a:avLst>
          </a:prstGeom>
          <a:solidFill>
            <a:srgbClr val="F7F8FA"/>
          </a:solidFill>
          <a:ln w="9525">
            <a:solidFill>
              <a:srgbClr val="E6E9EC"/>
            </a:solidFill>
            <a:prstDash val="solid"/>
          </a:ln>
        </p:spPr>
      </p:sp>
      <p:sp>
        <p:nvSpPr>
          <p:cNvPr id="51" name="Text 47"/>
          <p:cNvSpPr txBox="1"/>
          <p:nvPr/>
        </p:nvSpPr>
        <p:spPr>
          <a:xfrm>
            <a:off x="621792" y="3200400"/>
            <a:ext cx="3749040" cy="256032"/>
          </a:xfrm>
          <a:prstGeom prst="rect">
            <a:avLst/>
          </a:prstGeom>
          <a:noFill/>
          <a:ln/>
        </p:spPr>
        <p:txBody>
          <a:bodyPr wrap="square" lIns="0" tIns="0" rIns="0" bIns="0" rtlCol="0" anchor="t"/>
          <a:lstStyle/>
          <a:p>
            <a:pPr indent="0" marL="0">
              <a:buNone/>
            </a:pPr>
            <a:r>
              <a:rPr lang="en-US" sz="1100" b="1" dirty="0">
                <a:solidFill>
                  <a:srgbClr val="1E2B37"/>
                </a:solidFill>
                <a:latin typeface="Arial" pitchFamily="34" charset="0"/>
                <a:ea typeface="Arial" pitchFamily="34" charset="-122"/>
                <a:cs typeface="Arial" pitchFamily="34" charset="-120"/>
              </a:rPr>
              <a:t>Orquestador · app/novel/pipeline.py</a:t>
            </a:r>
            <a:endParaRPr lang="en-US" sz="1100" dirty="0"/>
          </a:p>
        </p:txBody>
      </p:sp>
      <p:sp>
        <p:nvSpPr>
          <p:cNvPr id="52" name="Text 48"/>
          <p:cNvSpPr txBox="1"/>
          <p:nvPr/>
        </p:nvSpPr>
        <p:spPr>
          <a:xfrm>
            <a:off x="621792" y="3493008"/>
            <a:ext cx="3749040" cy="1005840"/>
          </a:xfrm>
          <a:prstGeom prst="rect">
            <a:avLst/>
          </a:prstGeom>
          <a:noFill/>
          <a:ln/>
        </p:spPr>
        <p:txBody>
          <a:bodyPr wrap="square" lIns="0" tIns="0" rIns="0" bIns="0" rtlCol="0" anchor="t"/>
          <a:lstStyle/>
          <a:p>
            <a:pPr marL="152400" indent="-152400">
              <a:spcAft>
                <a:spcPts val="400"/>
              </a:spcAft>
              <a:buSzPct val="100000"/>
              <a:buChar char="•"/>
            </a:pPr>
            <a:r>
              <a:rPr lang="en-US" sz="900" dirty="0">
                <a:solidFill>
                  <a:srgbClr val="1E2B37"/>
                </a:solidFill>
                <a:latin typeface="Arial" pitchFamily="34" charset="0"/>
                <a:ea typeface="Arial" pitchFamily="34" charset="-122"/>
                <a:cs typeface="Arial" pitchFamily="34" charset="-120"/>
              </a:rPr>
              <a:t>Decide qué documentos ve cada rol y valida su salida con JSON Schema.</a:t>
            </a:r>
            <a:endParaRPr lang="en-US" sz="900" dirty="0"/>
          </a:p>
          <a:p>
            <a:pPr marL="152400" indent="-152400">
              <a:spcAft>
                <a:spcPts val="400"/>
              </a:spcAft>
              <a:buSzPct val="100000"/>
              <a:buChar char="•"/>
            </a:pPr>
            <a:r>
              <a:rPr lang="en-US" sz="900" dirty="0">
                <a:solidFill>
                  <a:srgbClr val="1E2B37"/>
                </a:solidFill>
                <a:latin typeface="Arial" pitchFamily="34" charset="0"/>
                <a:ea typeface="Arial" pitchFamily="34" charset="-122"/>
                <a:cs typeface="Arial" pitchFamily="34" charset="-120"/>
              </a:rPr>
              <a:t>Escribe en la story bible en nombre del rol: la tabla de permisos se aplica en código, no en un prompt.</a:t>
            </a:r>
            <a:endParaRPr lang="en-US" sz="900" dirty="0"/>
          </a:p>
          <a:p>
            <a:pPr marL="152400" indent="-152400">
              <a:spcAft>
                <a:spcPts val="400"/>
              </a:spcAft>
              <a:buSzPct val="100000"/>
              <a:buChar char="•"/>
            </a:pPr>
            <a:r>
              <a:rPr lang="en-US" sz="900" dirty="0">
                <a:solidFill>
                  <a:srgbClr val="1E2B37"/>
                </a:solidFill>
                <a:latin typeface="Arial" pitchFamily="34" charset="0"/>
                <a:ea typeface="Arial" pitchFamily="34" charset="-122"/>
                <a:cs typeface="Arial" pitchFamily="34" charset="-120"/>
              </a:rPr>
              <a:t>Ningún modelo tiene herramientas de escritura; todos corren en Claude Haiku 4.5.</a:t>
            </a:r>
            <a:endParaRPr lang="en-US" sz="900" dirty="0"/>
          </a:p>
        </p:txBody>
      </p:sp>
      <p:sp>
        <p:nvSpPr>
          <p:cNvPr id="53" name="Shape 49"/>
          <p:cNvSpPr/>
          <p:nvPr/>
        </p:nvSpPr>
        <p:spPr>
          <a:xfrm>
            <a:off x="4663440" y="3108960"/>
            <a:ext cx="1920240" cy="1417320"/>
          </a:xfrm>
          <a:prstGeom prst="roundRect">
            <a:avLst>
              <a:gd name="adj" fmla="val 5161"/>
            </a:avLst>
          </a:prstGeom>
          <a:solidFill>
            <a:srgbClr val="FFF5EE"/>
          </a:solidFill>
          <a:ln/>
        </p:spPr>
      </p:sp>
      <p:sp>
        <p:nvSpPr>
          <p:cNvPr id="54" name="Text 50"/>
          <p:cNvSpPr txBox="1"/>
          <p:nvPr/>
        </p:nvSpPr>
        <p:spPr>
          <a:xfrm>
            <a:off x="4800600" y="3200400"/>
            <a:ext cx="1691640" cy="256032"/>
          </a:xfrm>
          <a:prstGeom prst="rect">
            <a:avLst/>
          </a:prstGeom>
          <a:noFill/>
          <a:ln/>
        </p:spPr>
        <p:txBody>
          <a:bodyPr wrap="square" lIns="0" tIns="0" rIns="0" bIns="0" rtlCol="0" anchor="t"/>
          <a:lstStyle/>
          <a:p>
            <a:pPr indent="0" marL="0">
              <a:buNone/>
            </a:pPr>
            <a:r>
              <a:rPr lang="en-US" sz="1100" b="1" dirty="0">
                <a:solidFill>
                  <a:srgbClr val="1E2B37"/>
                </a:solidFill>
                <a:latin typeface="Arial" pitchFamily="34" charset="0"/>
                <a:ea typeface="Arial" pitchFamily="34" charset="-122"/>
                <a:cs typeface="Arial" pitchFamily="34" charset="-120"/>
              </a:rPr>
              <a:t>Story bible</a:t>
            </a:r>
            <a:endParaRPr lang="en-US" sz="1100" dirty="0"/>
          </a:p>
        </p:txBody>
      </p:sp>
      <p:sp>
        <p:nvSpPr>
          <p:cNvPr id="55" name="Text 51"/>
          <p:cNvSpPr txBox="1"/>
          <p:nvPr/>
        </p:nvSpPr>
        <p:spPr>
          <a:xfrm>
            <a:off x="4800600" y="3493008"/>
            <a:ext cx="1691640" cy="960120"/>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SQLite autoritativa: brief, hechos y su uso por escena, cronología, versiones, checkpoints y audit log.</a:t>
            </a:r>
            <a:endParaRPr lang="en-US" sz="850" dirty="0"/>
          </a:p>
        </p:txBody>
      </p:sp>
      <p:sp>
        <p:nvSpPr>
          <p:cNvPr id="56" name="Shape 52"/>
          <p:cNvSpPr/>
          <p:nvPr/>
        </p:nvSpPr>
        <p:spPr>
          <a:xfrm>
            <a:off x="6766560" y="3108960"/>
            <a:ext cx="1920240" cy="1417320"/>
          </a:xfrm>
          <a:prstGeom prst="roundRect">
            <a:avLst>
              <a:gd name="adj" fmla="val 5161"/>
            </a:avLst>
          </a:prstGeom>
          <a:solidFill>
            <a:srgbClr val="FFF5EE"/>
          </a:solidFill>
          <a:ln/>
        </p:spPr>
      </p:sp>
      <p:sp>
        <p:nvSpPr>
          <p:cNvPr id="57" name="Text 53"/>
          <p:cNvSpPr txBox="1"/>
          <p:nvPr/>
        </p:nvSpPr>
        <p:spPr>
          <a:xfrm>
            <a:off x="6903720" y="3200400"/>
            <a:ext cx="1691640" cy="256032"/>
          </a:xfrm>
          <a:prstGeom prst="rect">
            <a:avLst/>
          </a:prstGeom>
          <a:noFill/>
          <a:ln/>
        </p:spPr>
        <p:txBody>
          <a:bodyPr wrap="square" lIns="0" tIns="0" rIns="0" bIns="0" rtlCol="0" anchor="t"/>
          <a:lstStyle/>
          <a:p>
            <a:pPr indent="0" marL="0">
              <a:buNone/>
            </a:pPr>
            <a:r>
              <a:rPr lang="en-US" sz="1100" b="1" dirty="0">
                <a:solidFill>
                  <a:srgbClr val="1E2B37"/>
                </a:solidFill>
                <a:latin typeface="Arial" pitchFamily="34" charset="0"/>
                <a:ea typeface="Arial" pitchFamily="34" charset="-122"/>
                <a:cs typeface="Arial" pitchFamily="34" charset="-120"/>
              </a:rPr>
              <a:t>Langfuse</a:t>
            </a:r>
            <a:endParaRPr lang="en-US" sz="1100" dirty="0"/>
          </a:p>
        </p:txBody>
      </p:sp>
      <p:sp>
        <p:nvSpPr>
          <p:cNvPr id="58" name="Text 54"/>
          <p:cNvSpPr txBox="1"/>
          <p:nvPr/>
        </p:nvSpPr>
        <p:spPr>
          <a:xfrm>
            <a:off x="6903720" y="3493008"/>
            <a:ext cx="1691640" cy="960120"/>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Una sesión por novela; spans role:* y tool:*, tokens, coste, latencia, scores y prompts versionados.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ARQUITECTURA DEL HARNESS · 2/2</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Contexto mínimo y una sola fuente de verdad</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5</a:t>
            </a:r>
            <a:endParaRPr lang="en-US" sz="750" dirty="0"/>
          </a:p>
        </p:txBody>
      </p:sp>
      <p:sp>
        <p:nvSpPr>
          <p:cNvPr id="8" name="Shape 4"/>
          <p:cNvSpPr/>
          <p:nvPr/>
        </p:nvSpPr>
        <p:spPr>
          <a:xfrm>
            <a:off x="457200" y="1188720"/>
            <a:ext cx="2606040" cy="1572768"/>
          </a:xfrm>
          <a:prstGeom prst="roundRect">
            <a:avLst>
              <a:gd name="adj" fmla="val 4651"/>
            </a:avLst>
          </a:prstGeom>
          <a:solidFill>
            <a:srgbClr val="F7F8FA"/>
          </a:solidFill>
          <a:ln/>
        </p:spPr>
      </p:sp>
      <p:sp>
        <p:nvSpPr>
          <p:cNvPr id="9" name="Shape 5"/>
          <p:cNvSpPr/>
          <p:nvPr/>
        </p:nvSpPr>
        <p:spPr>
          <a:xfrm>
            <a:off x="594360" y="1325880"/>
            <a:ext cx="274320" cy="274320"/>
          </a:xfrm>
          <a:prstGeom prst="roundRect">
            <a:avLst>
              <a:gd name="adj" fmla="val 26667"/>
            </a:avLst>
          </a:prstGeom>
          <a:solidFill>
            <a:srgbClr val="FF7A2F"/>
          </a:solidFill>
          <a:ln/>
        </p:spPr>
      </p:sp>
      <p:sp>
        <p:nvSpPr>
          <p:cNvPr id="10" name="Text 6"/>
          <p:cNvSpPr txBox="1"/>
          <p:nvPr/>
        </p:nvSpPr>
        <p:spPr>
          <a:xfrm>
            <a:off x="594360" y="13258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Text 7"/>
          <p:cNvSpPr txBox="1"/>
          <p:nvPr/>
        </p:nvSpPr>
        <p:spPr>
          <a:xfrm>
            <a:off x="960120" y="1325880"/>
            <a:ext cx="2011680" cy="274320"/>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Gestión del contexto</a:t>
            </a:r>
            <a:endParaRPr lang="en-US" sz="1100" dirty="0"/>
          </a:p>
        </p:txBody>
      </p:sp>
      <p:sp>
        <p:nvSpPr>
          <p:cNvPr id="12" name="Text 8"/>
          <p:cNvSpPr txBox="1"/>
          <p:nvPr/>
        </p:nvSpPr>
        <p:spPr>
          <a:xfrm>
            <a:off x="594360" y="1691640"/>
            <a:ext cx="2359152" cy="1024128"/>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Cada rol recibe solo Documents: su trozo del plan, la checklist de hechos asignados, los resúmenes de capítulos previos y las últimas 250 palabras. Datos, nunca instrucciones; muy por debajo del límite de 100k tokens.</a:t>
            </a:r>
            <a:endParaRPr lang="en-US" sz="850" dirty="0"/>
          </a:p>
        </p:txBody>
      </p:sp>
      <p:sp>
        <p:nvSpPr>
          <p:cNvPr id="13" name="Shape 9"/>
          <p:cNvSpPr/>
          <p:nvPr/>
        </p:nvSpPr>
        <p:spPr>
          <a:xfrm>
            <a:off x="3200400" y="1188720"/>
            <a:ext cx="2606040" cy="1572768"/>
          </a:xfrm>
          <a:prstGeom prst="roundRect">
            <a:avLst>
              <a:gd name="adj" fmla="val 4651"/>
            </a:avLst>
          </a:prstGeom>
          <a:solidFill>
            <a:srgbClr val="F7F8FA"/>
          </a:solidFill>
          <a:ln/>
        </p:spPr>
      </p:sp>
      <p:sp>
        <p:nvSpPr>
          <p:cNvPr id="14" name="Shape 10"/>
          <p:cNvSpPr/>
          <p:nvPr/>
        </p:nvSpPr>
        <p:spPr>
          <a:xfrm>
            <a:off x="3337560" y="1325880"/>
            <a:ext cx="274320" cy="274320"/>
          </a:xfrm>
          <a:prstGeom prst="roundRect">
            <a:avLst>
              <a:gd name="adj" fmla="val 26667"/>
            </a:avLst>
          </a:prstGeom>
          <a:solidFill>
            <a:srgbClr val="FF7A2F"/>
          </a:solidFill>
          <a:ln/>
        </p:spPr>
      </p:sp>
      <p:sp>
        <p:nvSpPr>
          <p:cNvPr id="15" name="Text 11"/>
          <p:cNvSpPr txBox="1"/>
          <p:nvPr/>
        </p:nvSpPr>
        <p:spPr>
          <a:xfrm>
            <a:off x="3337560" y="13258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6" name="Text 12"/>
          <p:cNvSpPr txBox="1"/>
          <p:nvPr/>
        </p:nvSpPr>
        <p:spPr>
          <a:xfrm>
            <a:off x="3703320" y="1325880"/>
            <a:ext cx="2011680" cy="274320"/>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Story bible (SQLite)</a:t>
            </a:r>
            <a:endParaRPr lang="en-US" sz="1100" dirty="0"/>
          </a:p>
        </p:txBody>
      </p:sp>
      <p:sp>
        <p:nvSpPr>
          <p:cNvPr id="17" name="Text 13"/>
          <p:cNvSpPr txBox="1"/>
          <p:nvPr/>
        </p:nvSpPr>
        <p:spPr>
          <a:xfrm>
            <a:off x="3337560" y="1691640"/>
            <a:ext cx="2359152" cy="1024128"/>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17 tablas. Cada hecho del brief es una fila y fact_usage lo liga a (versión, capítulo, escena): así un cambio sabe qué regenerar. Texto y checkpoint en una transacción: se reanuda sin duplicar.</a:t>
            </a:r>
            <a:endParaRPr lang="en-US" sz="850" dirty="0"/>
          </a:p>
        </p:txBody>
      </p:sp>
      <p:sp>
        <p:nvSpPr>
          <p:cNvPr id="18" name="Shape 14"/>
          <p:cNvSpPr/>
          <p:nvPr/>
        </p:nvSpPr>
        <p:spPr>
          <a:xfrm>
            <a:off x="457200" y="2880360"/>
            <a:ext cx="2606040" cy="1572768"/>
          </a:xfrm>
          <a:prstGeom prst="roundRect">
            <a:avLst>
              <a:gd name="adj" fmla="val 4651"/>
            </a:avLst>
          </a:prstGeom>
          <a:solidFill>
            <a:srgbClr val="F7F8FA"/>
          </a:solidFill>
          <a:ln/>
        </p:spPr>
      </p:sp>
      <p:sp>
        <p:nvSpPr>
          <p:cNvPr id="19" name="Shape 15"/>
          <p:cNvSpPr/>
          <p:nvPr/>
        </p:nvSpPr>
        <p:spPr>
          <a:xfrm>
            <a:off x="594360" y="3017520"/>
            <a:ext cx="274320" cy="274320"/>
          </a:xfrm>
          <a:prstGeom prst="roundRect">
            <a:avLst>
              <a:gd name="adj" fmla="val 26667"/>
            </a:avLst>
          </a:prstGeom>
          <a:solidFill>
            <a:srgbClr val="FF7A2F"/>
          </a:solidFill>
          <a:ln/>
        </p:spPr>
      </p:sp>
      <p:sp>
        <p:nvSpPr>
          <p:cNvPr id="20" name="Text 16"/>
          <p:cNvSpPr txBox="1"/>
          <p:nvPr/>
        </p:nvSpPr>
        <p:spPr>
          <a:xfrm>
            <a:off x="594360" y="30175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1" name="Text 17"/>
          <p:cNvSpPr txBox="1"/>
          <p:nvPr/>
        </p:nvSpPr>
        <p:spPr>
          <a:xfrm>
            <a:off x="960120" y="3017520"/>
            <a:ext cx="2011680" cy="274320"/>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Tools</a:t>
            </a:r>
            <a:endParaRPr lang="en-US" sz="1100" dirty="0"/>
          </a:p>
        </p:txBody>
      </p:sp>
      <p:sp>
        <p:nvSpPr>
          <p:cNvPr id="22" name="Text 18"/>
          <p:cNvSpPr txBox="1"/>
          <p:nvPr/>
        </p:nvSpPr>
        <p:spPr>
          <a:xfrm>
            <a:off x="594360" y="3383280"/>
            <a:ext cx="2359152" cy="1024128"/>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6 tools de solo lectura con schema: list_novels, list_versions, get_chapter, get_chapter_summary, query_story_bible, download_novel. Cada llamada es un span tool:&lt;nombre&gt;; también las expone un servidor MCP.</a:t>
            </a:r>
            <a:endParaRPr lang="en-US" sz="850" dirty="0"/>
          </a:p>
        </p:txBody>
      </p:sp>
      <p:sp>
        <p:nvSpPr>
          <p:cNvPr id="23" name="Shape 19"/>
          <p:cNvSpPr/>
          <p:nvPr/>
        </p:nvSpPr>
        <p:spPr>
          <a:xfrm>
            <a:off x="3200400" y="2880360"/>
            <a:ext cx="2606040" cy="1572768"/>
          </a:xfrm>
          <a:prstGeom prst="roundRect">
            <a:avLst>
              <a:gd name="adj" fmla="val 4651"/>
            </a:avLst>
          </a:prstGeom>
          <a:solidFill>
            <a:srgbClr val="F7F8FA"/>
          </a:solidFill>
          <a:ln/>
        </p:spPr>
      </p:sp>
      <p:sp>
        <p:nvSpPr>
          <p:cNvPr id="24" name="Shape 20"/>
          <p:cNvSpPr/>
          <p:nvPr/>
        </p:nvSpPr>
        <p:spPr>
          <a:xfrm>
            <a:off x="3337560" y="3017520"/>
            <a:ext cx="274320" cy="274320"/>
          </a:xfrm>
          <a:prstGeom prst="roundRect">
            <a:avLst>
              <a:gd name="adj" fmla="val 26667"/>
            </a:avLst>
          </a:prstGeom>
          <a:solidFill>
            <a:srgbClr val="FF7A2F"/>
          </a:solidFill>
          <a:ln/>
        </p:spPr>
      </p:sp>
      <p:sp>
        <p:nvSpPr>
          <p:cNvPr id="25" name="Text 21"/>
          <p:cNvSpPr txBox="1"/>
          <p:nvPr/>
        </p:nvSpPr>
        <p:spPr>
          <a:xfrm>
            <a:off x="3337560" y="30175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6" name="Text 22"/>
          <p:cNvSpPr txBox="1"/>
          <p:nvPr/>
        </p:nvSpPr>
        <p:spPr>
          <a:xfrm>
            <a:off x="3703320" y="3017520"/>
            <a:ext cx="2011680" cy="274320"/>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Hooks de Claude Code</a:t>
            </a:r>
            <a:endParaRPr lang="en-US" sz="1100" dirty="0"/>
          </a:p>
        </p:txBody>
      </p:sp>
      <p:sp>
        <p:nvSpPr>
          <p:cNvPr id="27" name="Text 23"/>
          <p:cNvSpPr txBox="1"/>
          <p:nvPr/>
        </p:nvSpPr>
        <p:spPr>
          <a:xfrm>
            <a:off x="3337560" y="3383280"/>
            <a:ext cx="2359152" cy="1024128"/>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PreToolUse policy_guard (bloquea escribir claves o borrar en la BD) y PostToolUse validate_chapter: el mismo código que el pipeline. Editar un capítulo a mano no se salta la validación. 14 casos probados.</a:t>
            </a:r>
            <a:endParaRPr lang="en-US" sz="850" dirty="0"/>
          </a:p>
        </p:txBody>
      </p:sp>
      <p:sp>
        <p:nvSpPr>
          <p:cNvPr id="28" name="Shape 24"/>
          <p:cNvSpPr/>
          <p:nvPr/>
        </p:nvSpPr>
        <p:spPr>
          <a:xfrm>
            <a:off x="6035040" y="1188720"/>
            <a:ext cx="2651760" cy="3264408"/>
          </a:xfrm>
          <a:prstGeom prst="roundRect">
            <a:avLst>
              <a:gd name="adj" fmla="val 2759"/>
            </a:avLst>
          </a:prstGeom>
          <a:solidFill>
            <a:srgbClr val="1E2B37"/>
          </a:solidFill>
          <a:ln/>
        </p:spPr>
      </p:sp>
      <p:sp>
        <p:nvSpPr>
          <p:cNvPr id="29" name="Text 25"/>
          <p:cNvSpPr txBox="1"/>
          <p:nvPr/>
        </p:nvSpPr>
        <p:spPr>
          <a:xfrm>
            <a:off x="6199632" y="1298448"/>
            <a:ext cx="2377440" cy="274320"/>
          </a:xfrm>
          <a:prstGeom prst="rect">
            <a:avLst/>
          </a:prstGeom>
          <a:noFill/>
          <a:ln/>
        </p:spPr>
        <p:txBody>
          <a:bodyPr wrap="square" lIns="0" tIns="0" rIns="0" bIns="0" rtlCol="0" anchor="t"/>
          <a:lstStyle/>
          <a:p>
            <a:pPr indent="0" marL="0">
              <a:buNone/>
            </a:pPr>
            <a:r>
              <a:rPr lang="en-US" sz="1200" b="1" dirty="0">
                <a:solidFill>
                  <a:srgbClr val="FF7A2F"/>
                </a:solidFill>
                <a:latin typeface="Arial" pitchFamily="34" charset="0"/>
                <a:ea typeface="Arial" pitchFamily="34" charset="-122"/>
                <a:cs typeface="Arial" pitchFamily="34" charset="-120"/>
              </a:rPr>
              <a:t>Por qué este diseño</a:t>
            </a:r>
            <a:endParaRPr lang="en-US" sz="1200" dirty="0"/>
          </a:p>
        </p:txBody>
      </p:sp>
      <p:sp>
        <p:nvSpPr>
          <p:cNvPr id="30" name="Text 26"/>
          <p:cNvSpPr txBox="1"/>
          <p:nvPr/>
        </p:nvSpPr>
        <p:spPr>
          <a:xfrm>
            <a:off x="6199632" y="1664208"/>
            <a:ext cx="2377440" cy="201168"/>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Orquestador determinista</a:t>
            </a:r>
            <a:endParaRPr lang="en-US" sz="950" dirty="0"/>
          </a:p>
        </p:txBody>
      </p:sp>
      <p:sp>
        <p:nvSpPr>
          <p:cNvPr id="31" name="Text 27"/>
          <p:cNvSpPr txBox="1"/>
          <p:nvPr/>
        </p:nvSpPr>
        <p:spPr>
          <a:xfrm>
            <a:off x="6199632" y="1874520"/>
            <a:ext cx="2377440" cy="457200"/>
          </a:xfrm>
          <a:prstGeom prst="rect">
            <a:avLst/>
          </a:prstGeom>
          <a:noFill/>
          <a:ln/>
        </p:spPr>
        <p:txBody>
          <a:bodyPr wrap="square" lIns="0" tIns="0" rIns="0" bIns="0" rtlCol="0" anchor="t"/>
          <a:lstStyle/>
          <a:p>
            <a:pPr indent="0" marL="0">
              <a:buNone/>
            </a:pPr>
            <a:r>
              <a:rPr lang="en-US" sz="800" dirty="0">
                <a:solidFill>
                  <a:srgbClr val="C9D1D9"/>
                </a:solidFill>
                <a:latin typeface="Arial" pitchFamily="34" charset="0"/>
                <a:ea typeface="Arial" pitchFamily="34" charset="-122"/>
                <a:cs typeface="Arial" pitchFamily="34" charset="-120"/>
              </a:rPr>
              <a:t>frente a un agente con herramientas: permisos en código, reintento por paso y traza por rol.</a:t>
            </a:r>
            <a:endParaRPr lang="en-US" sz="800" dirty="0"/>
          </a:p>
        </p:txBody>
      </p:sp>
      <p:sp>
        <p:nvSpPr>
          <p:cNvPr id="32" name="Text 28"/>
          <p:cNvSpPr txBox="1"/>
          <p:nvPr/>
        </p:nvSpPr>
        <p:spPr>
          <a:xfrm>
            <a:off x="6199632" y="2350008"/>
            <a:ext cx="2377440" cy="201168"/>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Hechos estructurados</a:t>
            </a:r>
            <a:endParaRPr lang="en-US" sz="950" dirty="0"/>
          </a:p>
        </p:txBody>
      </p:sp>
      <p:sp>
        <p:nvSpPr>
          <p:cNvPr id="33" name="Text 29"/>
          <p:cNvSpPr txBox="1"/>
          <p:nvPr/>
        </p:nvSpPr>
        <p:spPr>
          <a:xfrm>
            <a:off x="6199632" y="2560320"/>
            <a:ext cx="2377440" cy="457200"/>
          </a:xfrm>
          <a:prstGeom prst="rect">
            <a:avLst/>
          </a:prstGeom>
          <a:noFill/>
          <a:ln/>
        </p:spPr>
        <p:txBody>
          <a:bodyPr wrap="square" lIns="0" tIns="0" rIns="0" bIns="0" rtlCol="0" anchor="t"/>
          <a:lstStyle/>
          <a:p>
            <a:pPr indent="0" marL="0">
              <a:buNone/>
            </a:pPr>
            <a:r>
              <a:rPr lang="en-US" sz="800" dirty="0">
                <a:solidFill>
                  <a:srgbClr val="C9D1D9"/>
                </a:solidFill>
                <a:latin typeface="Arial" pitchFamily="34" charset="0"/>
                <a:ea typeface="Arial" pitchFamily="34" charset="-122"/>
                <a:cs typeface="Arial" pitchFamily="34" charset="-120"/>
              </a:rPr>
              <a:t>frente a RAG sobre la prosa: hechos exactos, saber dónde se usa cada uno y entrada directa a Lean.</a:t>
            </a:r>
            <a:endParaRPr lang="en-US" sz="800" dirty="0"/>
          </a:p>
        </p:txBody>
      </p:sp>
      <p:sp>
        <p:nvSpPr>
          <p:cNvPr id="34" name="Text 30"/>
          <p:cNvSpPr txBox="1"/>
          <p:nvPr/>
        </p:nvSpPr>
        <p:spPr>
          <a:xfrm>
            <a:off x="6199632" y="3035808"/>
            <a:ext cx="2377440" cy="201168"/>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Calendario en Python</a:t>
            </a:r>
            <a:endParaRPr lang="en-US" sz="950" dirty="0"/>
          </a:p>
        </p:txBody>
      </p:sp>
      <p:sp>
        <p:nvSpPr>
          <p:cNvPr id="35" name="Text 31"/>
          <p:cNvSpPr txBox="1"/>
          <p:nvPr/>
        </p:nvSpPr>
        <p:spPr>
          <a:xfrm>
            <a:off x="6199632" y="3246120"/>
            <a:ext cx="2377440" cy="457200"/>
          </a:xfrm>
          <a:prstGeom prst="rect">
            <a:avLst/>
          </a:prstGeom>
          <a:noFill/>
          <a:ln/>
        </p:spPr>
        <p:txBody>
          <a:bodyPr wrap="square" lIns="0" tIns="0" rIns="0" bIns="0" rtlCol="0" anchor="t"/>
          <a:lstStyle/>
          <a:p>
            <a:pPr indent="0" marL="0">
              <a:buNone/>
            </a:pPr>
            <a:r>
              <a:rPr lang="en-US" sz="800" dirty="0">
                <a:solidFill>
                  <a:srgbClr val="C9D1D9"/>
                </a:solidFill>
                <a:latin typeface="Arial" pitchFamily="34" charset="0"/>
                <a:ea typeface="Arial" pitchFamily="34" charset="-122"/>
                <a:cs typeface="Arial" pitchFamily="34" charset="-120"/>
              </a:rPr>
              <a:t>frente a confiar en el LLM: los días de la semana no convergían entre reparaciones.</a:t>
            </a:r>
            <a:endParaRPr lang="en-US" sz="800" dirty="0"/>
          </a:p>
        </p:txBody>
      </p:sp>
      <p:sp>
        <p:nvSpPr>
          <p:cNvPr id="36" name="Text 32"/>
          <p:cNvSpPr txBox="1"/>
          <p:nvPr/>
        </p:nvSpPr>
        <p:spPr>
          <a:xfrm>
            <a:off x="6199632" y="3721608"/>
            <a:ext cx="2377440" cy="201168"/>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Haiku 4.5 en todo</a:t>
            </a:r>
            <a:endParaRPr lang="en-US" sz="950" dirty="0"/>
          </a:p>
        </p:txBody>
      </p:sp>
      <p:sp>
        <p:nvSpPr>
          <p:cNvPr id="37" name="Text 33"/>
          <p:cNvSpPr txBox="1"/>
          <p:nvPr/>
        </p:nvSpPr>
        <p:spPr>
          <a:xfrm>
            <a:off x="6199632" y="3931920"/>
            <a:ext cx="2377440" cy="457200"/>
          </a:xfrm>
          <a:prstGeom prst="rect">
            <a:avLst/>
          </a:prstGeom>
          <a:noFill/>
          <a:ln/>
        </p:spPr>
        <p:txBody>
          <a:bodyPr wrap="square" lIns="0" tIns="0" rIns="0" bIns="0" rtlCol="0" anchor="t"/>
          <a:lstStyle/>
          <a:p>
            <a:pPr indent="0" marL="0">
              <a:buNone/>
            </a:pPr>
            <a:r>
              <a:rPr lang="en-US" sz="800" dirty="0">
                <a:solidFill>
                  <a:srgbClr val="C9D1D9"/>
                </a:solidFill>
                <a:latin typeface="Arial" pitchFamily="34" charset="0"/>
                <a:ea typeface="Arial" pitchFamily="34" charset="-122"/>
                <a:cs typeface="Arial" pitchFamily="34" charset="-120"/>
              </a:rPr>
              <a:t>coste y latencia de 10 capítulos; la calidad la vigila el juez bloqueante.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VALIDACIÓN · 1/4</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Cuatro tipos de validador, en cuatro puntos</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6</a:t>
            </a:r>
            <a:endParaRPr lang="en-US" sz="750" dirty="0"/>
          </a:p>
        </p:txBody>
      </p:sp>
      <p:sp>
        <p:nvSpPr>
          <p:cNvPr id="8" name="Shape 4"/>
          <p:cNvSpPr/>
          <p:nvPr/>
        </p:nvSpPr>
        <p:spPr>
          <a:xfrm>
            <a:off x="2240280" y="1170432"/>
            <a:ext cx="1517904" cy="420624"/>
          </a:xfrm>
          <a:prstGeom prst="roundRect">
            <a:avLst>
              <a:gd name="adj" fmla="val 26087"/>
            </a:avLst>
          </a:prstGeom>
          <a:solidFill>
            <a:srgbClr val="1E2B37"/>
          </a:solidFill>
          <a:ln/>
        </p:spPr>
      </p:sp>
      <p:sp>
        <p:nvSpPr>
          <p:cNvPr id="9" name="Text 5"/>
          <p:cNvSpPr txBox="1"/>
          <p:nvPr/>
        </p:nvSpPr>
        <p:spPr>
          <a:xfrm>
            <a:off x="2286000" y="1170432"/>
            <a:ext cx="1426464" cy="420624"/>
          </a:xfrm>
          <a:prstGeom prst="rect">
            <a:avLst/>
          </a:prstGeom>
          <a:noFill/>
          <a:ln/>
        </p:spPr>
        <p:txBody>
          <a:bodyPr wrap="square" lIns="0" tIns="0" rIns="0" bIns="0" rtlCol="0" anchor="ctr"/>
          <a:lstStyle/>
          <a:p>
            <a:pPr algn="ctr" indent="0" marL="0">
              <a:buNone/>
            </a:pPr>
            <a:endParaRPr lang="en-US" sz="800" dirty="0"/>
          </a:p>
        </p:txBody>
      </p:sp>
      <p:sp>
        <p:nvSpPr>
          <p:cNvPr id="10" name="Text 6"/>
          <p:cNvSpPr txBox="1"/>
          <p:nvPr/>
        </p:nvSpPr>
        <p:spPr>
          <a:xfrm>
            <a:off x="2240280" y="1188720"/>
            <a:ext cx="1517904" cy="219456"/>
          </a:xfrm>
          <a:prstGeom prst="rect">
            <a:avLst/>
          </a:prstGeom>
          <a:noFill/>
          <a:ln/>
        </p:spPr>
        <p:txBody>
          <a:bodyPr wrap="square" lIns="0" tIns="0" rIns="0" bIns="0" rtlCol="0" anchor="t"/>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hook</a:t>
            </a:r>
            <a:endParaRPr lang="en-US" sz="950" dirty="0"/>
          </a:p>
        </p:txBody>
      </p:sp>
      <p:sp>
        <p:nvSpPr>
          <p:cNvPr id="11" name="Text 7"/>
          <p:cNvSpPr txBox="1"/>
          <p:nvPr/>
        </p:nvSpPr>
        <p:spPr>
          <a:xfrm>
            <a:off x="2240280" y="1389888"/>
            <a:ext cx="1517904" cy="182880"/>
          </a:xfrm>
          <a:prstGeom prst="rect">
            <a:avLst/>
          </a:prstGeom>
          <a:noFill/>
          <a:ln/>
        </p:spPr>
        <p:txBody>
          <a:bodyPr wrap="square" lIns="0" tIns="0" rIns="0" bIns="0" rtlCol="0" anchor="t"/>
          <a:lstStyle/>
          <a:p>
            <a:pPr algn="ctr" indent="0" marL="0">
              <a:buNone/>
            </a:pPr>
            <a:r>
              <a:rPr lang="en-US" sz="750" dirty="0">
                <a:solidFill>
                  <a:srgbClr val="C9D1D9"/>
                </a:solidFill>
                <a:latin typeface="Arial" pitchFamily="34" charset="0"/>
                <a:ea typeface="Arial" pitchFamily="34" charset="-122"/>
                <a:cs typeface="Arial" pitchFamily="34" charset="-120"/>
              </a:rPr>
              <a:t>al entregar el brief</a:t>
            </a:r>
            <a:endParaRPr lang="en-US" sz="750" dirty="0"/>
          </a:p>
        </p:txBody>
      </p:sp>
      <p:sp>
        <p:nvSpPr>
          <p:cNvPr id="12" name="Shape 8"/>
          <p:cNvSpPr/>
          <p:nvPr/>
        </p:nvSpPr>
        <p:spPr>
          <a:xfrm>
            <a:off x="3767328" y="1380744"/>
            <a:ext cx="91440" cy="914"/>
          </a:xfrm>
          <a:prstGeom prst="line">
            <a:avLst/>
          </a:prstGeom>
          <a:noFill/>
          <a:ln w="15875">
            <a:solidFill>
              <a:srgbClr val="FF7A2F"/>
            </a:solidFill>
            <a:prstDash val="solid"/>
            <a:tailEnd type="triangle"/>
          </a:ln>
        </p:spPr>
      </p:sp>
      <p:sp>
        <p:nvSpPr>
          <p:cNvPr id="13" name="Shape 9"/>
          <p:cNvSpPr/>
          <p:nvPr/>
        </p:nvSpPr>
        <p:spPr>
          <a:xfrm>
            <a:off x="3867912" y="1170432"/>
            <a:ext cx="1517904" cy="420624"/>
          </a:xfrm>
          <a:prstGeom prst="roundRect">
            <a:avLst>
              <a:gd name="adj" fmla="val 26087"/>
            </a:avLst>
          </a:prstGeom>
          <a:solidFill>
            <a:srgbClr val="1E2B37"/>
          </a:solidFill>
          <a:ln/>
        </p:spPr>
      </p:sp>
      <p:sp>
        <p:nvSpPr>
          <p:cNvPr id="14" name="Text 10"/>
          <p:cNvSpPr txBox="1"/>
          <p:nvPr/>
        </p:nvSpPr>
        <p:spPr>
          <a:xfrm>
            <a:off x="3913632" y="1170432"/>
            <a:ext cx="1426464" cy="420624"/>
          </a:xfrm>
          <a:prstGeom prst="rect">
            <a:avLst/>
          </a:prstGeom>
          <a:noFill/>
          <a:ln/>
        </p:spPr>
        <p:txBody>
          <a:bodyPr wrap="square" lIns="0" tIns="0" rIns="0" bIns="0" rtlCol="0" anchor="ctr"/>
          <a:lstStyle/>
          <a:p>
            <a:pPr algn="ctr" indent="0" marL="0">
              <a:buNone/>
            </a:pPr>
            <a:endParaRPr lang="en-US" sz="800" dirty="0"/>
          </a:p>
        </p:txBody>
      </p:sp>
      <p:sp>
        <p:nvSpPr>
          <p:cNvPr id="15" name="Text 11"/>
          <p:cNvSpPr txBox="1"/>
          <p:nvPr/>
        </p:nvSpPr>
        <p:spPr>
          <a:xfrm>
            <a:off x="3867912" y="1188720"/>
            <a:ext cx="1517904" cy="219456"/>
          </a:xfrm>
          <a:prstGeom prst="rect">
            <a:avLst/>
          </a:prstGeom>
          <a:noFill/>
          <a:ln/>
        </p:spPr>
        <p:txBody>
          <a:bodyPr wrap="square" lIns="0" tIns="0" rIns="0" bIns="0" rtlCol="0" anchor="t"/>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scene_accept</a:t>
            </a:r>
            <a:endParaRPr lang="en-US" sz="950" dirty="0"/>
          </a:p>
        </p:txBody>
      </p:sp>
      <p:sp>
        <p:nvSpPr>
          <p:cNvPr id="16" name="Text 12"/>
          <p:cNvSpPr txBox="1"/>
          <p:nvPr/>
        </p:nvSpPr>
        <p:spPr>
          <a:xfrm>
            <a:off x="3867912" y="1389888"/>
            <a:ext cx="1517904" cy="182880"/>
          </a:xfrm>
          <a:prstGeom prst="rect">
            <a:avLst/>
          </a:prstGeom>
          <a:noFill/>
          <a:ln/>
        </p:spPr>
        <p:txBody>
          <a:bodyPr wrap="square" lIns="0" tIns="0" rIns="0" bIns="0" rtlCol="0" anchor="t"/>
          <a:lstStyle/>
          <a:p>
            <a:pPr algn="ctr" indent="0" marL="0">
              <a:buNone/>
            </a:pPr>
            <a:r>
              <a:rPr lang="en-US" sz="750" dirty="0">
                <a:solidFill>
                  <a:srgbClr val="C9D1D9"/>
                </a:solidFill>
                <a:latin typeface="Arial" pitchFamily="34" charset="0"/>
                <a:ea typeface="Arial" pitchFamily="34" charset="-122"/>
                <a:cs typeface="Arial" pitchFamily="34" charset="-120"/>
              </a:rPr>
              <a:t>cada escena</a:t>
            </a:r>
            <a:endParaRPr lang="en-US" sz="750" dirty="0"/>
          </a:p>
        </p:txBody>
      </p:sp>
      <p:sp>
        <p:nvSpPr>
          <p:cNvPr id="17" name="Shape 13"/>
          <p:cNvSpPr/>
          <p:nvPr/>
        </p:nvSpPr>
        <p:spPr>
          <a:xfrm>
            <a:off x="5394960" y="1380744"/>
            <a:ext cx="91440" cy="914"/>
          </a:xfrm>
          <a:prstGeom prst="line">
            <a:avLst/>
          </a:prstGeom>
          <a:noFill/>
          <a:ln w="15875">
            <a:solidFill>
              <a:srgbClr val="FF7A2F"/>
            </a:solidFill>
            <a:prstDash val="solid"/>
            <a:tailEnd type="triangle"/>
          </a:ln>
        </p:spPr>
      </p:sp>
      <p:sp>
        <p:nvSpPr>
          <p:cNvPr id="18" name="Shape 14"/>
          <p:cNvSpPr/>
          <p:nvPr/>
        </p:nvSpPr>
        <p:spPr>
          <a:xfrm>
            <a:off x="5495544" y="1170432"/>
            <a:ext cx="1517904" cy="420624"/>
          </a:xfrm>
          <a:prstGeom prst="roundRect">
            <a:avLst>
              <a:gd name="adj" fmla="val 26087"/>
            </a:avLst>
          </a:prstGeom>
          <a:solidFill>
            <a:srgbClr val="1E2B37"/>
          </a:solidFill>
          <a:ln/>
        </p:spPr>
      </p:sp>
      <p:sp>
        <p:nvSpPr>
          <p:cNvPr id="19" name="Text 15"/>
          <p:cNvSpPr txBox="1"/>
          <p:nvPr/>
        </p:nvSpPr>
        <p:spPr>
          <a:xfrm>
            <a:off x="5541264" y="1170432"/>
            <a:ext cx="1426464" cy="420624"/>
          </a:xfrm>
          <a:prstGeom prst="rect">
            <a:avLst/>
          </a:prstGeom>
          <a:noFill/>
          <a:ln/>
        </p:spPr>
        <p:txBody>
          <a:bodyPr wrap="square" lIns="0" tIns="0" rIns="0" bIns="0" rtlCol="0" anchor="ctr"/>
          <a:lstStyle/>
          <a:p>
            <a:pPr algn="ctr" indent="0" marL="0">
              <a:buNone/>
            </a:pPr>
            <a:endParaRPr lang="en-US" sz="800" dirty="0"/>
          </a:p>
        </p:txBody>
      </p:sp>
      <p:sp>
        <p:nvSpPr>
          <p:cNvPr id="20" name="Text 16"/>
          <p:cNvSpPr txBox="1"/>
          <p:nvPr/>
        </p:nvSpPr>
        <p:spPr>
          <a:xfrm>
            <a:off x="5495544" y="1188720"/>
            <a:ext cx="1517904" cy="219456"/>
          </a:xfrm>
          <a:prstGeom prst="rect">
            <a:avLst/>
          </a:prstGeom>
          <a:noFill/>
          <a:ln/>
        </p:spPr>
        <p:txBody>
          <a:bodyPr wrap="square" lIns="0" tIns="0" rIns="0" bIns="0" rtlCol="0" anchor="t"/>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chapter_close</a:t>
            </a:r>
            <a:endParaRPr lang="en-US" sz="950" dirty="0"/>
          </a:p>
        </p:txBody>
      </p:sp>
      <p:sp>
        <p:nvSpPr>
          <p:cNvPr id="21" name="Text 17"/>
          <p:cNvSpPr txBox="1"/>
          <p:nvPr/>
        </p:nvSpPr>
        <p:spPr>
          <a:xfrm>
            <a:off x="5495544" y="1389888"/>
            <a:ext cx="1517904" cy="182880"/>
          </a:xfrm>
          <a:prstGeom prst="rect">
            <a:avLst/>
          </a:prstGeom>
          <a:noFill/>
          <a:ln/>
        </p:spPr>
        <p:txBody>
          <a:bodyPr wrap="square" lIns="0" tIns="0" rIns="0" bIns="0" rtlCol="0" anchor="t"/>
          <a:lstStyle/>
          <a:p>
            <a:pPr algn="ctr" indent="0" marL="0">
              <a:buNone/>
            </a:pPr>
            <a:r>
              <a:rPr lang="en-US" sz="750" dirty="0">
                <a:solidFill>
                  <a:srgbClr val="C9D1D9"/>
                </a:solidFill>
                <a:latin typeface="Arial" pitchFamily="34" charset="0"/>
                <a:ea typeface="Arial" pitchFamily="34" charset="-122"/>
                <a:cs typeface="Arial" pitchFamily="34" charset="-120"/>
              </a:rPr>
              <a:t>cada capítulo</a:t>
            </a:r>
            <a:endParaRPr lang="en-US" sz="750" dirty="0"/>
          </a:p>
        </p:txBody>
      </p:sp>
      <p:sp>
        <p:nvSpPr>
          <p:cNvPr id="22" name="Shape 18"/>
          <p:cNvSpPr/>
          <p:nvPr/>
        </p:nvSpPr>
        <p:spPr>
          <a:xfrm>
            <a:off x="7022592" y="1380744"/>
            <a:ext cx="91440" cy="914"/>
          </a:xfrm>
          <a:prstGeom prst="line">
            <a:avLst/>
          </a:prstGeom>
          <a:noFill/>
          <a:ln w="15875">
            <a:solidFill>
              <a:srgbClr val="FF7A2F"/>
            </a:solidFill>
            <a:prstDash val="solid"/>
            <a:tailEnd type="triangle"/>
          </a:ln>
        </p:spPr>
      </p:sp>
      <p:sp>
        <p:nvSpPr>
          <p:cNvPr id="23" name="Shape 19"/>
          <p:cNvSpPr/>
          <p:nvPr/>
        </p:nvSpPr>
        <p:spPr>
          <a:xfrm>
            <a:off x="7123176" y="1170432"/>
            <a:ext cx="1517904" cy="420624"/>
          </a:xfrm>
          <a:prstGeom prst="roundRect">
            <a:avLst>
              <a:gd name="adj" fmla="val 26087"/>
            </a:avLst>
          </a:prstGeom>
          <a:solidFill>
            <a:srgbClr val="1E2B37"/>
          </a:solidFill>
          <a:ln/>
        </p:spPr>
      </p:sp>
      <p:sp>
        <p:nvSpPr>
          <p:cNvPr id="24" name="Text 20"/>
          <p:cNvSpPr txBox="1"/>
          <p:nvPr/>
        </p:nvSpPr>
        <p:spPr>
          <a:xfrm>
            <a:off x="7168896" y="1170432"/>
            <a:ext cx="1426464" cy="420624"/>
          </a:xfrm>
          <a:prstGeom prst="rect">
            <a:avLst/>
          </a:prstGeom>
          <a:noFill/>
          <a:ln/>
        </p:spPr>
        <p:txBody>
          <a:bodyPr wrap="square" lIns="0" tIns="0" rIns="0" bIns="0" rtlCol="0" anchor="ctr"/>
          <a:lstStyle/>
          <a:p>
            <a:pPr algn="ctr" indent="0" marL="0">
              <a:buNone/>
            </a:pPr>
            <a:endParaRPr lang="en-US" sz="800" dirty="0"/>
          </a:p>
        </p:txBody>
      </p:sp>
      <p:sp>
        <p:nvSpPr>
          <p:cNvPr id="25" name="Text 21"/>
          <p:cNvSpPr txBox="1"/>
          <p:nvPr/>
        </p:nvSpPr>
        <p:spPr>
          <a:xfrm>
            <a:off x="7123176" y="1188720"/>
            <a:ext cx="1517904" cy="219456"/>
          </a:xfrm>
          <a:prstGeom prst="rect">
            <a:avLst/>
          </a:prstGeom>
          <a:noFill/>
          <a:ln/>
        </p:spPr>
        <p:txBody>
          <a:bodyPr wrap="square" lIns="0" tIns="0" rIns="0" bIns="0" rtlCol="0" anchor="t"/>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pre_publish</a:t>
            </a:r>
            <a:endParaRPr lang="en-US" sz="950" dirty="0"/>
          </a:p>
        </p:txBody>
      </p:sp>
      <p:sp>
        <p:nvSpPr>
          <p:cNvPr id="26" name="Text 22"/>
          <p:cNvSpPr txBox="1"/>
          <p:nvPr/>
        </p:nvSpPr>
        <p:spPr>
          <a:xfrm>
            <a:off x="7123176" y="1389888"/>
            <a:ext cx="1517904" cy="182880"/>
          </a:xfrm>
          <a:prstGeom prst="rect">
            <a:avLst/>
          </a:prstGeom>
          <a:noFill/>
          <a:ln/>
        </p:spPr>
        <p:txBody>
          <a:bodyPr wrap="square" lIns="0" tIns="0" rIns="0" bIns="0" rtlCol="0" anchor="t"/>
          <a:lstStyle/>
          <a:p>
            <a:pPr algn="ctr" indent="0" marL="0">
              <a:buNone/>
            </a:pPr>
            <a:r>
              <a:rPr lang="en-US" sz="750" dirty="0">
                <a:solidFill>
                  <a:srgbClr val="C9D1D9"/>
                </a:solidFill>
                <a:latin typeface="Arial" pitchFamily="34" charset="0"/>
                <a:ea typeface="Arial" pitchFamily="34" charset="-122"/>
                <a:cs typeface="Arial" pitchFamily="34" charset="-120"/>
              </a:rPr>
              <a:t>antes de publicar</a:t>
            </a:r>
            <a:endParaRPr lang="en-US" sz="750" dirty="0"/>
          </a:p>
        </p:txBody>
      </p:sp>
      <p:sp>
        <p:nvSpPr>
          <p:cNvPr id="27" name="Shape 23"/>
          <p:cNvSpPr/>
          <p:nvPr/>
        </p:nvSpPr>
        <p:spPr>
          <a:xfrm>
            <a:off x="457200" y="1719072"/>
            <a:ext cx="1645920" cy="512064"/>
          </a:xfrm>
          <a:prstGeom prst="roundRect">
            <a:avLst>
              <a:gd name="adj" fmla="val 14286"/>
            </a:avLst>
          </a:prstGeom>
          <a:solidFill>
            <a:srgbClr val="FFF5EE"/>
          </a:solidFill>
          <a:ln/>
        </p:spPr>
      </p:sp>
      <p:sp>
        <p:nvSpPr>
          <p:cNvPr id="28" name="Text 24"/>
          <p:cNvSpPr txBox="1"/>
          <p:nvPr/>
        </p:nvSpPr>
        <p:spPr>
          <a:xfrm>
            <a:off x="566928" y="1719072"/>
            <a:ext cx="1463040" cy="512064"/>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Programático</a:t>
            </a:r>
            <a:endParaRPr lang="en-US" sz="1100" dirty="0"/>
          </a:p>
        </p:txBody>
      </p:sp>
      <p:sp>
        <p:nvSpPr>
          <p:cNvPr id="29" name="Shape 25"/>
          <p:cNvSpPr/>
          <p:nvPr/>
        </p:nvSpPr>
        <p:spPr>
          <a:xfrm>
            <a:off x="2240280" y="1719072"/>
            <a:ext cx="1517904" cy="512064"/>
          </a:xfrm>
          <a:prstGeom prst="roundRect">
            <a:avLst>
              <a:gd name="adj" fmla="val 14286"/>
            </a:avLst>
          </a:prstGeom>
          <a:solidFill>
            <a:srgbClr val="FFFFFF"/>
          </a:solidFill>
          <a:ln w="9525">
            <a:solidFill>
              <a:srgbClr val="E6E9EC"/>
            </a:solidFill>
            <a:prstDash val="solid"/>
          </a:ln>
        </p:spPr>
      </p:sp>
      <p:sp>
        <p:nvSpPr>
          <p:cNvPr id="30" name="Text 26"/>
          <p:cNvSpPr txBox="1"/>
          <p:nvPr/>
        </p:nvSpPr>
        <p:spPr>
          <a:xfrm>
            <a:off x="2295144" y="1719072"/>
            <a:ext cx="1408176" cy="512064"/>
          </a:xfrm>
          <a:prstGeom prst="rect">
            <a:avLst/>
          </a:prstGeom>
          <a:noFill/>
          <a:ln/>
        </p:spPr>
        <p:txBody>
          <a:bodyPr wrap="square" lIns="0" tIns="0" rIns="0" bIns="0" rtlCol="0" anchor="ctr"/>
          <a:lstStyle/>
          <a:p>
            <a:pPr algn="ctr" indent="0" marL="0">
              <a:buNone/>
            </a:pPr>
            <a:r>
              <a:rPr lang="en-US" sz="700" dirty="0">
                <a:solidFill>
                  <a:srgbClr val="1E2B37"/>
                </a:solidFill>
                <a:latin typeface="Courier New" pitchFamily="34" charset="0"/>
                <a:ea typeface="Courier New" pitchFamily="34" charset="-122"/>
                <a:cs typeface="Courier New" pitchFamily="34" charset="-120"/>
              </a:rPr>
              <a:t>brief_schema</a:t>
            </a:r>
            <a:endParaRPr lang="en-US" sz="700" dirty="0"/>
          </a:p>
        </p:txBody>
      </p:sp>
      <p:sp>
        <p:nvSpPr>
          <p:cNvPr id="31" name="Shape 27"/>
          <p:cNvSpPr/>
          <p:nvPr/>
        </p:nvSpPr>
        <p:spPr>
          <a:xfrm>
            <a:off x="3867912" y="1719072"/>
            <a:ext cx="1517904" cy="512064"/>
          </a:xfrm>
          <a:prstGeom prst="roundRect">
            <a:avLst>
              <a:gd name="adj" fmla="val 14286"/>
            </a:avLst>
          </a:prstGeom>
          <a:solidFill>
            <a:srgbClr val="FFFFFF"/>
          </a:solidFill>
          <a:ln w="9525">
            <a:solidFill>
              <a:srgbClr val="E6E9EC"/>
            </a:solidFill>
            <a:prstDash val="solid"/>
          </a:ln>
        </p:spPr>
      </p:sp>
      <p:sp>
        <p:nvSpPr>
          <p:cNvPr id="32" name="Text 28"/>
          <p:cNvSpPr txBox="1"/>
          <p:nvPr/>
        </p:nvSpPr>
        <p:spPr>
          <a:xfrm>
            <a:off x="3922776" y="1719072"/>
            <a:ext cx="1408176" cy="512064"/>
          </a:xfrm>
          <a:prstGeom prst="rect">
            <a:avLst/>
          </a:prstGeom>
          <a:noFill/>
          <a:ln/>
        </p:spPr>
        <p:txBody>
          <a:bodyPr wrap="square" lIns="0" tIns="0" rIns="0" bIns="0" rtlCol="0" anchor="ctr"/>
          <a:lstStyle/>
          <a:p>
            <a:pPr algn="ctr" indent="0" marL="0">
              <a:buNone/>
            </a:pPr>
            <a:r>
              <a:rPr lang="en-US" sz="700" dirty="0">
                <a:solidFill>
                  <a:srgbClr val="1E2B37"/>
                </a:solidFill>
                <a:latin typeface="Courier New" pitchFamily="34" charset="0"/>
                <a:ea typeface="Courier New" pitchFamily="34" charset="-122"/>
                <a:cs typeface="Courier New" pitchFamily="34" charset="-120"/>
              </a:rPr>
              <a:t>schema_role_output · no_placeholders</a:t>
            </a:r>
            <a:endParaRPr lang="en-US" sz="700" dirty="0"/>
          </a:p>
        </p:txBody>
      </p:sp>
      <p:sp>
        <p:nvSpPr>
          <p:cNvPr id="33" name="Shape 29"/>
          <p:cNvSpPr/>
          <p:nvPr/>
        </p:nvSpPr>
        <p:spPr>
          <a:xfrm>
            <a:off x="5495544" y="1719072"/>
            <a:ext cx="1517904" cy="512064"/>
          </a:xfrm>
          <a:prstGeom prst="roundRect">
            <a:avLst>
              <a:gd name="adj" fmla="val 14286"/>
            </a:avLst>
          </a:prstGeom>
          <a:solidFill>
            <a:srgbClr val="FFFFFF"/>
          </a:solidFill>
          <a:ln w="9525">
            <a:solidFill>
              <a:srgbClr val="E6E9EC"/>
            </a:solidFill>
            <a:prstDash val="solid"/>
          </a:ln>
        </p:spPr>
      </p:sp>
      <p:sp>
        <p:nvSpPr>
          <p:cNvPr id="34" name="Text 30"/>
          <p:cNvSpPr txBox="1"/>
          <p:nvPr/>
        </p:nvSpPr>
        <p:spPr>
          <a:xfrm>
            <a:off x="5550408" y="1719072"/>
            <a:ext cx="1408176" cy="512064"/>
          </a:xfrm>
          <a:prstGeom prst="rect">
            <a:avLst/>
          </a:prstGeom>
          <a:noFill/>
          <a:ln/>
        </p:spPr>
        <p:txBody>
          <a:bodyPr wrap="square" lIns="0" tIns="0" rIns="0" bIns="0" rtlCol="0" anchor="ctr"/>
          <a:lstStyle/>
          <a:p>
            <a:pPr algn="ctr" indent="0" marL="0">
              <a:buNone/>
            </a:pPr>
            <a:r>
              <a:rPr lang="en-US" sz="700" dirty="0">
                <a:solidFill>
                  <a:srgbClr val="1E2B37"/>
                </a:solidFill>
                <a:latin typeface="Courier New" pitchFamily="34" charset="0"/>
                <a:ea typeface="Courier New" pitchFamily="34" charset="-122"/>
                <a:cs typeface="Courier New" pitchFamily="34" charset="-120"/>
              </a:rPr>
              <a:t>chapter_length · exact_names · calendar_consistency · prose_repetition</a:t>
            </a:r>
            <a:endParaRPr lang="en-US" sz="700" dirty="0"/>
          </a:p>
        </p:txBody>
      </p:sp>
      <p:sp>
        <p:nvSpPr>
          <p:cNvPr id="35" name="Shape 31"/>
          <p:cNvSpPr/>
          <p:nvPr/>
        </p:nvSpPr>
        <p:spPr>
          <a:xfrm>
            <a:off x="7123176" y="1719072"/>
            <a:ext cx="1517904" cy="512064"/>
          </a:xfrm>
          <a:prstGeom prst="roundRect">
            <a:avLst>
              <a:gd name="adj" fmla="val 14286"/>
            </a:avLst>
          </a:prstGeom>
          <a:solidFill>
            <a:srgbClr val="FFFFFF"/>
          </a:solidFill>
          <a:ln w="9525">
            <a:solidFill>
              <a:srgbClr val="E6E9EC"/>
            </a:solidFill>
            <a:prstDash val="solid"/>
          </a:ln>
        </p:spPr>
      </p:sp>
      <p:sp>
        <p:nvSpPr>
          <p:cNvPr id="36" name="Text 32"/>
          <p:cNvSpPr txBox="1"/>
          <p:nvPr/>
        </p:nvSpPr>
        <p:spPr>
          <a:xfrm>
            <a:off x="7178040" y="1719072"/>
            <a:ext cx="1408176" cy="512064"/>
          </a:xfrm>
          <a:prstGeom prst="rect">
            <a:avLst/>
          </a:prstGeom>
          <a:noFill/>
          <a:ln/>
        </p:spPr>
        <p:txBody>
          <a:bodyPr wrap="square" lIns="0" tIns="0" rIns="0" bIns="0" rtlCol="0" anchor="ctr"/>
          <a:lstStyle/>
          <a:p>
            <a:pPr algn="ctr" indent="0" marL="0">
              <a:buNone/>
            </a:pPr>
            <a:r>
              <a:rPr lang="en-US" sz="700" dirty="0">
                <a:solidFill>
                  <a:srgbClr val="1E2B37"/>
                </a:solidFill>
                <a:latin typeface="Courier New" pitchFamily="34" charset="0"/>
                <a:ea typeface="Courier New" pitchFamily="34" charset="-122"/>
                <a:cs typeface="Courier New" pitchFamily="34" charset="-120"/>
              </a:rPr>
              <a:t>brief_coverage · visual_check</a:t>
            </a:r>
            <a:endParaRPr lang="en-US" sz="700" dirty="0"/>
          </a:p>
        </p:txBody>
      </p:sp>
      <p:sp>
        <p:nvSpPr>
          <p:cNvPr id="37" name="Shape 33"/>
          <p:cNvSpPr/>
          <p:nvPr/>
        </p:nvSpPr>
        <p:spPr>
          <a:xfrm>
            <a:off x="457200" y="2322576"/>
            <a:ext cx="1645920" cy="512064"/>
          </a:xfrm>
          <a:prstGeom prst="roundRect">
            <a:avLst>
              <a:gd name="adj" fmla="val 14286"/>
            </a:avLst>
          </a:prstGeom>
          <a:solidFill>
            <a:srgbClr val="F7F8FA"/>
          </a:solidFill>
          <a:ln/>
        </p:spPr>
      </p:sp>
      <p:sp>
        <p:nvSpPr>
          <p:cNvPr id="38" name="Text 34"/>
          <p:cNvSpPr txBox="1"/>
          <p:nvPr/>
        </p:nvSpPr>
        <p:spPr>
          <a:xfrm>
            <a:off x="566928" y="2322576"/>
            <a:ext cx="1463040" cy="512064"/>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Guardrail</a:t>
            </a:r>
            <a:endParaRPr lang="en-US" sz="1100" dirty="0"/>
          </a:p>
        </p:txBody>
      </p:sp>
      <p:sp>
        <p:nvSpPr>
          <p:cNvPr id="39" name="Shape 35"/>
          <p:cNvSpPr/>
          <p:nvPr/>
        </p:nvSpPr>
        <p:spPr>
          <a:xfrm>
            <a:off x="2240280" y="2322576"/>
            <a:ext cx="1517904" cy="512064"/>
          </a:xfrm>
          <a:prstGeom prst="roundRect">
            <a:avLst>
              <a:gd name="adj" fmla="val 14286"/>
            </a:avLst>
          </a:prstGeom>
          <a:solidFill>
            <a:srgbClr val="FFFFFF"/>
          </a:solidFill>
          <a:ln w="9525">
            <a:solidFill>
              <a:srgbClr val="E6E9EC"/>
            </a:solidFill>
            <a:prstDash val="solid"/>
          </a:ln>
        </p:spPr>
      </p:sp>
      <p:sp>
        <p:nvSpPr>
          <p:cNvPr id="40" name="Text 36"/>
          <p:cNvSpPr txBox="1"/>
          <p:nvPr/>
        </p:nvSpPr>
        <p:spPr>
          <a:xfrm>
            <a:off x="2295144" y="2322576"/>
            <a:ext cx="1408176" cy="512064"/>
          </a:xfrm>
          <a:prstGeom prst="rect">
            <a:avLst/>
          </a:prstGeom>
          <a:noFill/>
          <a:ln/>
        </p:spPr>
        <p:txBody>
          <a:bodyPr wrap="square" lIns="0" tIns="0" rIns="0" bIns="0" rtlCol="0" anchor="ctr"/>
          <a:lstStyle/>
          <a:p>
            <a:pPr algn="ctr" indent="0" marL="0">
              <a:buNone/>
            </a:pPr>
            <a:r>
              <a:rPr lang="en-US" sz="700" dirty="0">
                <a:solidFill>
                  <a:srgbClr val="1E2B37"/>
                </a:solidFill>
                <a:latin typeface="Courier New" pitchFamily="34" charset="0"/>
                <a:ea typeface="Courier New" pitchFamily="34" charset="-122"/>
                <a:cs typeface="Courier New" pitchFamily="34" charset="-120"/>
              </a:rPr>
              <a:t>free_text_injection (prescan)</a:t>
            </a:r>
            <a:endParaRPr lang="en-US" sz="700" dirty="0"/>
          </a:p>
        </p:txBody>
      </p:sp>
      <p:sp>
        <p:nvSpPr>
          <p:cNvPr id="41" name="Shape 37"/>
          <p:cNvSpPr/>
          <p:nvPr/>
        </p:nvSpPr>
        <p:spPr>
          <a:xfrm>
            <a:off x="3867912" y="2322576"/>
            <a:ext cx="1517904" cy="512064"/>
          </a:xfrm>
          <a:prstGeom prst="roundRect">
            <a:avLst>
              <a:gd name="adj" fmla="val 14286"/>
            </a:avLst>
          </a:prstGeom>
          <a:solidFill>
            <a:srgbClr val="FFFFFF"/>
          </a:solidFill>
          <a:ln w="9525">
            <a:solidFill>
              <a:srgbClr val="E6E9EC"/>
            </a:solidFill>
            <a:prstDash val="solid"/>
          </a:ln>
        </p:spPr>
      </p:sp>
      <p:sp>
        <p:nvSpPr>
          <p:cNvPr id="42" name="Text 38"/>
          <p:cNvSpPr txBox="1"/>
          <p:nvPr/>
        </p:nvSpPr>
        <p:spPr>
          <a:xfrm>
            <a:off x="3922776" y="2322576"/>
            <a:ext cx="1408176" cy="512064"/>
          </a:xfrm>
          <a:prstGeom prst="rect">
            <a:avLst/>
          </a:prstGeom>
          <a:noFill/>
          <a:ln/>
        </p:spPr>
        <p:txBody>
          <a:bodyPr wrap="square" lIns="0" tIns="0" rIns="0" bIns="0" rtlCol="0" anchor="ctr"/>
          <a:lstStyle/>
          <a:p>
            <a:pPr algn="ctr" indent="0" marL="0">
              <a:buNone/>
            </a:pPr>
            <a:r>
              <a:rPr lang="en-US" sz="700" dirty="0">
                <a:solidFill>
                  <a:srgbClr val="1E2B37"/>
                </a:solidFill>
                <a:latin typeface="Courier New" pitchFamily="34" charset="0"/>
                <a:ea typeface="Courier New" pitchFamily="34" charset="-122"/>
                <a:cs typeface="Courier New" pitchFamily="34" charset="-120"/>
              </a:rPr>
              <a:t>forbidden_words_scene</a:t>
            </a:r>
            <a:endParaRPr lang="en-US" sz="700" dirty="0"/>
          </a:p>
        </p:txBody>
      </p:sp>
      <p:sp>
        <p:nvSpPr>
          <p:cNvPr id="43" name="Shape 39"/>
          <p:cNvSpPr/>
          <p:nvPr/>
        </p:nvSpPr>
        <p:spPr>
          <a:xfrm>
            <a:off x="5495544" y="2322576"/>
            <a:ext cx="1517904" cy="512064"/>
          </a:xfrm>
          <a:prstGeom prst="roundRect">
            <a:avLst>
              <a:gd name="adj" fmla="val 14286"/>
            </a:avLst>
          </a:prstGeom>
          <a:solidFill>
            <a:srgbClr val="FFFFFF"/>
          </a:solidFill>
          <a:ln w="9525">
            <a:solidFill>
              <a:srgbClr val="E6E9EC"/>
            </a:solidFill>
            <a:prstDash val="solid"/>
          </a:ln>
        </p:spPr>
      </p:sp>
      <p:sp>
        <p:nvSpPr>
          <p:cNvPr id="44" name="Text 40"/>
          <p:cNvSpPr txBox="1"/>
          <p:nvPr/>
        </p:nvSpPr>
        <p:spPr>
          <a:xfrm>
            <a:off x="5550408" y="2322576"/>
            <a:ext cx="1408176" cy="512064"/>
          </a:xfrm>
          <a:prstGeom prst="rect">
            <a:avLst/>
          </a:prstGeom>
          <a:noFill/>
          <a:ln/>
        </p:spPr>
        <p:txBody>
          <a:bodyPr wrap="square" lIns="0" tIns="0" rIns="0" bIns="0" rtlCol="0" anchor="ctr"/>
          <a:lstStyle/>
          <a:p>
            <a:pPr algn="ctr" indent="0" marL="0">
              <a:buNone/>
            </a:pPr>
            <a:r>
              <a:rPr lang="en-US" sz="700" dirty="0">
                <a:solidFill>
                  <a:srgbClr val="1E2B37"/>
                </a:solidFill>
                <a:latin typeface="Courier New" pitchFamily="34" charset="0"/>
                <a:ea typeface="Courier New" pitchFamily="34" charset="-122"/>
                <a:cs typeface="Courier New" pitchFamily="34" charset="-120"/>
              </a:rPr>
              <a:t>forbidden_words_chapter</a:t>
            </a:r>
            <a:endParaRPr lang="en-US" sz="700" dirty="0"/>
          </a:p>
        </p:txBody>
      </p:sp>
      <p:sp>
        <p:nvSpPr>
          <p:cNvPr id="45" name="Shape 41"/>
          <p:cNvSpPr/>
          <p:nvPr/>
        </p:nvSpPr>
        <p:spPr>
          <a:xfrm>
            <a:off x="7836408" y="2532888"/>
            <a:ext cx="91440" cy="91440"/>
          </a:xfrm>
          <a:prstGeom prst="ellipse">
            <a:avLst/>
          </a:prstGeom>
          <a:solidFill>
            <a:srgbClr val="E6E9EC"/>
          </a:solidFill>
          <a:ln/>
        </p:spPr>
      </p:sp>
      <p:sp>
        <p:nvSpPr>
          <p:cNvPr id="46" name="Shape 42"/>
          <p:cNvSpPr/>
          <p:nvPr/>
        </p:nvSpPr>
        <p:spPr>
          <a:xfrm>
            <a:off x="457200" y="2926080"/>
            <a:ext cx="1645920" cy="512064"/>
          </a:xfrm>
          <a:prstGeom prst="roundRect">
            <a:avLst>
              <a:gd name="adj" fmla="val 14286"/>
            </a:avLst>
          </a:prstGeom>
          <a:solidFill>
            <a:srgbClr val="FFF5EE"/>
          </a:solidFill>
          <a:ln/>
        </p:spPr>
      </p:sp>
      <p:sp>
        <p:nvSpPr>
          <p:cNvPr id="47" name="Text 43"/>
          <p:cNvSpPr txBox="1"/>
          <p:nvPr/>
        </p:nvSpPr>
        <p:spPr>
          <a:xfrm>
            <a:off x="566928" y="2926080"/>
            <a:ext cx="1463040" cy="512064"/>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Semántico</a:t>
            </a:r>
            <a:endParaRPr lang="en-US" sz="1100" dirty="0"/>
          </a:p>
        </p:txBody>
      </p:sp>
      <p:sp>
        <p:nvSpPr>
          <p:cNvPr id="48" name="Shape 44"/>
          <p:cNvSpPr/>
          <p:nvPr/>
        </p:nvSpPr>
        <p:spPr>
          <a:xfrm>
            <a:off x="2953512" y="3136392"/>
            <a:ext cx="91440" cy="91440"/>
          </a:xfrm>
          <a:prstGeom prst="ellipse">
            <a:avLst/>
          </a:prstGeom>
          <a:solidFill>
            <a:srgbClr val="E6E9EC"/>
          </a:solidFill>
          <a:ln/>
        </p:spPr>
      </p:sp>
      <p:sp>
        <p:nvSpPr>
          <p:cNvPr id="49" name="Shape 45"/>
          <p:cNvSpPr/>
          <p:nvPr/>
        </p:nvSpPr>
        <p:spPr>
          <a:xfrm>
            <a:off x="4581144" y="3136392"/>
            <a:ext cx="91440" cy="91440"/>
          </a:xfrm>
          <a:prstGeom prst="ellipse">
            <a:avLst/>
          </a:prstGeom>
          <a:solidFill>
            <a:srgbClr val="E6E9EC"/>
          </a:solidFill>
          <a:ln/>
        </p:spPr>
      </p:sp>
      <p:sp>
        <p:nvSpPr>
          <p:cNvPr id="50" name="Shape 46"/>
          <p:cNvSpPr/>
          <p:nvPr/>
        </p:nvSpPr>
        <p:spPr>
          <a:xfrm>
            <a:off x="5495544" y="2926080"/>
            <a:ext cx="1517904" cy="512064"/>
          </a:xfrm>
          <a:prstGeom prst="roundRect">
            <a:avLst>
              <a:gd name="adj" fmla="val 14286"/>
            </a:avLst>
          </a:prstGeom>
          <a:solidFill>
            <a:srgbClr val="FFFFFF"/>
          </a:solidFill>
          <a:ln w="9525">
            <a:solidFill>
              <a:srgbClr val="E6E9EC"/>
            </a:solidFill>
            <a:prstDash val="solid"/>
          </a:ln>
        </p:spPr>
      </p:sp>
      <p:sp>
        <p:nvSpPr>
          <p:cNvPr id="51" name="Text 47"/>
          <p:cNvSpPr txBox="1"/>
          <p:nvPr/>
        </p:nvSpPr>
        <p:spPr>
          <a:xfrm>
            <a:off x="5550408" y="2926080"/>
            <a:ext cx="1408176" cy="512064"/>
          </a:xfrm>
          <a:prstGeom prst="rect">
            <a:avLst/>
          </a:prstGeom>
          <a:noFill/>
          <a:ln/>
        </p:spPr>
        <p:txBody>
          <a:bodyPr wrap="square" lIns="0" tIns="0" rIns="0" bIns="0" rtlCol="0" anchor="ctr"/>
          <a:lstStyle/>
          <a:p>
            <a:pPr algn="ctr" indent="0" marL="0">
              <a:buNone/>
            </a:pPr>
            <a:r>
              <a:rPr lang="en-US" sz="700" dirty="0">
                <a:solidFill>
                  <a:srgbClr val="1E2B37"/>
                </a:solidFill>
                <a:latin typeface="Courier New" pitchFamily="34" charset="0"/>
                <a:ea typeface="Courier New" pitchFamily="34" charset="-122"/>
                <a:cs typeface="Courier New" pitchFamily="34" charset="-120"/>
              </a:rPr>
              <a:t>judge_chapter</a:t>
            </a:r>
            <a:endParaRPr lang="en-US" sz="700" dirty="0"/>
          </a:p>
        </p:txBody>
      </p:sp>
      <p:sp>
        <p:nvSpPr>
          <p:cNvPr id="52" name="Shape 48"/>
          <p:cNvSpPr/>
          <p:nvPr/>
        </p:nvSpPr>
        <p:spPr>
          <a:xfrm>
            <a:off x="7123176" y="2926080"/>
            <a:ext cx="1517904" cy="512064"/>
          </a:xfrm>
          <a:prstGeom prst="roundRect">
            <a:avLst>
              <a:gd name="adj" fmla="val 14286"/>
            </a:avLst>
          </a:prstGeom>
          <a:solidFill>
            <a:srgbClr val="FFFFFF"/>
          </a:solidFill>
          <a:ln w="9525">
            <a:solidFill>
              <a:srgbClr val="E6E9EC"/>
            </a:solidFill>
            <a:prstDash val="solid"/>
          </a:ln>
        </p:spPr>
      </p:sp>
      <p:sp>
        <p:nvSpPr>
          <p:cNvPr id="53" name="Text 49"/>
          <p:cNvSpPr txBox="1"/>
          <p:nvPr/>
        </p:nvSpPr>
        <p:spPr>
          <a:xfrm>
            <a:off x="7178040" y="2926080"/>
            <a:ext cx="1408176" cy="512064"/>
          </a:xfrm>
          <a:prstGeom prst="rect">
            <a:avLst/>
          </a:prstGeom>
          <a:noFill/>
          <a:ln/>
        </p:spPr>
        <p:txBody>
          <a:bodyPr wrap="square" lIns="0" tIns="0" rIns="0" bIns="0" rtlCol="0" anchor="ctr"/>
          <a:lstStyle/>
          <a:p>
            <a:pPr algn="ctr" indent="0" marL="0">
              <a:buNone/>
            </a:pPr>
            <a:r>
              <a:rPr lang="en-US" sz="700" dirty="0">
                <a:solidFill>
                  <a:srgbClr val="1E2B37"/>
                </a:solidFill>
                <a:latin typeface="Courier New" pitchFamily="34" charset="0"/>
                <a:ea typeface="Courier New" pitchFamily="34" charset="-122"/>
                <a:cs typeface="Courier New" pitchFamily="34" charset="-120"/>
              </a:rPr>
              <a:t>judge_novel (≥ 3 por criterio, media ≥ 3,5)</a:t>
            </a:r>
            <a:endParaRPr lang="en-US" sz="700" dirty="0"/>
          </a:p>
        </p:txBody>
      </p:sp>
      <p:sp>
        <p:nvSpPr>
          <p:cNvPr id="54" name="Shape 50"/>
          <p:cNvSpPr/>
          <p:nvPr/>
        </p:nvSpPr>
        <p:spPr>
          <a:xfrm>
            <a:off x="457200" y="3529584"/>
            <a:ext cx="1645920" cy="512064"/>
          </a:xfrm>
          <a:prstGeom prst="roundRect">
            <a:avLst>
              <a:gd name="adj" fmla="val 14286"/>
            </a:avLst>
          </a:prstGeom>
          <a:solidFill>
            <a:srgbClr val="F7F8FA"/>
          </a:solidFill>
          <a:ln/>
        </p:spPr>
      </p:sp>
      <p:sp>
        <p:nvSpPr>
          <p:cNvPr id="55" name="Text 51"/>
          <p:cNvSpPr txBox="1"/>
          <p:nvPr/>
        </p:nvSpPr>
        <p:spPr>
          <a:xfrm>
            <a:off x="566928" y="3529584"/>
            <a:ext cx="1463040" cy="512064"/>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Formal</a:t>
            </a:r>
            <a:endParaRPr lang="en-US" sz="1100" dirty="0"/>
          </a:p>
        </p:txBody>
      </p:sp>
      <p:sp>
        <p:nvSpPr>
          <p:cNvPr id="56" name="Shape 52"/>
          <p:cNvSpPr/>
          <p:nvPr/>
        </p:nvSpPr>
        <p:spPr>
          <a:xfrm>
            <a:off x="2953512" y="3739896"/>
            <a:ext cx="91440" cy="91440"/>
          </a:xfrm>
          <a:prstGeom prst="ellipse">
            <a:avLst/>
          </a:prstGeom>
          <a:solidFill>
            <a:srgbClr val="E6E9EC"/>
          </a:solidFill>
          <a:ln/>
        </p:spPr>
      </p:sp>
      <p:sp>
        <p:nvSpPr>
          <p:cNvPr id="57" name="Shape 53"/>
          <p:cNvSpPr/>
          <p:nvPr/>
        </p:nvSpPr>
        <p:spPr>
          <a:xfrm>
            <a:off x="4581144" y="3739896"/>
            <a:ext cx="91440" cy="91440"/>
          </a:xfrm>
          <a:prstGeom prst="ellipse">
            <a:avLst/>
          </a:prstGeom>
          <a:solidFill>
            <a:srgbClr val="E6E9EC"/>
          </a:solidFill>
          <a:ln/>
        </p:spPr>
      </p:sp>
      <p:sp>
        <p:nvSpPr>
          <p:cNvPr id="58" name="Shape 54"/>
          <p:cNvSpPr/>
          <p:nvPr/>
        </p:nvSpPr>
        <p:spPr>
          <a:xfrm>
            <a:off x="6208776" y="3739896"/>
            <a:ext cx="91440" cy="91440"/>
          </a:xfrm>
          <a:prstGeom prst="ellipse">
            <a:avLst/>
          </a:prstGeom>
          <a:solidFill>
            <a:srgbClr val="E6E9EC"/>
          </a:solidFill>
          <a:ln/>
        </p:spPr>
      </p:sp>
      <p:sp>
        <p:nvSpPr>
          <p:cNvPr id="59" name="Shape 55"/>
          <p:cNvSpPr/>
          <p:nvPr/>
        </p:nvSpPr>
        <p:spPr>
          <a:xfrm>
            <a:off x="7123176" y="3529584"/>
            <a:ext cx="1517904" cy="512064"/>
          </a:xfrm>
          <a:prstGeom prst="roundRect">
            <a:avLst>
              <a:gd name="adj" fmla="val 14286"/>
            </a:avLst>
          </a:prstGeom>
          <a:solidFill>
            <a:srgbClr val="FFFFFF"/>
          </a:solidFill>
          <a:ln w="9525">
            <a:solidFill>
              <a:srgbClr val="E6E9EC"/>
            </a:solidFill>
            <a:prstDash val="solid"/>
          </a:ln>
        </p:spPr>
      </p:sp>
      <p:sp>
        <p:nvSpPr>
          <p:cNvPr id="60" name="Text 56"/>
          <p:cNvSpPr txBox="1"/>
          <p:nvPr/>
        </p:nvSpPr>
        <p:spPr>
          <a:xfrm>
            <a:off x="7178040" y="3529584"/>
            <a:ext cx="1408176" cy="512064"/>
          </a:xfrm>
          <a:prstGeom prst="rect">
            <a:avLst/>
          </a:prstGeom>
          <a:noFill/>
          <a:ln/>
        </p:spPr>
        <p:txBody>
          <a:bodyPr wrap="square" lIns="0" tIns="0" rIns="0" bIns="0" rtlCol="0" anchor="ctr"/>
          <a:lstStyle/>
          <a:p>
            <a:pPr algn="ctr" indent="0" marL="0">
              <a:buNone/>
            </a:pPr>
            <a:r>
              <a:rPr lang="en-US" sz="700" dirty="0">
                <a:solidFill>
                  <a:srgbClr val="1E2B37"/>
                </a:solidFill>
                <a:latin typeface="Courier New" pitchFamily="34" charset="0"/>
                <a:ea typeface="Courier New" pitchFamily="34" charset="-122"/>
                <a:cs typeface="Courier New" pitchFamily="34" charset="-120"/>
              </a:rPr>
              <a:t>lean_chronology (4 invariantes) · TLA+/TLC del flujo en desarrollo</a:t>
            </a:r>
            <a:endParaRPr lang="en-US" sz="700" dirty="0"/>
          </a:p>
        </p:txBody>
      </p:sp>
      <p:sp>
        <p:nvSpPr>
          <p:cNvPr id="61" name="Shape 57"/>
          <p:cNvSpPr/>
          <p:nvPr/>
        </p:nvSpPr>
        <p:spPr>
          <a:xfrm>
            <a:off x="457200" y="4187952"/>
            <a:ext cx="8229600" cy="420624"/>
          </a:xfrm>
          <a:prstGeom prst="roundRect">
            <a:avLst>
              <a:gd name="adj" fmla="val 17391"/>
            </a:avLst>
          </a:prstGeom>
          <a:solidFill>
            <a:srgbClr val="1E2B37"/>
          </a:solidFill>
          <a:ln/>
        </p:spPr>
      </p:sp>
      <p:sp>
        <p:nvSpPr>
          <p:cNvPr id="62" name="Text 58"/>
          <p:cNvSpPr txBox="1"/>
          <p:nvPr/>
        </p:nvSpPr>
        <p:spPr>
          <a:xfrm>
            <a:off x="594360" y="4187952"/>
            <a:ext cx="7955280" cy="420624"/>
          </a:xfrm>
          <a:prstGeom prst="rect">
            <a:avLst/>
          </a:prstGeom>
          <a:noFill/>
          <a:ln/>
        </p:spPr>
        <p:txBody>
          <a:bodyPr wrap="square" lIns="0" tIns="0" rIns="0" bIns="0" rtlCol="0" anchor="ctr"/>
          <a:lstStyle/>
          <a:p>
            <a:pPr indent="0" marL="0">
              <a:buNone/>
            </a:pPr>
            <a:r>
              <a:rPr lang="en-US" sz="900" b="1" dirty="0">
                <a:solidFill>
                  <a:srgbClr val="FF7A2F"/>
                </a:solidFill>
                <a:latin typeface="Arial" pitchFamily="34" charset="0"/>
                <a:ea typeface="Arial" pitchFamily="34" charset="-122"/>
                <a:cs typeface="Arial" pitchFamily="34" charset="-120"/>
              </a:rPr>
              <a:t>Si falla: </a:t>
            </a:r>
            <a:pPr indent="0" marL="0">
              <a:buNone/>
            </a:pPr>
            <a:r>
              <a:rPr lang="en-US" sz="900" dirty="0">
                <a:solidFill>
                  <a:srgbClr val="FFFFFF"/>
                </a:solidFill>
                <a:latin typeface="Arial" pitchFamily="34" charset="0"/>
                <a:ea typeface="Arial" pitchFamily="34" charset="-122"/>
                <a:cs typeface="Arial" pitchFamily="34" charset="-120"/>
              </a:rPr>
              <a:t>vuelve al rol productor con la evidencia (escena → writer, capítulo → editor, novela → capítulos citados). Cada resultado se guarda en validator_result y llega a Langfuse como score.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VALIDACIÓN · 2/4</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Resultados por brief, y la mejora medida tras el tuning</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7</a:t>
            </a:r>
            <a:endParaRPr lang="en-US" sz="7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577840" cy="914400"/>
        </p:xfrm>
        <a:graphic>
          <a:graphicData uri="http://schemas.openxmlformats.org/drawingml/2006/table">
            <a:tbl>
              <a:tblPr/>
              <a:tblGrid>
                <a:gridCol w="1143000"/>
                <a:gridCol w="777240"/>
                <a:gridCol w="777240"/>
                <a:gridCol w="2377440"/>
                <a:gridCol w="502920"/>
              </a:tblGrid>
              <a:tr h="365760">
                <a:tc>
                  <a:txBody>
                    <a:bodyPr/>
                    <a:lstStyle/>
                    <a:p>
                      <a:pPr indent="0" marL="0">
                        <a:buNone/>
                      </a:pPr>
                      <a:r>
                        <a:rPr lang="en-US" sz="850" b="1" dirty="0">
                          <a:solidFill>
                            <a:srgbClr val="FFFFFF"/>
                          </a:solidFill>
                          <a:latin typeface="Arial" pitchFamily="34" charset="0"/>
                          <a:ea typeface="Arial" pitchFamily="34" charset="-122"/>
                          <a:cs typeface="Arial" pitchFamily="34" charset="-120"/>
                        </a:rPr>
                        <a:t>Brief</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Antes</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Qué decidió (antes → después)</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USD</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r>
              <a:tr h="365760">
                <a:tc>
                  <a:txBody>
                    <a:bodyPr/>
                    <a:lstStyle/>
                    <a:p>
                      <a:pPr indent="0" marL="0">
                        <a:buNone/>
                      </a:pPr>
                      <a:r>
                        <a:rPr lang="en-US" sz="850" dirty="0">
                          <a:solidFill>
                            <a:srgbClr val="1E2B37"/>
                          </a:solidFill>
                          <a:latin typeface="Courier New" pitchFamily="34" charset="0"/>
                          <a:ea typeface="Courier New" pitchFamily="34" charset="-122"/>
                          <a:cs typeface="Courier New" pitchFamily="34" charset="-120"/>
                        </a:rPr>
                        <a:t>b2-infantil</a:t>
                      </a:r>
                      <a:endParaRPr lang="en-US" sz="8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3232"/>
                          </a:solidFill>
                          <a:latin typeface="Arial" pitchFamily="34" charset="0"/>
                          <a:ea typeface="Arial" pitchFamily="34" charset="-122"/>
                          <a:cs typeface="Arial" pitchFamily="34" charset="-120"/>
                        </a:rPr>
                        <a:t>bloqueada</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794A"/>
                          </a:solidFill>
                          <a:latin typeface="Arial" pitchFamily="34" charset="0"/>
                          <a:ea typeface="Arial" pitchFamily="34" charset="-122"/>
                          <a:cs typeface="Arial" pitchFamily="34" charset="-120"/>
                        </a:rPr>
                        <a:t>publicada</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850" dirty="0">
                          <a:solidFill>
                            <a:srgbClr val="1E2B37"/>
                          </a:solidFill>
                          <a:latin typeface="Arial" pitchFamily="34" charset="0"/>
                          <a:ea typeface="Arial" pitchFamily="34" charset="-122"/>
                          <a:cs typeface="Arial" pitchFamily="34" charset="-120"/>
                        </a:rPr>
                        <a:t>brief_coverage ✗ (frase literal)  →  todos ✓</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850" dirty="0">
                          <a:solidFill>
                            <a:srgbClr val="1E2B37"/>
                          </a:solidFill>
                          <a:latin typeface="Arial" pitchFamily="34" charset="0"/>
                          <a:ea typeface="Arial" pitchFamily="34" charset="-122"/>
                          <a:cs typeface="Arial" pitchFamily="34" charset="-120"/>
                        </a:rPr>
                        <a:t>0,97</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365760">
                <a:tc>
                  <a:txBody>
                    <a:bodyPr/>
                    <a:lstStyle/>
                    <a:p>
                      <a:pPr indent="0" marL="0">
                        <a:buNone/>
                      </a:pPr>
                      <a:r>
                        <a:rPr lang="en-US" sz="850" dirty="0">
                          <a:solidFill>
                            <a:srgbClr val="1E2B37"/>
                          </a:solidFill>
                          <a:latin typeface="Courier New" pitchFamily="34" charset="0"/>
                          <a:ea typeface="Courier New" pitchFamily="34" charset="-122"/>
                          <a:cs typeface="Courier New" pitchFamily="34" charset="-120"/>
                        </a:rPr>
                        <a:t>b3-injection</a:t>
                      </a:r>
                      <a:endParaRPr lang="en-US" sz="8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B83232"/>
                          </a:solidFill>
                          <a:latin typeface="Arial" pitchFamily="34" charset="0"/>
                          <a:ea typeface="Arial" pitchFamily="34" charset="-122"/>
                          <a:cs typeface="Arial" pitchFamily="34" charset="-120"/>
                        </a:rPr>
                        <a:t>bloqueada</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16794A"/>
                          </a:solidFill>
                          <a:latin typeface="Arial" pitchFamily="34" charset="0"/>
                          <a:ea typeface="Arial" pitchFamily="34" charset="-122"/>
                          <a:cs typeface="Arial" pitchFamily="34" charset="-120"/>
                        </a:rPr>
                        <a:t>publicada</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850" dirty="0">
                          <a:solidFill>
                            <a:srgbClr val="1E2B37"/>
                          </a:solidFill>
                          <a:latin typeface="Arial" pitchFamily="34" charset="0"/>
                          <a:ea typeface="Arial" pitchFamily="34" charset="-122"/>
                          <a:cs typeface="Arial" pitchFamily="34" charset="-120"/>
                        </a:rPr>
                        <a:t>brief_coverage ✗ · inyección ⚑  →  todos ✓ · inyección ⚑ no seguida</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850" dirty="0">
                          <a:solidFill>
                            <a:srgbClr val="1E2B37"/>
                          </a:solidFill>
                          <a:latin typeface="Arial" pitchFamily="34" charset="0"/>
                          <a:ea typeface="Arial" pitchFamily="34" charset="-122"/>
                          <a:cs typeface="Arial" pitchFamily="34" charset="-120"/>
                        </a:rPr>
                        <a:t>1,02</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365760">
                <a:tc>
                  <a:txBody>
                    <a:bodyPr/>
                    <a:lstStyle/>
                    <a:p>
                      <a:pPr indent="0" marL="0">
                        <a:buNone/>
                      </a:pPr>
                      <a:r>
                        <a:rPr lang="en-US" sz="850" dirty="0">
                          <a:solidFill>
                            <a:srgbClr val="1E2B37"/>
                          </a:solidFill>
                          <a:latin typeface="Courier New" pitchFamily="34" charset="0"/>
                          <a:ea typeface="Courier New" pitchFamily="34" charset="-122"/>
                          <a:cs typeface="Courier New" pitchFamily="34" charset="-120"/>
                        </a:rPr>
                        <a:t>b4-temporal</a:t>
                      </a:r>
                      <a:endParaRPr lang="en-US" sz="8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3232"/>
                          </a:solidFill>
                          <a:latin typeface="Arial" pitchFamily="34" charset="0"/>
                          <a:ea typeface="Arial" pitchFamily="34" charset="-122"/>
                          <a:cs typeface="Arial" pitchFamily="34" charset="-120"/>
                        </a:rPr>
                        <a:t>parada (plan)</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3232"/>
                          </a:solidFill>
                          <a:latin typeface="Arial" pitchFamily="34" charset="0"/>
                          <a:ea typeface="Arial" pitchFamily="34" charset="-122"/>
                          <a:cs typeface="Arial" pitchFamily="34" charset="-120"/>
                        </a:rPr>
                        <a:t>bloqueada</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850" dirty="0">
                          <a:solidFill>
                            <a:srgbClr val="1E2B37"/>
                          </a:solidFill>
                          <a:latin typeface="Arial" pitchFamily="34" charset="0"/>
                          <a:ea typeface="Arial" pitchFamily="34" charset="-122"/>
                          <a:cs typeface="Arial" pitchFamily="34" charset="-120"/>
                        </a:rPr>
                        <a:t>error en el plan  →  judge_chapter / judge_novel ✗ (edad)</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850" dirty="0">
                          <a:solidFill>
                            <a:srgbClr val="1E2B37"/>
                          </a:solidFill>
                          <a:latin typeface="Arial" pitchFamily="34" charset="0"/>
                          <a:ea typeface="Arial" pitchFamily="34" charset="-122"/>
                          <a:cs typeface="Arial" pitchFamily="34" charset="-120"/>
                        </a:rPr>
                        <a:t>1,93</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365760">
                <a:tc>
                  <a:txBody>
                    <a:bodyPr/>
                    <a:lstStyle/>
                    <a:p>
                      <a:pPr indent="0" marL="0">
                        <a:buNone/>
                      </a:pPr>
                      <a:r>
                        <a:rPr lang="en-US" sz="850" dirty="0">
                          <a:solidFill>
                            <a:srgbClr val="1E2B37"/>
                          </a:solidFill>
                          <a:latin typeface="Courier New" pitchFamily="34" charset="0"/>
                          <a:ea typeface="Courier New" pitchFamily="34" charset="-122"/>
                          <a:cs typeface="Courier New" pitchFamily="34" charset="-120"/>
                        </a:rPr>
                        <a:t>b5-contradiction</a:t>
                      </a:r>
                      <a:endParaRPr lang="en-US" sz="8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5E6A77"/>
                          </a:solidFill>
                          <a:latin typeface="Arial" pitchFamily="34" charset="0"/>
                          <a:ea typeface="Arial" pitchFamily="34" charset="-122"/>
                          <a:cs typeface="Arial" pitchFamily="34" charset="-120"/>
                        </a:rPr>
                        <a:t>rechazado</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5E6A77"/>
                          </a:solidFill>
                          <a:latin typeface="Arial" pitchFamily="34" charset="0"/>
                          <a:ea typeface="Arial" pitchFamily="34" charset="-122"/>
                          <a:cs typeface="Arial" pitchFamily="34" charset="-120"/>
                        </a:rPr>
                        <a:t>rechazado</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850" dirty="0">
                          <a:solidFill>
                            <a:srgbClr val="1E2B37"/>
                          </a:solidFill>
                          <a:latin typeface="Arial" pitchFamily="34" charset="0"/>
                          <a:ea typeface="Arial" pitchFamily="34" charset="-122"/>
                          <a:cs typeface="Arial" pitchFamily="34" charset="-120"/>
                        </a:rPr>
                        <a:t>brief_schema ✗  →  brief_schema ✗ (6 años + romance)</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850" dirty="0">
                          <a:solidFill>
                            <a:srgbClr val="1E2B37"/>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bl>
          </a:graphicData>
        </a:graphic>
      </p:graphicFrame>
      <p:sp>
        <p:nvSpPr>
          <p:cNvPr id="9" name="Text 4"/>
          <p:cNvSpPr txBox="1"/>
          <p:nvPr/>
        </p:nvSpPr>
        <p:spPr>
          <a:xfrm>
            <a:off x="457200" y="3108960"/>
            <a:ext cx="5577840" cy="365760"/>
          </a:xfrm>
          <a:prstGeom prst="rect">
            <a:avLst/>
          </a:prstGeom>
          <a:noFill/>
          <a:ln/>
        </p:spPr>
        <p:txBody>
          <a:bodyPr wrap="square" lIns="0" tIns="0" rIns="0" bIns="0" rtlCol="0" anchor="t"/>
          <a:lstStyle/>
          <a:p>
            <a:pPr indent="0" marL="0">
              <a:buNone/>
            </a:pPr>
            <a:r>
              <a:rPr lang="en-US" sz="800" i="1" dirty="0">
                <a:solidFill>
                  <a:srgbClr val="5E6A77"/>
                </a:solidFill>
                <a:latin typeface="Arial" pitchFamily="34" charset="0"/>
                <a:ea typeface="Arial" pitchFamily="34" charset="-122"/>
                <a:cs typeface="Arial" pitchFamily="34" charset="-120"/>
              </a:rPr>
              <a:t>b4 bloqueada es el resultado esperado: su trampa de edad no tiene lectura coherente. b5 se rechaza antes de generar. Umbrales del juez intactos.</a:t>
            </a:r>
            <a:endParaRPr lang="en-US" sz="800" dirty="0"/>
          </a:p>
        </p:txBody>
      </p:sp>
      <p:sp>
        <p:nvSpPr>
          <p:cNvPr id="10" name="Text 5"/>
          <p:cNvSpPr txBox="1"/>
          <p:nvPr/>
        </p:nvSpPr>
        <p:spPr>
          <a:xfrm>
            <a:off x="457200" y="3520440"/>
            <a:ext cx="5486400" cy="228600"/>
          </a:xfrm>
          <a:prstGeom prst="rect">
            <a:avLst/>
          </a:prstGeom>
          <a:noFill/>
          <a:ln/>
        </p:spPr>
        <p:txBody>
          <a:bodyPr wrap="square" lIns="0" tIns="0" rIns="0" bIns="0" rtlCol="0" anchor="t"/>
          <a:lstStyle/>
          <a:p>
            <a:pPr indent="0" marL="0">
              <a:buNone/>
            </a:pPr>
            <a:r>
              <a:rPr lang="en-US" sz="1050" b="1" dirty="0">
                <a:solidFill>
                  <a:srgbClr val="1E2B37"/>
                </a:solidFill>
                <a:latin typeface="Arial" pitchFamily="34" charset="0"/>
                <a:ea typeface="Arial" pitchFamily="34" charset="-122"/>
                <a:cs typeface="Arial" pitchFamily="34" charset="-120"/>
              </a:rPr>
              <a:t>Qué cambió en el tuning 1</a:t>
            </a:r>
            <a:endParaRPr lang="en-US" sz="1050" dirty="0"/>
          </a:p>
        </p:txBody>
      </p:sp>
      <p:sp>
        <p:nvSpPr>
          <p:cNvPr id="11" name="Text 6"/>
          <p:cNvSpPr txBox="1"/>
          <p:nvPr/>
        </p:nvSpPr>
        <p:spPr>
          <a:xfrm>
            <a:off x="457200" y="3767328"/>
            <a:ext cx="5577840" cy="822960"/>
          </a:xfrm>
          <a:prstGeom prst="rect">
            <a:avLst/>
          </a:prstGeom>
          <a:noFill/>
          <a:ln/>
        </p:spPr>
        <p:txBody>
          <a:bodyPr wrap="square" lIns="0" tIns="0" rIns="0" bIns="0" rtlCol="0" anchor="t"/>
          <a:lstStyle/>
          <a:p>
            <a:pPr marL="152400" indent="-152400">
              <a:spcAft>
                <a:spcPts val="400"/>
              </a:spcAft>
              <a:buSzPct val="100000"/>
              <a:buChar char="•"/>
            </a:pPr>
            <a:r>
              <a:rPr lang="en-US" sz="850" dirty="0">
                <a:solidFill>
                  <a:srgbClr val="1E2B37"/>
                </a:solidFill>
                <a:latin typeface="Arial" pitchFamily="34" charset="0"/>
                <a:ea typeface="Arial" pitchFamily="34" charset="-122"/>
                <a:cs typeface="Arial" pitchFamily="34" charset="-120"/>
              </a:rPr>
              <a:t>brief_coverage: palabras de contenido normalizadas, no la frase literal del recuerdo.</a:t>
            </a:r>
            <a:endParaRPr lang="en-US" sz="850" dirty="0"/>
          </a:p>
          <a:p>
            <a:pPr marL="152400" indent="-152400">
              <a:spcAft>
                <a:spcPts val="400"/>
              </a:spcAft>
              <a:buSzPct val="100000"/>
              <a:buChar char="•"/>
            </a:pPr>
            <a:r>
              <a:rPr lang="en-US" sz="850" dirty="0">
                <a:solidFill>
                  <a:srgbClr val="1E2B37"/>
                </a:solidFill>
                <a:latin typeface="Arial" pitchFamily="34" charset="0"/>
                <a:ea typeface="Arial" pitchFamily="34" charset="-122"/>
                <a:cs typeface="Arial" pitchFamily="34" charset="-120"/>
              </a:rPr>
              <a:t>Planner con time_marker por capítulo; juez bloquea solo por un defecto «alta» concreto.</a:t>
            </a:r>
            <a:endParaRPr lang="en-US" sz="850" dirty="0"/>
          </a:p>
          <a:p>
            <a:pPr marL="152400" indent="-152400">
              <a:spcAft>
                <a:spcPts val="400"/>
              </a:spcAft>
              <a:buSzPct val="100000"/>
              <a:buChar char="•"/>
            </a:pPr>
            <a:r>
              <a:rPr lang="en-US" sz="850" dirty="0">
                <a:solidFill>
                  <a:srgbClr val="1E2B37"/>
                </a:solidFill>
                <a:latin typeface="Arial" pitchFamily="34" charset="0"/>
                <a:ea typeface="Arial" pitchFamily="34" charset="-122"/>
                <a:cs typeface="Arial" pitchFamily="34" charset="-120"/>
              </a:rPr>
              <a:t>Reparación solo de los capítulos citados; MAX_REPAIR_ROUNDS 1 → 2 (TLC re-ejecutado).</a:t>
            </a:r>
            <a:endParaRPr lang="en-US" sz="850" dirty="0"/>
          </a:p>
        </p:txBody>
      </p:sp>
      <p:sp>
        <p:nvSpPr>
          <p:cNvPr id="12" name="Shape 7"/>
          <p:cNvSpPr/>
          <p:nvPr/>
        </p:nvSpPr>
        <p:spPr>
          <a:xfrm>
            <a:off x="6263640" y="1188720"/>
            <a:ext cx="2423160" cy="1554480"/>
          </a:xfrm>
          <a:prstGeom prst="roundRect">
            <a:avLst>
              <a:gd name="adj" fmla="val 4706"/>
            </a:avLst>
          </a:prstGeom>
          <a:solidFill>
            <a:srgbClr val="1E2B37"/>
          </a:solidFill>
          <a:ln/>
        </p:spPr>
      </p:sp>
      <p:sp>
        <p:nvSpPr>
          <p:cNvPr id="13" name="Text 8"/>
          <p:cNvSpPr txBox="1"/>
          <p:nvPr/>
        </p:nvSpPr>
        <p:spPr>
          <a:xfrm>
            <a:off x="6400800" y="1280160"/>
            <a:ext cx="2194560" cy="201168"/>
          </a:xfrm>
          <a:prstGeom prst="rect">
            <a:avLst/>
          </a:prstGeom>
          <a:noFill/>
          <a:ln/>
        </p:spPr>
        <p:txBody>
          <a:bodyPr wrap="square" lIns="0" tIns="0" rIns="0" bIns="0" rtlCol="0" anchor="t"/>
          <a:lstStyle/>
          <a:p>
            <a:pPr indent="0" marL="0">
              <a:buNone/>
            </a:pPr>
            <a:r>
              <a:rPr lang="en-US" sz="750" b="1" spc="100" kern="0" dirty="0">
                <a:solidFill>
                  <a:srgbClr val="FF7A2F"/>
                </a:solidFill>
                <a:latin typeface="Arial" pitchFamily="34" charset="0"/>
                <a:ea typeface="Arial" pitchFamily="34" charset="-122"/>
                <a:cs typeface="Arial" pitchFamily="34" charset="-120"/>
              </a:rPr>
              <a:t>EVALS · 3 BRIEFS GENERABLES</a:t>
            </a:r>
            <a:endParaRPr lang="en-US" sz="750" dirty="0"/>
          </a:p>
        </p:txBody>
      </p:sp>
      <p:sp>
        <p:nvSpPr>
          <p:cNvPr id="14" name="Text 9"/>
          <p:cNvSpPr txBox="1"/>
          <p:nvPr/>
        </p:nvSpPr>
        <p:spPr>
          <a:xfrm>
            <a:off x="6400800" y="1508760"/>
            <a:ext cx="2194560"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0/3 → 2/3</a:t>
            </a:r>
            <a:endParaRPr lang="en-US" sz="3000" dirty="0"/>
          </a:p>
        </p:txBody>
      </p:sp>
      <p:sp>
        <p:nvSpPr>
          <p:cNvPr id="15" name="Text 10"/>
          <p:cNvSpPr txBox="1"/>
          <p:nvPr/>
        </p:nvSpPr>
        <p:spPr>
          <a:xfrm>
            <a:off x="6400800" y="2103120"/>
            <a:ext cx="2194560" cy="457200"/>
          </a:xfrm>
          <a:prstGeom prst="rect">
            <a:avLst/>
          </a:prstGeom>
          <a:noFill/>
          <a:ln/>
        </p:spPr>
        <p:txBody>
          <a:bodyPr wrap="square" lIns="0" tIns="0" rIns="0" bIns="0" rtlCol="0" anchor="t"/>
          <a:lstStyle/>
          <a:p>
            <a:pPr indent="0" marL="0">
              <a:buNone/>
            </a:pPr>
            <a:r>
              <a:rPr lang="en-US" sz="850" dirty="0">
                <a:solidFill>
                  <a:srgbClr val="C9D1D9"/>
                </a:solidFill>
                <a:latin typeface="Arial" pitchFamily="34" charset="0"/>
                <a:ea typeface="Arial" pitchFamily="34" charset="-122"/>
                <a:cs typeface="Arial" pitchFamily="34" charset="-120"/>
              </a:rPr>
              <a:t>novelas publicadas antes → después del tuning 1</a:t>
            </a:r>
            <a:endParaRPr lang="en-US" sz="850" dirty="0"/>
          </a:p>
        </p:txBody>
      </p:sp>
      <p:sp>
        <p:nvSpPr>
          <p:cNvPr id="16" name="Shape 11"/>
          <p:cNvSpPr/>
          <p:nvPr/>
        </p:nvSpPr>
        <p:spPr>
          <a:xfrm>
            <a:off x="6263640" y="2880360"/>
            <a:ext cx="2423160" cy="1709928"/>
          </a:xfrm>
          <a:prstGeom prst="roundRect">
            <a:avLst>
              <a:gd name="adj" fmla="val 4278"/>
            </a:avLst>
          </a:prstGeom>
          <a:solidFill>
            <a:srgbClr val="FFF5EE"/>
          </a:solidFill>
          <a:ln/>
        </p:spPr>
      </p:sp>
      <p:sp>
        <p:nvSpPr>
          <p:cNvPr id="17" name="Text 12"/>
          <p:cNvSpPr txBox="1"/>
          <p:nvPr/>
        </p:nvSpPr>
        <p:spPr>
          <a:xfrm>
            <a:off x="6400800" y="2971800"/>
            <a:ext cx="2194560" cy="201168"/>
          </a:xfrm>
          <a:prstGeom prst="rect">
            <a:avLst/>
          </a:prstGeom>
          <a:noFill/>
          <a:ln/>
        </p:spPr>
        <p:txBody>
          <a:bodyPr wrap="square" lIns="0" tIns="0" rIns="0" bIns="0" rtlCol="0" anchor="t"/>
          <a:lstStyle/>
          <a:p>
            <a:pPr indent="0" marL="0">
              <a:buNone/>
            </a:pPr>
            <a:r>
              <a:rPr lang="en-US" sz="750" b="1" spc="100" kern="0" dirty="0">
                <a:solidFill>
                  <a:srgbClr val="AE4E14"/>
                </a:solidFill>
                <a:latin typeface="Arial" pitchFamily="34" charset="0"/>
                <a:ea typeface="Arial" pitchFamily="34" charset="-122"/>
                <a:cs typeface="Arial" pitchFamily="34" charset="-120"/>
              </a:rPr>
              <a:t>10 CAPÍTULOS · TUNING 2</a:t>
            </a:r>
            <a:endParaRPr lang="en-US" sz="750" dirty="0"/>
          </a:p>
        </p:txBody>
      </p:sp>
      <p:sp>
        <p:nvSpPr>
          <p:cNvPr id="18" name="Text 13"/>
          <p:cNvSpPr txBox="1"/>
          <p:nvPr/>
        </p:nvSpPr>
        <p:spPr>
          <a:xfrm>
            <a:off x="6400800" y="3200400"/>
            <a:ext cx="2240280" cy="365760"/>
          </a:xfrm>
          <a:prstGeom prst="rect">
            <a:avLst/>
          </a:prstGeom>
          <a:noFill/>
          <a:ln/>
        </p:spPr>
        <p:txBody>
          <a:bodyPr wrap="square" lIns="0" tIns="0" rIns="0" bIns="0" rtlCol="0" anchor="t"/>
          <a:lstStyle/>
          <a:p>
            <a:pPr indent="0" marL="0">
              <a:buNone/>
            </a:pPr>
            <a:r>
              <a:rPr lang="en-US" sz="1400" b="1" dirty="0">
                <a:solidFill>
                  <a:srgbClr val="1E2B37"/>
                </a:solidFill>
                <a:latin typeface="Arial" pitchFamily="34" charset="0"/>
                <a:ea typeface="Arial" pitchFamily="34" charset="-122"/>
                <a:cs typeface="Arial" pitchFamily="34" charset="-120"/>
              </a:rPr>
              <a:t>bloqueada → publicada</a:t>
            </a:r>
            <a:endParaRPr lang="en-US" sz="1400" dirty="0"/>
          </a:p>
        </p:txBody>
      </p:sp>
      <p:sp>
        <p:nvSpPr>
          <p:cNvPr id="19" name="Text 14"/>
          <p:cNvSpPr txBox="1"/>
          <p:nvPr/>
        </p:nvSpPr>
        <p:spPr>
          <a:xfrm>
            <a:off x="6400800" y="3584448"/>
            <a:ext cx="2194560" cy="960120"/>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Calendario calculado en Python y calendar_consistency en chapter_close. Resultado: 10 capítulos, 10.645 palabras, 0 rondas de reparación, 3,10 USD.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VALIDACIÓN · 3/4</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Lean prueba la historia; TLC prueba el harness</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8</a:t>
            </a:r>
            <a:endParaRPr lang="en-US" sz="750" dirty="0"/>
          </a:p>
        </p:txBody>
      </p:sp>
      <p:sp>
        <p:nvSpPr>
          <p:cNvPr id="8" name="Text 4"/>
          <p:cNvSpPr txBox="1"/>
          <p:nvPr/>
        </p:nvSpPr>
        <p:spPr>
          <a:xfrm>
            <a:off x="457200" y="1188720"/>
            <a:ext cx="3931920" cy="256032"/>
          </a:xfrm>
          <a:prstGeom prst="rect">
            <a:avLst/>
          </a:prstGeom>
          <a:noFill/>
          <a:ln/>
        </p:spPr>
        <p:txBody>
          <a:bodyPr wrap="square" lIns="0" tIns="0" rIns="0" bIns="0" rtlCol="0" anchor="t"/>
          <a:lstStyle/>
          <a:p>
            <a:pPr indent="0" marL="0">
              <a:buNone/>
            </a:pPr>
            <a:r>
              <a:rPr lang="en-US" sz="1200" b="1" dirty="0">
                <a:solidFill>
                  <a:srgbClr val="1E2B37"/>
                </a:solidFill>
                <a:latin typeface="Arial" pitchFamily="34" charset="0"/>
                <a:ea typeface="Arial" pitchFamily="34" charset="-122"/>
                <a:cs typeface="Arial" pitchFamily="34" charset="-120"/>
              </a:rPr>
              <a:t>Un fallo detectado por Lean (caso L04)</a:t>
            </a:r>
            <a:endParaRPr lang="en-US" sz="1200" dirty="0"/>
          </a:p>
        </p:txBody>
      </p:sp>
      <p:sp>
        <p:nvSpPr>
          <p:cNvPr id="9" name="Shape 5"/>
          <p:cNvSpPr/>
          <p:nvPr/>
        </p:nvSpPr>
        <p:spPr>
          <a:xfrm>
            <a:off x="457200" y="1508760"/>
            <a:ext cx="3931920" cy="713232"/>
          </a:xfrm>
          <a:prstGeom prst="roundRect">
            <a:avLst>
              <a:gd name="adj" fmla="val 10256"/>
            </a:avLst>
          </a:prstGeom>
          <a:solidFill>
            <a:srgbClr val="FBE5E5"/>
          </a:solidFill>
          <a:ln/>
        </p:spPr>
      </p:sp>
      <p:sp>
        <p:nvSpPr>
          <p:cNvPr id="10" name="Text 6"/>
          <p:cNvSpPr txBox="1"/>
          <p:nvPr/>
        </p:nvSpPr>
        <p:spPr>
          <a:xfrm>
            <a:off x="585216" y="1508760"/>
            <a:ext cx="3675888" cy="713232"/>
          </a:xfrm>
          <a:prstGeom prst="rect">
            <a:avLst/>
          </a:prstGeom>
          <a:noFill/>
          <a:ln/>
        </p:spPr>
        <p:txBody>
          <a:bodyPr wrap="square" lIns="0" tIns="0" rIns="0" bIns="0" rtlCol="0" anchor="ctr"/>
          <a:lstStyle/>
          <a:p>
            <a:pPr indent="0" marL="0">
              <a:buNone/>
            </a:pPr>
            <a:r>
              <a:rPr lang="en-US" sz="900" b="1" dirty="0">
                <a:solidFill>
                  <a:srgbClr val="B83232"/>
                </a:solidFill>
                <a:latin typeface="Arial" pitchFamily="34" charset="0"/>
                <a:ea typeface="Arial" pitchFamily="34" charset="-122"/>
                <a:cs typeface="Arial" pitchFamily="34" charset="-120"/>
              </a:rPr>
              <a:t>b4-temporal, sin el prechequeo del plan: </a:t>
            </a:r>
            <a:pPr indent="0" marL="0">
              <a:buNone/>
            </a:pPr>
            <a:r>
              <a:rPr lang="en-US" sz="900" dirty="0">
                <a:solidFill>
                  <a:srgbClr val="1E2B37"/>
                </a:solidFill>
                <a:latin typeface="Arial" pitchFamily="34" charset="0"/>
                <a:ea typeface="Arial" pitchFamily="34" charset="-122"/>
                <a:cs typeface="Arial" pitchFamily="34" charset="-120"/>
              </a:rPr>
              <a:t>la mascota muere en 2005 y lleva los anillos en la boda de 2008. lean_chronology falla en noAfterExit, señalando evento, fecha y capítulo.</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3931920" cy="914400"/>
        </p:xfrm>
        <a:graphic>
          <a:graphicData uri="http://schemas.openxmlformats.org/drawingml/2006/table">
            <a:tbl>
              <a:tblPr/>
              <a:tblGrid>
                <a:gridCol w="2011680"/>
                <a:gridCol w="1920240"/>
              </a:tblGrid>
              <a:tr h="274320">
                <a:tc>
                  <a:txBody>
                    <a:bodyPr/>
                    <a:lstStyle/>
                    <a:p>
                      <a:pPr indent="0" marL="0">
                        <a:buNone/>
                      </a:pPr>
                      <a:r>
                        <a:rPr lang="en-US" sz="850" b="1" dirty="0">
                          <a:solidFill>
                            <a:srgbClr val="FFFFFF"/>
                          </a:solidFill>
                          <a:latin typeface="Arial" pitchFamily="34" charset="0"/>
                          <a:ea typeface="Arial" pitchFamily="34" charset="-122"/>
                          <a:cs typeface="Arial" pitchFamily="34" charset="-120"/>
                        </a:rPr>
                        <a:t>Validador</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¿Lo vio?</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r>
              <a:tr h="274320">
                <a:tc>
                  <a:txBody>
                    <a:bodyPr/>
                    <a:lstStyle/>
                    <a:p>
                      <a:pPr indent="0" marL="0">
                        <a:buNone/>
                      </a:pPr>
                      <a:r>
                        <a:rPr lang="en-US" sz="850" dirty="0">
                          <a:solidFill>
                            <a:srgbClr val="1E2B37"/>
                          </a:solidFill>
                          <a:latin typeface="Courier New" pitchFamily="34" charset="0"/>
                          <a:ea typeface="Courier New" pitchFamily="34" charset="-122"/>
                          <a:cs typeface="Courier New" pitchFamily="34" charset="-120"/>
                        </a:rPr>
                        <a:t>lean_chronology</a:t>
                      </a:r>
                      <a:endParaRPr lang="en-US" sz="8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794A"/>
                          </a:solidFill>
                          <a:latin typeface="Arial" pitchFamily="34" charset="0"/>
                          <a:ea typeface="Arial" pitchFamily="34" charset="-122"/>
                          <a:cs typeface="Arial" pitchFamily="34" charset="-120"/>
                        </a:rPr>
                        <a:t>Sí · noAfterExit</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74320">
                <a:tc>
                  <a:txBody>
                    <a:bodyPr/>
                    <a:lstStyle/>
                    <a:p>
                      <a:pPr indent="0" marL="0">
                        <a:buNone/>
                      </a:pPr>
                      <a:r>
                        <a:rPr lang="en-US" sz="850" dirty="0">
                          <a:solidFill>
                            <a:srgbClr val="1E2B37"/>
                          </a:solidFill>
                          <a:latin typeface="Courier New" pitchFamily="34" charset="0"/>
                          <a:ea typeface="Courier New" pitchFamily="34" charset="-122"/>
                          <a:cs typeface="Courier New" pitchFamily="34" charset="-120"/>
                        </a:rPr>
                        <a:t>judge_novel</a:t>
                      </a:r>
                      <a:endParaRPr lang="en-US" sz="8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16794A"/>
                          </a:solidFill>
                          <a:latin typeface="Arial" pitchFamily="34" charset="0"/>
                          <a:ea typeface="Arial" pitchFamily="34" charset="-122"/>
                          <a:cs typeface="Arial" pitchFamily="34" charset="-120"/>
                        </a:rPr>
                        <a:t>Sí · continuidad 2/5</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74320">
                <a:tc>
                  <a:txBody>
                    <a:bodyPr/>
                    <a:lstStyle/>
                    <a:p>
                      <a:pPr indent="0" marL="0">
                        <a:buNone/>
                      </a:pPr>
                      <a:r>
                        <a:rPr lang="en-US" sz="850" dirty="0">
                          <a:solidFill>
                            <a:srgbClr val="1E2B37"/>
                          </a:solidFill>
                          <a:latin typeface="Courier New" pitchFamily="34" charset="0"/>
                          <a:ea typeface="Courier New" pitchFamily="34" charset="-122"/>
                          <a:cs typeface="Courier New" pitchFamily="34" charset="-120"/>
                        </a:rPr>
                        <a:t>judge_chapter</a:t>
                      </a:r>
                      <a:endParaRPr lang="en-US" sz="8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3232"/>
                          </a:solidFill>
                          <a:latin typeface="Arial" pitchFamily="34" charset="0"/>
                          <a:ea typeface="Arial" pitchFamily="34" charset="-122"/>
                          <a:cs typeface="Arial" pitchFamily="34" charset="-120"/>
                        </a:rPr>
                        <a:t>No · aprobó el capítulo</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74320">
                <a:tc>
                  <a:txBody>
                    <a:bodyPr/>
                    <a:lstStyle/>
                    <a:p>
                      <a:pPr indent="0" marL="0">
                        <a:buNone/>
                      </a:pPr>
                      <a:r>
                        <a:rPr lang="en-US" sz="850" dirty="0">
                          <a:solidFill>
                            <a:srgbClr val="1E2B37"/>
                          </a:solidFill>
                          <a:latin typeface="Arial" pitchFamily="34" charset="0"/>
                          <a:ea typeface="Arial" pitchFamily="34" charset="-122"/>
                          <a:cs typeface="Arial" pitchFamily="34" charset="-120"/>
                        </a:rPr>
                        <a:t>6 validadores programáticos</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B83232"/>
                          </a:solidFill>
                          <a:latin typeface="Arial" pitchFamily="34" charset="0"/>
                          <a:ea typeface="Arial" pitchFamily="34" charset="-122"/>
                          <a:cs typeface="Arial" pitchFamily="34" charset="-120"/>
                        </a:rPr>
                        <a:t>No</a:t>
                      </a:r>
                      <a:endParaRPr lang="en-US" sz="8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bl>
          </a:graphicData>
        </a:graphic>
      </p:graphicFrame>
      <p:sp>
        <p:nvSpPr>
          <p:cNvPr id="12" name="Text 7"/>
          <p:cNvSpPr txBox="1"/>
          <p:nvPr/>
        </p:nvSpPr>
        <p:spPr>
          <a:xfrm>
            <a:off x="457200" y="3794760"/>
            <a:ext cx="3931920" cy="548640"/>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4 invariantes: temporalOrder · agesCoherent · noBilocation · noAfterExit. Corre en pre_publish (lake build) y sobre el plan antes de escribir (~0,12 USD frente a ~1,3 USD de una novela).</a:t>
            </a:r>
            <a:endParaRPr lang="en-US" sz="850" dirty="0"/>
          </a:p>
        </p:txBody>
      </p:sp>
      <p:sp>
        <p:nvSpPr>
          <p:cNvPr id="13" name="Text 8"/>
          <p:cNvSpPr txBox="1"/>
          <p:nvPr/>
        </p:nvSpPr>
        <p:spPr>
          <a:xfrm>
            <a:off x="4754880" y="1188720"/>
            <a:ext cx="3931920" cy="256032"/>
          </a:xfrm>
          <a:prstGeom prst="rect">
            <a:avLst/>
          </a:prstGeom>
          <a:noFill/>
          <a:ln/>
        </p:spPr>
        <p:txBody>
          <a:bodyPr wrap="square" lIns="0" tIns="0" rIns="0" bIns="0" rtlCol="0" anchor="t"/>
          <a:lstStyle/>
          <a:p>
            <a:pPr indent="0" marL="0">
              <a:buNone/>
            </a:pPr>
            <a:r>
              <a:rPr lang="en-US" sz="1200" b="1" dirty="0">
                <a:solidFill>
                  <a:srgbClr val="1E2B37"/>
                </a:solidFill>
                <a:latin typeface="Arial" pitchFamily="34" charset="0"/>
                <a:ea typeface="Arial" pitchFamily="34" charset="-122"/>
                <a:cs typeface="Arial" pitchFamily="34" charset="-120"/>
              </a:rPr>
              <a:t>Propiedades verificadas con TLC</a:t>
            </a:r>
            <a:endParaRPr lang="en-US" sz="12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754880" y="1508760"/>
          <a:ext cx="3931920" cy="914400"/>
        </p:xfrm>
        <a:graphic>
          <a:graphicData uri="http://schemas.openxmlformats.org/drawingml/2006/table">
            <a:tbl>
              <a:tblPr/>
              <a:tblGrid>
                <a:gridCol w="1554480"/>
                <a:gridCol w="2377440"/>
              </a:tblGrid>
              <a:tr h="292608">
                <a:tc>
                  <a:txBody>
                    <a:bodyPr/>
                    <a:lstStyle/>
                    <a:p>
                      <a:pPr indent="0" marL="0">
                        <a:buNone/>
                      </a:pPr>
                      <a:r>
                        <a:rPr lang="en-US" sz="800" b="1" dirty="0">
                          <a:solidFill>
                            <a:srgbClr val="FFFFFF"/>
                          </a:solidFill>
                          <a:latin typeface="Arial" pitchFamily="34" charset="0"/>
                          <a:ea typeface="Arial" pitchFamily="34" charset="-122"/>
                          <a:cs typeface="Arial" pitchFamily="34" charset="-120"/>
                        </a:rPr>
                        <a:t>Propiedad</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Garantiza</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r>
              <a:tr h="292608">
                <a:tc>
                  <a:txBody>
                    <a:bodyPr/>
                    <a:lstStyle/>
                    <a:p>
                      <a:pPr indent="0" marL="0">
                        <a:buNone/>
                      </a:pPr>
                      <a:r>
                        <a:rPr lang="en-US" sz="750" dirty="0">
                          <a:solidFill>
                            <a:srgbClr val="1E2B37"/>
                          </a:solidFill>
                          <a:latin typeface="Courier New" pitchFamily="34" charset="0"/>
                          <a:ea typeface="Courier New" pitchFamily="34" charset="-122"/>
                          <a:cs typeface="Courier New" pitchFamily="34" charset="-120"/>
                        </a:rPr>
                        <a:t>NoUnvalidatedPublish</a:t>
                      </a:r>
                      <a:endParaRPr lang="en-US" sz="7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no se publica nada que no pasó todos los validadores</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92608">
                <a:tc>
                  <a:txBody>
                    <a:bodyPr/>
                    <a:lstStyle/>
                    <a:p>
                      <a:pPr indent="0" marL="0">
                        <a:buNone/>
                      </a:pPr>
                      <a:r>
                        <a:rPr lang="en-US" sz="750" dirty="0">
                          <a:solidFill>
                            <a:srgbClr val="1E2B37"/>
                          </a:solidFill>
                          <a:latin typeface="Courier New" pitchFamily="34" charset="0"/>
                          <a:ea typeface="Courier New" pitchFamily="34" charset="-122"/>
                          <a:cs typeface="Courier New" pitchFamily="34" charset="-120"/>
                        </a:rPr>
                        <a:t>ResumeNoDupNoLoss</a:t>
                      </a:r>
                      <a:endParaRPr lang="en-US" sz="7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reanudar tras un crash no duplica ni pierde capítulos</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92608">
                <a:tc>
                  <a:txBody>
                    <a:bodyPr/>
                    <a:lstStyle/>
                    <a:p>
                      <a:pPr indent="0" marL="0">
                        <a:buNone/>
                      </a:pPr>
                      <a:r>
                        <a:rPr lang="en-US" sz="750" dirty="0">
                          <a:solidFill>
                            <a:srgbClr val="1E2B37"/>
                          </a:solidFill>
                          <a:latin typeface="Courier New" pitchFamily="34" charset="0"/>
                          <a:ea typeface="Courier New" pitchFamily="34" charset="-122"/>
                          <a:cs typeface="Courier New" pitchFamily="34" charset="-120"/>
                        </a:rPr>
                        <a:t>PreviousVersionKept</a:t>
                      </a:r>
                      <a:endParaRPr lang="en-US" sz="7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la versión publicada anterior no cambia</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92608">
                <a:tc>
                  <a:txBody>
                    <a:bodyPr/>
                    <a:lstStyle/>
                    <a:p>
                      <a:pPr indent="0" marL="0">
                        <a:buNone/>
                      </a:pPr>
                      <a:r>
                        <a:rPr lang="en-US" sz="750" dirty="0">
                          <a:solidFill>
                            <a:srgbClr val="1E2B37"/>
                          </a:solidFill>
                          <a:latin typeface="Courier New" pitchFamily="34" charset="0"/>
                          <a:ea typeface="Courier New" pitchFamily="34" charset="-122"/>
                          <a:cs typeface="Courier New" pitchFamily="34" charset="-120"/>
                        </a:rPr>
                        <a:t>RetriesBounded</a:t>
                      </a:r>
                      <a:endParaRPr lang="en-US" sz="7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reintentos acotados, también tras un crash</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92608">
                <a:tc>
                  <a:txBody>
                    <a:bodyPr/>
                    <a:lstStyle/>
                    <a:p>
                      <a:pPr indent="0" marL="0">
                        <a:buNone/>
                      </a:pPr>
                      <a:r>
                        <a:rPr lang="en-US" sz="750" dirty="0">
                          <a:solidFill>
                            <a:srgbClr val="1E2B37"/>
                          </a:solidFill>
                          <a:latin typeface="Courier New" pitchFamily="34" charset="0"/>
                          <a:ea typeface="Courier New" pitchFamily="34" charset="-122"/>
                          <a:cs typeface="Courier New" pitchFamily="34" charset="-120"/>
                        </a:rPr>
                        <a:t>EveryGenerationEnds</a:t>
                      </a:r>
                      <a:endParaRPr lang="en-US" sz="75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liveness: acaba publicada o en error</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bl>
          </a:graphicData>
        </a:graphic>
      </p:graphicFrame>
      <p:sp>
        <p:nvSpPr>
          <p:cNvPr id="15" name="Shape 9"/>
          <p:cNvSpPr/>
          <p:nvPr/>
        </p:nvSpPr>
        <p:spPr>
          <a:xfrm>
            <a:off x="4754880" y="3401568"/>
            <a:ext cx="3931920" cy="960120"/>
          </a:xfrm>
          <a:prstGeom prst="roundRect">
            <a:avLst>
              <a:gd name="adj" fmla="val 7619"/>
            </a:avLst>
          </a:prstGeom>
          <a:solidFill>
            <a:srgbClr val="1E2B37"/>
          </a:solidFill>
          <a:ln/>
        </p:spPr>
      </p:sp>
      <p:sp>
        <p:nvSpPr>
          <p:cNvPr id="16" name="Text 10"/>
          <p:cNvSpPr txBox="1"/>
          <p:nvPr/>
        </p:nvSpPr>
        <p:spPr>
          <a:xfrm>
            <a:off x="4892040" y="3456432"/>
            <a:ext cx="201168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5.492.531</a:t>
            </a:r>
            <a:endParaRPr lang="en-US" sz="2400" dirty="0"/>
          </a:p>
        </p:txBody>
      </p:sp>
      <p:sp>
        <p:nvSpPr>
          <p:cNvPr id="17" name="Text 11"/>
          <p:cNvSpPr txBox="1"/>
          <p:nvPr/>
        </p:nvSpPr>
        <p:spPr>
          <a:xfrm>
            <a:off x="4892040" y="3913632"/>
            <a:ext cx="2011680" cy="365760"/>
          </a:xfrm>
          <a:prstGeom prst="rect">
            <a:avLst/>
          </a:prstGeom>
          <a:noFill/>
          <a:ln/>
        </p:spPr>
        <p:txBody>
          <a:bodyPr wrap="square" lIns="0" tIns="0" rIns="0" bIns="0" rtlCol="0" anchor="t"/>
          <a:lstStyle/>
          <a:p>
            <a:pPr indent="0" marL="0">
              <a:buNone/>
            </a:pPr>
            <a:r>
              <a:rPr lang="en-US" sz="850" dirty="0">
                <a:solidFill>
                  <a:srgbClr val="C9D1D9"/>
                </a:solidFill>
                <a:latin typeface="Arial" pitchFamily="34" charset="0"/>
                <a:ea typeface="Arial" pitchFamily="34" charset="-122"/>
                <a:cs typeface="Arial" pitchFamily="34" charset="-120"/>
              </a:rPr>
              <a:t>estados distintos, sin errores</a:t>
            </a:r>
            <a:endParaRPr lang="en-US" sz="850" dirty="0"/>
          </a:p>
        </p:txBody>
      </p:sp>
      <p:sp>
        <p:nvSpPr>
          <p:cNvPr id="18" name="Text 12"/>
          <p:cNvSpPr txBox="1"/>
          <p:nvPr/>
        </p:nvSpPr>
        <p:spPr>
          <a:xfrm>
            <a:off x="6903720" y="3474720"/>
            <a:ext cx="1691640" cy="868680"/>
          </a:xfrm>
          <a:prstGeom prst="rect">
            <a:avLst/>
          </a:prstGeom>
          <a:noFill/>
          <a:ln/>
        </p:spPr>
        <p:txBody>
          <a:bodyPr wrap="square" lIns="0" tIns="0" rIns="0" bIns="0" rtlCol="0" anchor="t"/>
          <a:lstStyle/>
          <a:p>
            <a:pPr indent="0" marL="0">
              <a:buNone/>
            </a:pPr>
            <a:r>
              <a:rPr lang="en-US" sz="750" dirty="0">
                <a:solidFill>
                  <a:srgbClr val="C9D1D9"/>
                </a:solidFill>
                <a:latin typeface="Arial" pitchFamily="34" charset="0"/>
                <a:ea typeface="Arial" pitchFamily="34" charset="-122"/>
                <a:cs typeface="Arial" pitchFamily="34" charset="-120"/>
              </a:rPr>
              <a:t>N = 5 capítulos · 3 escenas · reintentos 2/2 · reparación 2 · profundidad 127 · 8 min 17 s. Antes, 4 contraejemplos (CE1–CE4) cambiaron el diseño.</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VALIDACIÓN · 4/4 · OBSERVABILIDAD</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Una traza real en Langfuse</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9</a:t>
            </a:r>
            <a:endParaRPr lang="en-US" sz="750" dirty="0"/>
          </a:p>
        </p:txBody>
      </p:sp>
      <p:sp>
        <p:nvSpPr>
          <p:cNvPr id="8" name="Shape 4"/>
          <p:cNvSpPr/>
          <p:nvPr/>
        </p:nvSpPr>
        <p:spPr>
          <a:xfrm>
            <a:off x="457200" y="1188720"/>
            <a:ext cx="4800600" cy="3148385"/>
          </a:xfrm>
          <a:prstGeom prst="roundRect">
            <a:avLst>
              <a:gd name="adj" fmla="val 2323"/>
            </a:avLst>
          </a:prstGeom>
          <a:solidFill>
            <a:srgbClr val="FFFFFF"/>
          </a:solidFill>
          <a:ln/>
        </p:spPr>
      </p:sp>
      <p:pic>
        <p:nvPicPr>
          <p:cNvPr id="9" name="Image 2" descr="/home/user/My-Story-Marker/presentacion/build/img2/langfuse-trace.png">    </p:cNvPr>
          <p:cNvPicPr>
            <a:picLocks noChangeAspect="1"/>
          </p:cNvPicPr>
          <p:nvPr/>
        </p:nvPicPr>
        <p:blipFill>
          <a:blip r:embed="rId3"/>
          <a:stretch>
            <a:fillRect/>
          </a:stretch>
        </p:blipFill>
        <p:spPr>
          <a:xfrm>
            <a:off x="493776" y="1225296"/>
            <a:ext cx="4727448" cy="3075233"/>
          </a:xfrm>
          <a:prstGeom prst="rect">
            <a:avLst/>
          </a:prstGeom>
        </p:spPr>
      </p:pic>
      <p:sp>
        <p:nvSpPr>
          <p:cNvPr id="10" name="Text 5"/>
          <p:cNvSpPr txBox="1"/>
          <p:nvPr/>
        </p:nvSpPr>
        <p:spPr>
          <a:xfrm>
            <a:off x="457200" y="4391969"/>
            <a:ext cx="4800600" cy="182880"/>
          </a:xfrm>
          <a:prstGeom prst="rect">
            <a:avLst/>
          </a:prstGeom>
          <a:noFill/>
          <a:ln/>
        </p:spPr>
        <p:txBody>
          <a:bodyPr wrap="square" lIns="0" tIns="0" rIns="0" bIns="0" rtlCol="0" anchor="t"/>
          <a:lstStyle/>
          <a:p>
            <a:pPr indent="0" marL="0">
              <a:buNone/>
            </a:pPr>
            <a:r>
              <a:rPr lang="en-US" sz="700" i="1" dirty="0">
                <a:solidFill>
                  <a:srgbClr val="5E6A77"/>
                </a:solidFill>
                <a:latin typeface="Arial" pitchFamily="34" charset="0"/>
                <a:ea typeface="Arial" pitchFamily="34" charset="-122"/>
                <a:cs typeface="Arial" pitchFamily="34" charset="-120"/>
              </a:rPr>
              <a:t>Captura real de Langfuse: spans por fase, capítulo, rol, tool y validador. 9 min 42 s · 0,43 USD · 155.212 tokens.</a:t>
            </a:r>
            <a:endParaRPr lang="en-US" sz="700" dirty="0"/>
          </a:p>
        </p:txBody>
      </p:sp>
      <p:sp>
        <p:nvSpPr>
          <p:cNvPr id="11" name="Text 6"/>
          <p:cNvSpPr txBox="1"/>
          <p:nvPr/>
        </p:nvSpPr>
        <p:spPr>
          <a:xfrm>
            <a:off x="5806440" y="1188720"/>
            <a:ext cx="2834640" cy="228600"/>
          </a:xfrm>
          <a:prstGeom prst="rect">
            <a:avLst/>
          </a:prstGeom>
          <a:noFill/>
          <a:ln/>
        </p:spPr>
        <p:txBody>
          <a:bodyPr wrap="square" lIns="0" tIns="0" rIns="0" bIns="0" rtlCol="0" anchor="t"/>
          <a:lstStyle/>
          <a:p>
            <a:pPr indent="0" marL="0">
              <a:buNone/>
            </a:pPr>
            <a:r>
              <a:rPr lang="en-US" sz="1100" b="1" dirty="0">
                <a:solidFill>
                  <a:srgbClr val="1E2B37"/>
                </a:solidFill>
                <a:latin typeface="Arial" pitchFamily="34" charset="0"/>
                <a:ea typeface="Arial" pitchFamily="34" charset="-122"/>
                <a:cs typeface="Arial" pitchFamily="34" charset="-120"/>
              </a:rPr>
              <a:t>Scores (brief de inyección)</a:t>
            </a:r>
            <a:endParaRPr lang="en-US" sz="1100" dirty="0"/>
          </a:p>
        </p:txBody>
      </p:sp>
      <p:sp>
        <p:nvSpPr>
          <p:cNvPr id="12" name="Text 7"/>
          <p:cNvSpPr txBox="1"/>
          <p:nvPr/>
        </p:nvSpPr>
        <p:spPr>
          <a:xfrm>
            <a:off x="5806440" y="1481328"/>
            <a:ext cx="1600200" cy="274320"/>
          </a:xfrm>
          <a:prstGeom prst="rect">
            <a:avLst/>
          </a:prstGeom>
          <a:noFill/>
          <a:ln/>
        </p:spPr>
        <p:txBody>
          <a:bodyPr wrap="square" lIns="0" tIns="0" rIns="0" bIns="0" rtlCol="0" anchor="ctr"/>
          <a:lstStyle/>
          <a:p>
            <a:pPr indent="0" marL="0">
              <a:buNone/>
            </a:pPr>
            <a:r>
              <a:rPr lang="en-US" sz="750" dirty="0">
                <a:solidFill>
                  <a:srgbClr val="1E2B37"/>
                </a:solidFill>
                <a:latin typeface="Courier New" pitchFamily="34" charset="0"/>
                <a:ea typeface="Courier New" pitchFamily="34" charset="-122"/>
                <a:cs typeface="Courier New" pitchFamily="34" charset="-120"/>
              </a:rPr>
              <a:t>free_text_injection</a:t>
            </a:r>
            <a:endParaRPr lang="en-US" sz="750" dirty="0"/>
          </a:p>
        </p:txBody>
      </p:sp>
      <p:sp>
        <p:nvSpPr>
          <p:cNvPr id="13" name="Shape 8"/>
          <p:cNvSpPr/>
          <p:nvPr/>
        </p:nvSpPr>
        <p:spPr>
          <a:xfrm>
            <a:off x="7406640" y="1508760"/>
            <a:ext cx="1280160" cy="219456"/>
          </a:xfrm>
          <a:prstGeom prst="roundRect">
            <a:avLst>
              <a:gd name="adj" fmla="val 50000"/>
            </a:avLst>
          </a:prstGeom>
          <a:solidFill>
            <a:srgbClr val="FFE9DC"/>
          </a:solidFill>
          <a:ln/>
        </p:spPr>
      </p:sp>
      <p:sp>
        <p:nvSpPr>
          <p:cNvPr id="14" name="Text 9"/>
          <p:cNvSpPr txBox="1"/>
          <p:nvPr/>
        </p:nvSpPr>
        <p:spPr>
          <a:xfrm>
            <a:off x="7452360" y="1508760"/>
            <a:ext cx="1188720" cy="219456"/>
          </a:xfrm>
          <a:prstGeom prst="rect">
            <a:avLst/>
          </a:prstGeom>
          <a:noFill/>
          <a:ln/>
        </p:spPr>
        <p:txBody>
          <a:bodyPr wrap="square" lIns="0" tIns="0" rIns="0" bIns="0" rtlCol="0" anchor="ctr"/>
          <a:lstStyle/>
          <a:p>
            <a:pPr algn="ctr" indent="0" marL="0">
              <a:buNone/>
            </a:pPr>
            <a:r>
              <a:rPr lang="en-US" sz="700" b="1" dirty="0">
                <a:solidFill>
                  <a:srgbClr val="AE4E14"/>
                </a:solidFill>
                <a:latin typeface="Arial" pitchFamily="34" charset="0"/>
                <a:ea typeface="Arial" pitchFamily="34" charset="-122"/>
                <a:cs typeface="Arial" pitchFamily="34" charset="-120"/>
              </a:rPr>
              <a:t>flagged ×2 (prescan + modelo)</a:t>
            </a:r>
            <a:endParaRPr lang="en-US" sz="700" dirty="0"/>
          </a:p>
        </p:txBody>
      </p:sp>
      <p:sp>
        <p:nvSpPr>
          <p:cNvPr id="15" name="Text 10"/>
          <p:cNvSpPr txBox="1"/>
          <p:nvPr/>
        </p:nvSpPr>
        <p:spPr>
          <a:xfrm>
            <a:off x="5806440" y="1810512"/>
            <a:ext cx="1600200" cy="274320"/>
          </a:xfrm>
          <a:prstGeom prst="rect">
            <a:avLst/>
          </a:prstGeom>
          <a:noFill/>
          <a:ln/>
        </p:spPr>
        <p:txBody>
          <a:bodyPr wrap="square" lIns="0" tIns="0" rIns="0" bIns="0" rtlCol="0" anchor="ctr"/>
          <a:lstStyle/>
          <a:p>
            <a:pPr indent="0" marL="0">
              <a:buNone/>
            </a:pPr>
            <a:r>
              <a:rPr lang="en-US" sz="750" dirty="0">
                <a:solidFill>
                  <a:srgbClr val="1E2B37"/>
                </a:solidFill>
                <a:latin typeface="Courier New" pitchFamily="34" charset="0"/>
                <a:ea typeface="Courier New" pitchFamily="34" charset="-122"/>
                <a:cs typeface="Courier New" pitchFamily="34" charset="-120"/>
              </a:rPr>
              <a:t>forbidden_words_scene</a:t>
            </a:r>
            <a:endParaRPr lang="en-US" sz="750" dirty="0"/>
          </a:p>
        </p:txBody>
      </p:sp>
      <p:sp>
        <p:nvSpPr>
          <p:cNvPr id="16" name="Shape 11"/>
          <p:cNvSpPr/>
          <p:nvPr/>
        </p:nvSpPr>
        <p:spPr>
          <a:xfrm>
            <a:off x="7406640" y="1837944"/>
            <a:ext cx="1280160" cy="219456"/>
          </a:xfrm>
          <a:prstGeom prst="roundRect">
            <a:avLst>
              <a:gd name="adj" fmla="val 50000"/>
            </a:avLst>
          </a:prstGeom>
          <a:solidFill>
            <a:srgbClr val="E4F5EA"/>
          </a:solidFill>
          <a:ln/>
        </p:spPr>
      </p:sp>
      <p:sp>
        <p:nvSpPr>
          <p:cNvPr id="17" name="Text 12"/>
          <p:cNvSpPr txBox="1"/>
          <p:nvPr/>
        </p:nvSpPr>
        <p:spPr>
          <a:xfrm>
            <a:off x="7452360" y="1837944"/>
            <a:ext cx="1188720" cy="219456"/>
          </a:xfrm>
          <a:prstGeom prst="rect">
            <a:avLst/>
          </a:prstGeom>
          <a:noFill/>
          <a:ln/>
        </p:spPr>
        <p:txBody>
          <a:bodyPr wrap="square" lIns="0" tIns="0" rIns="0" bIns="0" rtlCol="0" anchor="ctr"/>
          <a:lstStyle/>
          <a:p>
            <a:pPr algn="ctr" indent="0" marL="0">
              <a:buNone/>
            </a:pPr>
            <a:r>
              <a:rPr lang="en-US" sz="700" b="1" dirty="0">
                <a:solidFill>
                  <a:srgbClr val="16794A"/>
                </a:solidFill>
                <a:latin typeface="Arial" pitchFamily="34" charset="0"/>
                <a:ea typeface="Arial" pitchFamily="34" charset="-122"/>
                <a:cs typeface="Arial" pitchFamily="34" charset="-120"/>
              </a:rPr>
              <a:t>9/9 · 1,0</a:t>
            </a:r>
            <a:endParaRPr lang="en-US" sz="700" dirty="0"/>
          </a:p>
        </p:txBody>
      </p:sp>
      <p:sp>
        <p:nvSpPr>
          <p:cNvPr id="18" name="Text 13"/>
          <p:cNvSpPr txBox="1"/>
          <p:nvPr/>
        </p:nvSpPr>
        <p:spPr>
          <a:xfrm>
            <a:off x="5806440" y="2139696"/>
            <a:ext cx="1600200" cy="274320"/>
          </a:xfrm>
          <a:prstGeom prst="rect">
            <a:avLst/>
          </a:prstGeom>
          <a:noFill/>
          <a:ln/>
        </p:spPr>
        <p:txBody>
          <a:bodyPr wrap="square" lIns="0" tIns="0" rIns="0" bIns="0" rtlCol="0" anchor="ctr"/>
          <a:lstStyle/>
          <a:p>
            <a:pPr indent="0" marL="0">
              <a:buNone/>
            </a:pPr>
            <a:r>
              <a:rPr lang="en-US" sz="750" dirty="0">
                <a:solidFill>
                  <a:srgbClr val="1E2B37"/>
                </a:solidFill>
                <a:latin typeface="Courier New" pitchFamily="34" charset="0"/>
                <a:ea typeface="Courier New" pitchFamily="34" charset="-122"/>
                <a:cs typeface="Courier New" pitchFamily="34" charset="-120"/>
              </a:rPr>
              <a:t>prose_repetition</a:t>
            </a:r>
            <a:endParaRPr lang="en-US" sz="750" dirty="0"/>
          </a:p>
        </p:txBody>
      </p:sp>
      <p:sp>
        <p:nvSpPr>
          <p:cNvPr id="19" name="Shape 14"/>
          <p:cNvSpPr/>
          <p:nvPr/>
        </p:nvSpPr>
        <p:spPr>
          <a:xfrm>
            <a:off x="7406640" y="2167128"/>
            <a:ext cx="1280160" cy="219456"/>
          </a:xfrm>
          <a:prstGeom prst="roundRect">
            <a:avLst>
              <a:gd name="adj" fmla="val 50000"/>
            </a:avLst>
          </a:prstGeom>
          <a:solidFill>
            <a:srgbClr val="E4F5EA"/>
          </a:solidFill>
          <a:ln/>
        </p:spPr>
      </p:sp>
      <p:sp>
        <p:nvSpPr>
          <p:cNvPr id="20" name="Text 15"/>
          <p:cNvSpPr txBox="1"/>
          <p:nvPr/>
        </p:nvSpPr>
        <p:spPr>
          <a:xfrm>
            <a:off x="7452360" y="2167128"/>
            <a:ext cx="1188720" cy="219456"/>
          </a:xfrm>
          <a:prstGeom prst="rect">
            <a:avLst/>
          </a:prstGeom>
          <a:noFill/>
          <a:ln/>
        </p:spPr>
        <p:txBody>
          <a:bodyPr wrap="square" lIns="0" tIns="0" rIns="0" bIns="0" rtlCol="0" anchor="ctr"/>
          <a:lstStyle/>
          <a:p>
            <a:pPr algn="ctr" indent="0" marL="0">
              <a:buNone/>
            </a:pPr>
            <a:r>
              <a:rPr lang="en-US" sz="700" b="1" dirty="0">
                <a:solidFill>
                  <a:srgbClr val="16794A"/>
                </a:solidFill>
                <a:latin typeface="Arial" pitchFamily="34" charset="0"/>
                <a:ea typeface="Arial" pitchFamily="34" charset="-122"/>
                <a:cs typeface="Arial" pitchFamily="34" charset="-120"/>
              </a:rPr>
              <a:t>min 0,8</a:t>
            </a:r>
            <a:endParaRPr lang="en-US" sz="700" dirty="0"/>
          </a:p>
        </p:txBody>
      </p:sp>
      <p:sp>
        <p:nvSpPr>
          <p:cNvPr id="21" name="Text 16"/>
          <p:cNvSpPr txBox="1"/>
          <p:nvPr/>
        </p:nvSpPr>
        <p:spPr>
          <a:xfrm>
            <a:off x="5806440" y="2468880"/>
            <a:ext cx="1600200" cy="274320"/>
          </a:xfrm>
          <a:prstGeom prst="rect">
            <a:avLst/>
          </a:prstGeom>
          <a:noFill/>
          <a:ln/>
        </p:spPr>
        <p:txBody>
          <a:bodyPr wrap="square" lIns="0" tIns="0" rIns="0" bIns="0" rtlCol="0" anchor="ctr"/>
          <a:lstStyle/>
          <a:p>
            <a:pPr indent="0" marL="0">
              <a:buNone/>
            </a:pPr>
            <a:r>
              <a:rPr lang="en-US" sz="750" dirty="0">
                <a:solidFill>
                  <a:srgbClr val="1E2B37"/>
                </a:solidFill>
                <a:latin typeface="Courier New" pitchFamily="34" charset="0"/>
                <a:ea typeface="Courier New" pitchFamily="34" charset="-122"/>
                <a:cs typeface="Courier New" pitchFamily="34" charset="-120"/>
              </a:rPr>
              <a:t>judge_chapter</a:t>
            </a:r>
            <a:endParaRPr lang="en-US" sz="750" dirty="0"/>
          </a:p>
        </p:txBody>
      </p:sp>
      <p:sp>
        <p:nvSpPr>
          <p:cNvPr id="22" name="Shape 17"/>
          <p:cNvSpPr/>
          <p:nvPr/>
        </p:nvSpPr>
        <p:spPr>
          <a:xfrm>
            <a:off x="7406640" y="2496312"/>
            <a:ext cx="1280160" cy="219456"/>
          </a:xfrm>
          <a:prstGeom prst="roundRect">
            <a:avLst>
              <a:gd name="adj" fmla="val 50000"/>
            </a:avLst>
          </a:prstGeom>
          <a:solidFill>
            <a:srgbClr val="E4F5EA"/>
          </a:solidFill>
          <a:ln/>
        </p:spPr>
      </p:sp>
      <p:sp>
        <p:nvSpPr>
          <p:cNvPr id="23" name="Text 18"/>
          <p:cNvSpPr txBox="1"/>
          <p:nvPr/>
        </p:nvSpPr>
        <p:spPr>
          <a:xfrm>
            <a:off x="7452360" y="2496312"/>
            <a:ext cx="1188720" cy="219456"/>
          </a:xfrm>
          <a:prstGeom prst="rect">
            <a:avLst/>
          </a:prstGeom>
          <a:noFill/>
          <a:ln/>
        </p:spPr>
        <p:txBody>
          <a:bodyPr wrap="square" lIns="0" tIns="0" rIns="0" bIns="0" rtlCol="0" anchor="ctr"/>
          <a:lstStyle/>
          <a:p>
            <a:pPr algn="ctr" indent="0" marL="0">
              <a:buNone/>
            </a:pPr>
            <a:r>
              <a:rPr lang="en-US" sz="700" b="1" dirty="0">
                <a:solidFill>
                  <a:srgbClr val="16794A"/>
                </a:solidFill>
                <a:latin typeface="Arial" pitchFamily="34" charset="0"/>
                <a:ea typeface="Arial" pitchFamily="34" charset="-122"/>
                <a:cs typeface="Arial" pitchFamily="34" charset="-120"/>
              </a:rPr>
              <a:t>3/3 · min 0,8</a:t>
            </a:r>
            <a:endParaRPr lang="en-US" sz="700" dirty="0"/>
          </a:p>
        </p:txBody>
      </p:sp>
      <p:sp>
        <p:nvSpPr>
          <p:cNvPr id="24" name="Text 19"/>
          <p:cNvSpPr txBox="1"/>
          <p:nvPr/>
        </p:nvSpPr>
        <p:spPr>
          <a:xfrm>
            <a:off x="5806440" y="2798064"/>
            <a:ext cx="1600200" cy="274320"/>
          </a:xfrm>
          <a:prstGeom prst="rect">
            <a:avLst/>
          </a:prstGeom>
          <a:noFill/>
          <a:ln/>
        </p:spPr>
        <p:txBody>
          <a:bodyPr wrap="square" lIns="0" tIns="0" rIns="0" bIns="0" rtlCol="0" anchor="ctr"/>
          <a:lstStyle/>
          <a:p>
            <a:pPr indent="0" marL="0">
              <a:buNone/>
            </a:pPr>
            <a:r>
              <a:rPr lang="en-US" sz="750" dirty="0">
                <a:solidFill>
                  <a:srgbClr val="1E2B37"/>
                </a:solidFill>
                <a:latin typeface="Courier New" pitchFamily="34" charset="0"/>
                <a:ea typeface="Courier New" pitchFamily="34" charset="-122"/>
                <a:cs typeface="Courier New" pitchFamily="34" charset="-120"/>
              </a:rPr>
              <a:t>judge_novel · lean</a:t>
            </a:r>
            <a:endParaRPr lang="en-US" sz="750" dirty="0"/>
          </a:p>
        </p:txBody>
      </p:sp>
      <p:sp>
        <p:nvSpPr>
          <p:cNvPr id="25" name="Shape 20"/>
          <p:cNvSpPr/>
          <p:nvPr/>
        </p:nvSpPr>
        <p:spPr>
          <a:xfrm>
            <a:off x="7406640" y="2825496"/>
            <a:ext cx="1280160" cy="219456"/>
          </a:xfrm>
          <a:prstGeom prst="roundRect">
            <a:avLst>
              <a:gd name="adj" fmla="val 50000"/>
            </a:avLst>
          </a:prstGeom>
          <a:solidFill>
            <a:srgbClr val="E4F5EA"/>
          </a:solidFill>
          <a:ln/>
        </p:spPr>
      </p:sp>
      <p:sp>
        <p:nvSpPr>
          <p:cNvPr id="26" name="Text 21"/>
          <p:cNvSpPr txBox="1"/>
          <p:nvPr/>
        </p:nvSpPr>
        <p:spPr>
          <a:xfrm>
            <a:off x="7452360" y="2825496"/>
            <a:ext cx="1188720" cy="219456"/>
          </a:xfrm>
          <a:prstGeom prst="rect">
            <a:avLst/>
          </a:prstGeom>
          <a:noFill/>
          <a:ln/>
        </p:spPr>
        <p:txBody>
          <a:bodyPr wrap="square" lIns="0" tIns="0" rIns="0" bIns="0" rtlCol="0" anchor="ctr"/>
          <a:lstStyle/>
          <a:p>
            <a:pPr algn="ctr" indent="0" marL="0">
              <a:buNone/>
            </a:pPr>
            <a:r>
              <a:rPr lang="en-US" sz="700" b="1" dirty="0">
                <a:solidFill>
                  <a:srgbClr val="16794A"/>
                </a:solidFill>
                <a:latin typeface="Arial" pitchFamily="34" charset="0"/>
                <a:ea typeface="Arial" pitchFamily="34" charset="-122"/>
                <a:cs typeface="Arial" pitchFamily="34" charset="-120"/>
              </a:rPr>
              <a:t>aprobada</a:t>
            </a:r>
            <a:endParaRPr lang="en-US" sz="700" dirty="0"/>
          </a:p>
        </p:txBody>
      </p:sp>
      <p:sp>
        <p:nvSpPr>
          <p:cNvPr id="27" name="Text 22"/>
          <p:cNvSpPr txBox="1"/>
          <p:nvPr/>
        </p:nvSpPr>
        <p:spPr>
          <a:xfrm>
            <a:off x="5806440" y="3200400"/>
            <a:ext cx="2834640" cy="228600"/>
          </a:xfrm>
          <a:prstGeom prst="rect">
            <a:avLst/>
          </a:prstGeom>
          <a:noFill/>
          <a:ln/>
        </p:spPr>
        <p:txBody>
          <a:bodyPr wrap="square" lIns="0" tIns="0" rIns="0" bIns="0" rtlCol="0" anchor="t"/>
          <a:lstStyle/>
          <a:p>
            <a:pPr indent="0" marL="0">
              <a:buNone/>
            </a:pPr>
            <a:r>
              <a:rPr lang="en-US" sz="1100" b="1" dirty="0">
                <a:solidFill>
                  <a:srgbClr val="1E2B37"/>
                </a:solidFill>
                <a:latin typeface="Arial" pitchFamily="34" charset="0"/>
                <a:ea typeface="Arial" pitchFamily="34" charset="-122"/>
                <a:cs typeface="Arial" pitchFamily="34" charset="-120"/>
              </a:rPr>
              <a:t>Prompts versionados usados</a:t>
            </a:r>
            <a:endParaRPr lang="en-US" sz="1100" dirty="0"/>
          </a:p>
        </p:txBody>
      </p:sp>
      <p:sp>
        <p:nvSpPr>
          <p:cNvPr id="28" name="Text 23"/>
          <p:cNvSpPr txBox="1"/>
          <p:nvPr/>
        </p:nvSpPr>
        <p:spPr>
          <a:xfrm>
            <a:off x="5806440" y="3456432"/>
            <a:ext cx="2880360" cy="411480"/>
          </a:xfrm>
          <a:prstGeom prst="rect">
            <a:avLst/>
          </a:prstGeom>
          <a:noFill/>
          <a:ln/>
        </p:spPr>
        <p:txBody>
          <a:bodyPr wrap="square" lIns="0" tIns="0" rIns="0" bIns="0" rtlCol="0" anchor="t"/>
          <a:lstStyle/>
          <a:p>
            <a:pPr indent="0" marL="0">
              <a:buNone/>
            </a:pPr>
            <a:r>
              <a:rPr lang="en-US" sz="800" dirty="0">
                <a:solidFill>
                  <a:srgbClr val="3D4A56"/>
                </a:solidFill>
                <a:latin typeface="Courier New" pitchFamily="34" charset="0"/>
                <a:ea typeface="Courier New" pitchFamily="34" charset="-122"/>
                <a:cs typeface="Courier New" pitchFamily="34" charset="-120"/>
              </a:rPr>
              <a:t>editor v4 · judge_chapter v2 · judge_novel v2 · planner v4 · writer v4</a:t>
            </a:r>
            <a:endParaRPr lang="en-US" sz="800" dirty="0"/>
          </a:p>
        </p:txBody>
      </p:sp>
      <p:sp>
        <p:nvSpPr>
          <p:cNvPr id="29" name="Text 24"/>
          <p:cNvSpPr txBox="1"/>
          <p:nvPr/>
        </p:nvSpPr>
        <p:spPr>
          <a:xfrm>
            <a:off x="5806440" y="3913632"/>
            <a:ext cx="2880360" cy="685800"/>
          </a:xfrm>
          <a:prstGeom prst="rect">
            <a:avLst/>
          </a:prstGeom>
          <a:noFill/>
          <a:ln/>
        </p:spPr>
        <p:txBody>
          <a:bodyPr wrap="square" lIns="0" tIns="0" rIns="0" bIns="0" rtlCol="0" anchor="t"/>
          <a:lstStyle/>
          <a:p>
            <a:pPr indent="0" marL="0">
              <a:buNone/>
            </a:pPr>
            <a:r>
              <a:rPr lang="en-US" sz="700" i="1" dirty="0">
                <a:solidFill>
                  <a:srgbClr val="5E6A77"/>
                </a:solidFill>
                <a:latin typeface="Arial" pitchFamily="34" charset="0"/>
                <a:ea typeface="Arial" pitchFamily="34" charset="-122"/>
                <a:cs typeface="Arial" pitchFamily="34" charset="-120"/>
              </a:rPr>
              <a:t>Tokens: 4022 de entrada · 167.449 de salida · 141.307 de caché. Datos de llm_call (evals/results/after/b3-injection.json), la misma instrumentación que envía spans y scores a Langfuse.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GUARDRAILS</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Reglas que se cumplen aunque el modelo no quiera</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10</a:t>
            </a:r>
            <a:endParaRPr lang="en-US" sz="750" dirty="0"/>
          </a:p>
        </p:txBody>
      </p:sp>
      <p:sp>
        <p:nvSpPr>
          <p:cNvPr id="8" name="Text 4"/>
          <p:cNvSpPr txBox="1"/>
          <p:nvPr/>
        </p:nvSpPr>
        <p:spPr>
          <a:xfrm>
            <a:off x="457200" y="1188720"/>
            <a:ext cx="8229600" cy="237744"/>
          </a:xfrm>
          <a:prstGeom prst="rect">
            <a:avLst/>
          </a:prstGeom>
          <a:noFill/>
          <a:ln/>
        </p:spPr>
        <p:txBody>
          <a:bodyPr wrap="square" lIns="0" tIns="0" rIns="0" bIns="0" rtlCol="0" anchor="t"/>
          <a:lstStyle/>
          <a:p>
            <a:pPr indent="0" marL="0">
              <a:buNone/>
            </a:pPr>
            <a:r>
              <a:rPr lang="en-US" sz="1150" b="1" dirty="0">
                <a:solidFill>
                  <a:srgbClr val="1E2B37"/>
                </a:solidFill>
                <a:latin typeface="Arial" pitchFamily="34" charset="0"/>
                <a:ea typeface="Arial" pitchFamily="34" charset="-122"/>
                <a:cs typeface="Arial" pitchFamily="34" charset="-120"/>
              </a:rPr>
              <a:t>Palabras prohibidas: detección y reescritura</a:t>
            </a:r>
            <a:endParaRPr lang="en-US" sz="1150" dirty="0"/>
          </a:p>
        </p:txBody>
      </p:sp>
      <p:sp>
        <p:nvSpPr>
          <p:cNvPr id="9" name="Shape 5"/>
          <p:cNvSpPr/>
          <p:nvPr/>
        </p:nvSpPr>
        <p:spPr>
          <a:xfrm>
            <a:off x="457200" y="1481328"/>
            <a:ext cx="1874520" cy="658368"/>
          </a:xfrm>
          <a:prstGeom prst="roundRect">
            <a:avLst>
              <a:gd name="adj" fmla="val 11111"/>
            </a:avLst>
          </a:prstGeom>
          <a:solidFill>
            <a:srgbClr val="F7F8FA"/>
          </a:solidFill>
          <a:ln/>
        </p:spPr>
      </p:sp>
      <p:sp>
        <p:nvSpPr>
          <p:cNvPr id="10" name="Text 6"/>
          <p:cNvSpPr txBox="1"/>
          <p:nvPr/>
        </p:nvSpPr>
        <p:spPr>
          <a:xfrm>
            <a:off x="548640" y="1517904"/>
            <a:ext cx="1691640" cy="256032"/>
          </a:xfrm>
          <a:prstGeom prst="rect">
            <a:avLst/>
          </a:prstGeom>
          <a:noFill/>
          <a:ln/>
        </p:spPr>
        <p:txBody>
          <a:bodyPr wrap="square" lIns="0" tIns="0" rIns="0" bIns="0" rtlCol="0" anchor="t"/>
          <a:lstStyle/>
          <a:p>
            <a:pPr indent="0" marL="0">
              <a:buNone/>
            </a:pPr>
            <a:r>
              <a:rPr lang="en-US" sz="950" b="1" dirty="0">
                <a:solidFill>
                  <a:srgbClr val="1E2B37"/>
                </a:solidFill>
                <a:latin typeface="Arial" pitchFamily="34" charset="0"/>
                <a:ea typeface="Arial" pitchFamily="34" charset="-122"/>
                <a:cs typeface="Arial" pitchFamily="34" charset="-120"/>
              </a:rPr>
              <a:t>Escena escrita</a:t>
            </a:r>
            <a:endParaRPr lang="en-US" sz="950" dirty="0"/>
          </a:p>
        </p:txBody>
      </p:sp>
      <p:sp>
        <p:nvSpPr>
          <p:cNvPr id="11" name="Text 7"/>
          <p:cNvSpPr txBox="1"/>
          <p:nvPr/>
        </p:nvSpPr>
        <p:spPr>
          <a:xfrm>
            <a:off x="548640" y="1783080"/>
            <a:ext cx="1691640" cy="329184"/>
          </a:xfrm>
          <a:prstGeom prst="rect">
            <a:avLst/>
          </a:prstGeom>
          <a:noFill/>
          <a:ln/>
        </p:spPr>
        <p:txBody>
          <a:bodyPr wrap="square" lIns="0" tIns="0" rIns="0" bIns="0" rtlCol="0" anchor="t"/>
          <a:lstStyle/>
          <a:p>
            <a:pPr indent="0" marL="0">
              <a:buNone/>
            </a:pPr>
            <a:r>
              <a:rPr lang="en-US" sz="800" dirty="0">
                <a:solidFill>
                  <a:srgbClr val="3D4A56"/>
                </a:solidFill>
                <a:latin typeface="Arial" pitchFamily="34" charset="0"/>
                <a:ea typeface="Arial" pitchFamily="34" charset="-122"/>
                <a:cs typeface="Arial" pitchFamily="34" charset="-120"/>
              </a:rPr>
              <a:t>contiene «idiota» (veto global)</a:t>
            </a:r>
            <a:endParaRPr lang="en-US" sz="800" dirty="0"/>
          </a:p>
        </p:txBody>
      </p:sp>
      <p:sp>
        <p:nvSpPr>
          <p:cNvPr id="12" name="Shape 8"/>
          <p:cNvSpPr/>
          <p:nvPr/>
        </p:nvSpPr>
        <p:spPr>
          <a:xfrm>
            <a:off x="2350008" y="1810512"/>
            <a:ext cx="192024" cy="914"/>
          </a:xfrm>
          <a:prstGeom prst="line">
            <a:avLst/>
          </a:prstGeom>
          <a:noFill/>
          <a:ln w="15875">
            <a:solidFill>
              <a:srgbClr val="FF7A2F"/>
            </a:solidFill>
            <a:prstDash val="solid"/>
            <a:tailEnd type="triangle"/>
          </a:ln>
        </p:spPr>
      </p:sp>
      <p:sp>
        <p:nvSpPr>
          <p:cNvPr id="13" name="Shape 9"/>
          <p:cNvSpPr/>
          <p:nvPr/>
        </p:nvSpPr>
        <p:spPr>
          <a:xfrm>
            <a:off x="2560320" y="1481328"/>
            <a:ext cx="1874520" cy="658368"/>
          </a:xfrm>
          <a:prstGeom prst="roundRect">
            <a:avLst>
              <a:gd name="adj" fmla="val 11111"/>
            </a:avLst>
          </a:prstGeom>
          <a:solidFill>
            <a:srgbClr val="FBE5E5"/>
          </a:solidFill>
          <a:ln/>
        </p:spPr>
      </p:sp>
      <p:sp>
        <p:nvSpPr>
          <p:cNvPr id="14" name="Text 10"/>
          <p:cNvSpPr txBox="1"/>
          <p:nvPr/>
        </p:nvSpPr>
        <p:spPr>
          <a:xfrm>
            <a:off x="2651760" y="1517904"/>
            <a:ext cx="1691640" cy="256032"/>
          </a:xfrm>
          <a:prstGeom prst="rect">
            <a:avLst/>
          </a:prstGeom>
          <a:noFill/>
          <a:ln/>
        </p:spPr>
        <p:txBody>
          <a:bodyPr wrap="square" lIns="0" tIns="0" rIns="0" bIns="0" rtlCol="0" anchor="t"/>
          <a:lstStyle/>
          <a:p>
            <a:pPr indent="0" marL="0">
              <a:buNone/>
            </a:pPr>
            <a:r>
              <a:rPr lang="en-US" sz="950" b="1" dirty="0">
                <a:solidFill>
                  <a:srgbClr val="B83232"/>
                </a:solidFill>
                <a:latin typeface="Courier New" pitchFamily="34" charset="0"/>
                <a:ea typeface="Courier New" pitchFamily="34" charset="-122"/>
                <a:cs typeface="Courier New" pitchFamily="34" charset="-120"/>
              </a:rPr>
              <a:t>forbidden_words_scene</a:t>
            </a:r>
            <a:endParaRPr lang="en-US" sz="950" dirty="0"/>
          </a:p>
        </p:txBody>
      </p:sp>
      <p:sp>
        <p:nvSpPr>
          <p:cNvPr id="15" name="Text 11"/>
          <p:cNvSpPr txBox="1"/>
          <p:nvPr/>
        </p:nvSpPr>
        <p:spPr>
          <a:xfrm>
            <a:off x="2651760" y="1783080"/>
            <a:ext cx="1691640" cy="329184"/>
          </a:xfrm>
          <a:prstGeom prst="rect">
            <a:avLst/>
          </a:prstGeom>
          <a:noFill/>
          <a:ln/>
        </p:spPr>
        <p:txBody>
          <a:bodyPr wrap="square" lIns="0" tIns="0" rIns="0" bIns="0" rtlCol="0" anchor="t"/>
          <a:lstStyle/>
          <a:p>
            <a:pPr indent="0" marL="0">
              <a:buNone/>
            </a:pPr>
            <a:r>
              <a:rPr lang="en-US" sz="800" dirty="0">
                <a:solidFill>
                  <a:srgbClr val="3D4A56"/>
                </a:solidFill>
                <a:latin typeface="Arial" pitchFamily="34" charset="0"/>
                <a:ea typeface="Arial" pitchFamily="34" charset="-122"/>
                <a:cs typeface="Arial" pitchFamily="34" charset="-120"/>
              </a:rPr>
              <a:t>reject · término, ámbito y escena</a:t>
            </a:r>
            <a:endParaRPr lang="en-US" sz="800" dirty="0"/>
          </a:p>
        </p:txBody>
      </p:sp>
      <p:sp>
        <p:nvSpPr>
          <p:cNvPr id="16" name="Shape 12"/>
          <p:cNvSpPr/>
          <p:nvPr/>
        </p:nvSpPr>
        <p:spPr>
          <a:xfrm>
            <a:off x="4453128" y="1810512"/>
            <a:ext cx="192024" cy="914"/>
          </a:xfrm>
          <a:prstGeom prst="line">
            <a:avLst/>
          </a:prstGeom>
          <a:noFill/>
          <a:ln w="15875">
            <a:solidFill>
              <a:srgbClr val="FF7A2F"/>
            </a:solidFill>
            <a:prstDash val="solid"/>
            <a:tailEnd type="triangle"/>
          </a:ln>
        </p:spPr>
      </p:sp>
      <p:sp>
        <p:nvSpPr>
          <p:cNvPr id="17" name="Shape 13"/>
          <p:cNvSpPr/>
          <p:nvPr/>
        </p:nvSpPr>
        <p:spPr>
          <a:xfrm>
            <a:off x="4663440" y="1481328"/>
            <a:ext cx="1874520" cy="658368"/>
          </a:xfrm>
          <a:prstGeom prst="roundRect">
            <a:avLst>
              <a:gd name="adj" fmla="val 11111"/>
            </a:avLst>
          </a:prstGeom>
          <a:solidFill>
            <a:srgbClr val="FFF5EE"/>
          </a:solidFill>
          <a:ln/>
        </p:spPr>
      </p:sp>
      <p:sp>
        <p:nvSpPr>
          <p:cNvPr id="18" name="Text 14"/>
          <p:cNvSpPr txBox="1"/>
          <p:nvPr/>
        </p:nvSpPr>
        <p:spPr>
          <a:xfrm>
            <a:off x="4754880" y="1517904"/>
            <a:ext cx="1691640" cy="256032"/>
          </a:xfrm>
          <a:prstGeom prst="rect">
            <a:avLst/>
          </a:prstGeom>
          <a:noFill/>
          <a:ln/>
        </p:spPr>
        <p:txBody>
          <a:bodyPr wrap="square" lIns="0" tIns="0" rIns="0" bIns="0" rtlCol="0" anchor="t"/>
          <a:lstStyle/>
          <a:p>
            <a:pPr indent="0" marL="0">
              <a:buNone/>
            </a:pPr>
            <a:r>
              <a:rPr lang="en-US" sz="950" b="1" dirty="0">
                <a:solidFill>
                  <a:srgbClr val="AE4E14"/>
                </a:solidFill>
                <a:latin typeface="Arial" pitchFamily="34" charset="0"/>
                <a:ea typeface="Arial" pitchFamily="34" charset="-122"/>
                <a:cs typeface="Arial" pitchFamily="34" charset="-120"/>
              </a:rPr>
              <a:t>Feedback al writer</a:t>
            </a:r>
            <a:endParaRPr lang="en-US" sz="950" dirty="0"/>
          </a:p>
        </p:txBody>
      </p:sp>
      <p:sp>
        <p:nvSpPr>
          <p:cNvPr id="19" name="Text 15"/>
          <p:cNvSpPr txBox="1"/>
          <p:nvPr/>
        </p:nvSpPr>
        <p:spPr>
          <a:xfrm>
            <a:off x="4754880" y="1783080"/>
            <a:ext cx="1691640" cy="329184"/>
          </a:xfrm>
          <a:prstGeom prst="rect">
            <a:avLst/>
          </a:prstGeom>
          <a:noFill/>
          <a:ln/>
        </p:spPr>
        <p:txBody>
          <a:bodyPr wrap="square" lIns="0" tIns="0" rIns="0" bIns="0" rtlCol="0" anchor="t"/>
          <a:lstStyle/>
          <a:p>
            <a:pPr indent="0" marL="0">
              <a:buNone/>
            </a:pPr>
            <a:r>
              <a:rPr lang="en-US" sz="800" dirty="0">
                <a:solidFill>
                  <a:srgbClr val="3D4A56"/>
                </a:solidFill>
                <a:latin typeface="Arial" pitchFamily="34" charset="0"/>
                <a:ea typeface="Arial" pitchFamily="34" charset="-122"/>
                <a:cs typeface="Arial" pitchFamily="34" charset="-120"/>
              </a:rPr>
              <a:t>reescritura 1 de ≤ 2</a:t>
            </a:r>
            <a:endParaRPr lang="en-US" sz="800" dirty="0"/>
          </a:p>
        </p:txBody>
      </p:sp>
      <p:sp>
        <p:nvSpPr>
          <p:cNvPr id="20" name="Shape 16"/>
          <p:cNvSpPr/>
          <p:nvPr/>
        </p:nvSpPr>
        <p:spPr>
          <a:xfrm>
            <a:off x="6556248" y="1810512"/>
            <a:ext cx="192024" cy="914"/>
          </a:xfrm>
          <a:prstGeom prst="line">
            <a:avLst/>
          </a:prstGeom>
          <a:noFill/>
          <a:ln w="15875">
            <a:solidFill>
              <a:srgbClr val="FF7A2F"/>
            </a:solidFill>
            <a:prstDash val="solid"/>
            <a:tailEnd type="triangle"/>
          </a:ln>
        </p:spPr>
      </p:sp>
      <p:sp>
        <p:nvSpPr>
          <p:cNvPr id="21" name="Shape 17"/>
          <p:cNvSpPr/>
          <p:nvPr/>
        </p:nvSpPr>
        <p:spPr>
          <a:xfrm>
            <a:off x="6766560" y="1481328"/>
            <a:ext cx="1874520" cy="658368"/>
          </a:xfrm>
          <a:prstGeom prst="roundRect">
            <a:avLst>
              <a:gd name="adj" fmla="val 11111"/>
            </a:avLst>
          </a:prstGeom>
          <a:solidFill>
            <a:srgbClr val="E4F5EA"/>
          </a:solidFill>
          <a:ln/>
        </p:spPr>
      </p:sp>
      <p:sp>
        <p:nvSpPr>
          <p:cNvPr id="22" name="Text 18"/>
          <p:cNvSpPr txBox="1"/>
          <p:nvPr/>
        </p:nvSpPr>
        <p:spPr>
          <a:xfrm>
            <a:off x="6858000" y="1517904"/>
            <a:ext cx="1691640" cy="256032"/>
          </a:xfrm>
          <a:prstGeom prst="rect">
            <a:avLst/>
          </a:prstGeom>
          <a:noFill/>
          <a:ln/>
        </p:spPr>
        <p:txBody>
          <a:bodyPr wrap="square" lIns="0" tIns="0" rIns="0" bIns="0" rtlCol="0" anchor="t"/>
          <a:lstStyle/>
          <a:p>
            <a:pPr indent="0" marL="0">
              <a:buNone/>
            </a:pPr>
            <a:r>
              <a:rPr lang="en-US" sz="950" b="1" dirty="0">
                <a:solidFill>
                  <a:srgbClr val="16794A"/>
                </a:solidFill>
                <a:latin typeface="Arial" pitchFamily="34" charset="0"/>
                <a:ea typeface="Arial" pitchFamily="34" charset="-122"/>
                <a:cs typeface="Arial" pitchFamily="34" charset="-120"/>
              </a:rPr>
              <a:t>Escena aceptada</a:t>
            </a:r>
            <a:endParaRPr lang="en-US" sz="950" dirty="0"/>
          </a:p>
        </p:txBody>
      </p:sp>
      <p:sp>
        <p:nvSpPr>
          <p:cNvPr id="23" name="Text 19"/>
          <p:cNvSpPr txBox="1"/>
          <p:nvPr/>
        </p:nvSpPr>
        <p:spPr>
          <a:xfrm>
            <a:off x="6858000" y="1783080"/>
            <a:ext cx="1691640" cy="329184"/>
          </a:xfrm>
          <a:prstGeom prst="rect">
            <a:avLst/>
          </a:prstGeom>
          <a:noFill/>
          <a:ln/>
        </p:spPr>
        <p:txBody>
          <a:bodyPr wrap="square" lIns="0" tIns="0" rIns="0" bIns="0" rtlCol="0" anchor="t"/>
          <a:lstStyle/>
          <a:p>
            <a:pPr indent="0" marL="0">
              <a:buNone/>
            </a:pPr>
            <a:r>
              <a:rPr lang="en-US" sz="800" dirty="0">
                <a:solidFill>
                  <a:srgbClr val="3D4A56"/>
                </a:solidFill>
                <a:latin typeface="Arial" pitchFamily="34" charset="0"/>
                <a:ea typeface="Arial" pitchFamily="34" charset="-122"/>
                <a:cs typeface="Arial" pitchFamily="34" charset="-120"/>
              </a:rPr>
              <a:t>0 apariciones; decisión en policy_decision</a:t>
            </a:r>
            <a:endParaRPr lang="en-US" sz="800" dirty="0"/>
          </a:p>
        </p:txBody>
      </p:sp>
      <p:sp>
        <p:nvSpPr>
          <p:cNvPr id="24" name="Text 20"/>
          <p:cNvSpPr txBox="1"/>
          <p:nvPr/>
        </p:nvSpPr>
        <p:spPr>
          <a:xfrm>
            <a:off x="457200" y="2212848"/>
            <a:ext cx="8229600" cy="347472"/>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Un solo normalizador (NFKD, sin tildes, plurales): detecta t0nt0 · tontooo · t.o.n.t.o · cabrones → cabrón; sin falsos positivos en «tontería» o «ridículo». Vetos en 3 niveles: global, del cliente, léxico.</a:t>
            </a:r>
            <a:endParaRPr lang="en-US" sz="850" dirty="0"/>
          </a:p>
        </p:txBody>
      </p:sp>
      <p:sp>
        <p:nvSpPr>
          <p:cNvPr id="25" name="Shape 21"/>
          <p:cNvSpPr/>
          <p:nvPr/>
        </p:nvSpPr>
        <p:spPr>
          <a:xfrm>
            <a:off x="457200" y="2697480"/>
            <a:ext cx="2606040" cy="1892808"/>
          </a:xfrm>
          <a:prstGeom prst="roundRect">
            <a:avLst>
              <a:gd name="adj" fmla="val 3865"/>
            </a:avLst>
          </a:prstGeom>
          <a:solidFill>
            <a:srgbClr val="F7F8FA"/>
          </a:solidFill>
          <a:ln/>
        </p:spPr>
      </p:sp>
      <p:sp>
        <p:nvSpPr>
          <p:cNvPr id="26" name="Shape 22"/>
          <p:cNvSpPr/>
          <p:nvPr/>
        </p:nvSpPr>
        <p:spPr>
          <a:xfrm>
            <a:off x="585216" y="2807208"/>
            <a:ext cx="274320" cy="274320"/>
          </a:xfrm>
          <a:prstGeom prst="roundRect">
            <a:avLst>
              <a:gd name="adj" fmla="val 26667"/>
            </a:avLst>
          </a:prstGeom>
          <a:solidFill>
            <a:srgbClr val="FF7A2F"/>
          </a:solidFill>
          <a:ln/>
        </p:spPr>
      </p:sp>
      <p:sp>
        <p:nvSpPr>
          <p:cNvPr id="27" name="Text 23"/>
          <p:cNvSpPr txBox="1"/>
          <p:nvPr/>
        </p:nvSpPr>
        <p:spPr>
          <a:xfrm>
            <a:off x="585216" y="28072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28" name="Text 24"/>
          <p:cNvSpPr txBox="1"/>
          <p:nvPr/>
        </p:nvSpPr>
        <p:spPr>
          <a:xfrm>
            <a:off x="950976" y="2807208"/>
            <a:ext cx="2011680" cy="274320"/>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Datos personales</a:t>
            </a:r>
            <a:endParaRPr lang="en-US" sz="1100" dirty="0"/>
          </a:p>
        </p:txBody>
      </p:sp>
      <p:sp>
        <p:nvSpPr>
          <p:cNvPr id="29" name="Text 25"/>
          <p:cNvSpPr txBox="1"/>
          <p:nvPr/>
        </p:nvSpPr>
        <p:spPr>
          <a:xfrm>
            <a:off x="585216" y="3200400"/>
            <a:ext cx="2377440" cy="13716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E2B37"/>
                </a:solidFill>
                <a:latin typeface="Arial" pitchFamily="34" charset="0"/>
                <a:ea typeface="Arial" pitchFamily="34" charset="-122"/>
                <a:cs typeface="Arial" pitchFamily="34" charset="-120"/>
              </a:rPr>
              <a:t>Los datos del destinatario viven solo en la story bible; cada novela tiene dueño y otro usuario recibe 404 (bcrypt + JWT).</a:t>
            </a:r>
            <a:endParaRPr lang="en-US" sz="950" dirty="0"/>
          </a:p>
          <a:p>
            <a:pPr marL="152400" indent="-152400">
              <a:spcAft>
                <a:spcPts val="400"/>
              </a:spcAft>
              <a:buSzPct val="100000"/>
              <a:buChar char="•"/>
            </a:pPr>
            <a:r>
              <a:rPr lang="en-US" sz="950" dirty="0">
                <a:solidFill>
                  <a:srgbClr val="1E2B37"/>
                </a:solidFill>
                <a:latin typeface="Arial" pitchFamily="34" charset="0"/>
                <a:ea typeface="Arial" pitchFamily="34" charset="-122"/>
                <a:cs typeface="Arial" pitchFamily="34" charset="-120"/>
              </a:rPr>
              <a:t>Claves fuera del repo; el hook bloquea escribirlas. Evals con destinatarios ficticios.</a:t>
            </a:r>
            <a:endParaRPr lang="en-US" sz="950" dirty="0"/>
          </a:p>
        </p:txBody>
      </p:sp>
      <p:sp>
        <p:nvSpPr>
          <p:cNvPr id="30" name="Shape 26"/>
          <p:cNvSpPr/>
          <p:nvPr/>
        </p:nvSpPr>
        <p:spPr>
          <a:xfrm>
            <a:off x="3246120" y="2697480"/>
            <a:ext cx="2606040" cy="1892808"/>
          </a:xfrm>
          <a:prstGeom prst="roundRect">
            <a:avLst>
              <a:gd name="adj" fmla="val 3865"/>
            </a:avLst>
          </a:prstGeom>
          <a:solidFill>
            <a:srgbClr val="F7F8FA"/>
          </a:solidFill>
          <a:ln/>
        </p:spPr>
      </p:sp>
      <p:sp>
        <p:nvSpPr>
          <p:cNvPr id="31" name="Shape 27"/>
          <p:cNvSpPr/>
          <p:nvPr/>
        </p:nvSpPr>
        <p:spPr>
          <a:xfrm>
            <a:off x="3374136" y="2807208"/>
            <a:ext cx="274320" cy="274320"/>
          </a:xfrm>
          <a:prstGeom prst="roundRect">
            <a:avLst>
              <a:gd name="adj" fmla="val 26667"/>
            </a:avLst>
          </a:prstGeom>
          <a:solidFill>
            <a:srgbClr val="FF7A2F"/>
          </a:solidFill>
          <a:ln/>
        </p:spPr>
      </p:sp>
      <p:sp>
        <p:nvSpPr>
          <p:cNvPr id="32" name="Text 28"/>
          <p:cNvSpPr txBox="1"/>
          <p:nvPr/>
        </p:nvSpPr>
        <p:spPr>
          <a:xfrm>
            <a:off x="3374136" y="28072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3" name="Text 29"/>
          <p:cNvSpPr txBox="1"/>
          <p:nvPr/>
        </p:nvSpPr>
        <p:spPr>
          <a:xfrm>
            <a:off x="3739896" y="2807208"/>
            <a:ext cx="2011680" cy="274320"/>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Injection</a:t>
            </a:r>
            <a:endParaRPr lang="en-US" sz="1100" dirty="0"/>
          </a:p>
        </p:txBody>
      </p:sp>
      <p:sp>
        <p:nvSpPr>
          <p:cNvPr id="34" name="Text 30"/>
          <p:cNvSpPr txBox="1"/>
          <p:nvPr/>
        </p:nvSpPr>
        <p:spPr>
          <a:xfrm>
            <a:off x="3374136" y="3200400"/>
            <a:ext cx="2377440" cy="13716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E2B37"/>
                </a:solidFill>
                <a:latin typeface="Arial" pitchFamily="34" charset="0"/>
                <a:ea typeface="Arial" pitchFamily="34" charset="-122"/>
                <a:cs typeface="Arial" pitchFamily="34" charset="-120"/>
              </a:rPr>
              <a:t>Prescan determinista antes del modelo: 17/17 variantes. El extractor solo devuelve hechos y marca la sospecha.</a:t>
            </a:r>
            <a:endParaRPr lang="en-US" sz="950" dirty="0"/>
          </a:p>
          <a:p>
            <a:pPr marL="152400" indent="-152400">
              <a:spcAft>
                <a:spcPts val="400"/>
              </a:spcAft>
              <a:buSzPct val="100000"/>
              <a:buChar char="•"/>
            </a:pPr>
            <a:r>
              <a:rPr lang="en-US" sz="950" dirty="0">
                <a:solidFill>
                  <a:srgbClr val="1E2B37"/>
                </a:solidFill>
                <a:latin typeface="Arial" pitchFamily="34" charset="0"/>
                <a:ea typeface="Arial" pitchFamily="34" charset="-122"/>
                <a:cs typeface="Arial" pitchFamily="34" charset="-120"/>
              </a:rPr>
              <a:t>Ningún rol recibe el texto libre crudo: b3 marcó 5 patrones y se publicó sin seguirlos.</a:t>
            </a:r>
            <a:endParaRPr lang="en-US" sz="950" dirty="0"/>
          </a:p>
        </p:txBody>
      </p:sp>
      <p:sp>
        <p:nvSpPr>
          <p:cNvPr id="35" name="Shape 31"/>
          <p:cNvSpPr/>
          <p:nvPr/>
        </p:nvSpPr>
        <p:spPr>
          <a:xfrm>
            <a:off x="6035040" y="2697480"/>
            <a:ext cx="2606040" cy="1892808"/>
          </a:xfrm>
          <a:prstGeom prst="roundRect">
            <a:avLst>
              <a:gd name="adj" fmla="val 3865"/>
            </a:avLst>
          </a:prstGeom>
          <a:solidFill>
            <a:srgbClr val="F7F8FA"/>
          </a:solidFill>
          <a:ln/>
        </p:spPr>
      </p:sp>
      <p:sp>
        <p:nvSpPr>
          <p:cNvPr id="36" name="Shape 32"/>
          <p:cNvSpPr/>
          <p:nvPr/>
        </p:nvSpPr>
        <p:spPr>
          <a:xfrm>
            <a:off x="6163056" y="2807208"/>
            <a:ext cx="274320" cy="274320"/>
          </a:xfrm>
          <a:prstGeom prst="roundRect">
            <a:avLst>
              <a:gd name="adj" fmla="val 26667"/>
            </a:avLst>
          </a:prstGeom>
          <a:solidFill>
            <a:srgbClr val="FF7A2F"/>
          </a:solidFill>
          <a:ln/>
        </p:spPr>
      </p:sp>
      <p:sp>
        <p:nvSpPr>
          <p:cNvPr id="37" name="Text 33"/>
          <p:cNvSpPr txBox="1"/>
          <p:nvPr/>
        </p:nvSpPr>
        <p:spPr>
          <a:xfrm>
            <a:off x="6163056" y="28072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8" name="Text 34"/>
          <p:cNvSpPr txBox="1"/>
          <p:nvPr/>
        </p:nvSpPr>
        <p:spPr>
          <a:xfrm>
            <a:off x="6528816" y="2807208"/>
            <a:ext cx="2011680" cy="274320"/>
          </a:xfrm>
          <a:prstGeom prst="rect">
            <a:avLst/>
          </a:prstGeom>
          <a:noFill/>
          <a:ln/>
        </p:spPr>
        <p:txBody>
          <a:bodyPr wrap="square" lIns="0" tIns="0" rIns="0" bIns="0" rtlCol="0" anchor="ctr"/>
          <a:lstStyle/>
          <a:p>
            <a:pPr indent="0" marL="0">
              <a:buNone/>
            </a:pPr>
            <a:r>
              <a:rPr lang="en-US" sz="1100" b="1" dirty="0">
                <a:solidFill>
                  <a:srgbClr val="1E2B37"/>
                </a:solidFill>
                <a:latin typeface="Arial" pitchFamily="34" charset="0"/>
                <a:ea typeface="Arial" pitchFamily="34" charset="-122"/>
                <a:cs typeface="Arial" pitchFamily="34" charset="-120"/>
              </a:rPr>
              <a:t>Audit log</a:t>
            </a:r>
            <a:endParaRPr lang="en-US" sz="1100" dirty="0"/>
          </a:p>
        </p:txBody>
      </p:sp>
      <p:sp>
        <p:nvSpPr>
          <p:cNvPr id="39" name="Text 35"/>
          <p:cNvSpPr txBox="1"/>
          <p:nvPr/>
        </p:nvSpPr>
        <p:spPr>
          <a:xfrm>
            <a:off x="6163056" y="3200400"/>
            <a:ext cx="2377440" cy="13716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E2B37"/>
                </a:solidFill>
                <a:latin typeface="Arial" pitchFamily="34" charset="0"/>
                <a:ea typeface="Arial" pitchFamily="34" charset="-122"/>
                <a:cs typeface="Arial" pitchFamily="34" charset="-120"/>
              </a:rPr>
              <a:t>policy_decision, validator_result y llm_call: cada decisión, validador y llamada con prompt, tokens y coste.</a:t>
            </a:r>
            <a:endParaRPr lang="en-US" sz="950" dirty="0"/>
          </a:p>
          <a:p>
            <a:pPr marL="152400" indent="-152400">
              <a:spcAft>
                <a:spcPts val="400"/>
              </a:spcAft>
              <a:buSzPct val="100000"/>
              <a:buChar char="•"/>
            </a:pPr>
            <a:r>
              <a:rPr lang="en-US" sz="950" dirty="0">
                <a:solidFill>
                  <a:srgbClr val="1E2B37"/>
                </a:solidFill>
                <a:latin typeface="Arial" pitchFamily="34" charset="0"/>
                <a:ea typeface="Arial" pitchFamily="34" charset="-122"/>
                <a:cs typeface="Arial" pitchFamily="34" charset="-120"/>
              </a:rPr>
              <a:t>Nada se borra: una versión nueva nunca sobrescribe la anterior.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PRESUPUESTO Y COSTE</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Coste medido y propuesta económica</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11</a:t>
            </a:r>
            <a:endParaRPr lang="en-US" sz="750" dirty="0"/>
          </a:p>
        </p:txBody>
      </p:sp>
      <p:sp>
        <p:nvSpPr>
          <p:cNvPr id="8" name="Text 4"/>
          <p:cNvSpPr txBox="1"/>
          <p:nvPr/>
        </p:nvSpPr>
        <p:spPr>
          <a:xfrm>
            <a:off x="457200" y="1143000"/>
            <a:ext cx="1325880" cy="411480"/>
          </a:xfrm>
          <a:prstGeom prst="rect">
            <a:avLst/>
          </a:prstGeom>
          <a:noFill/>
          <a:ln/>
        </p:spPr>
        <p:txBody>
          <a:bodyPr wrap="square" lIns="0" tIns="0" rIns="0" bIns="0" rtlCol="0" anchor="b"/>
          <a:lstStyle/>
          <a:p>
            <a:pPr indent="0" marL="0">
              <a:buNone/>
            </a:pPr>
            <a:r>
              <a:rPr lang="en-US" sz="2600" b="1" dirty="0">
                <a:solidFill>
                  <a:srgbClr val="AE4E14"/>
                </a:solidFill>
                <a:latin typeface="Arial" pitchFamily="34" charset="0"/>
                <a:ea typeface="Arial" pitchFamily="34" charset="-122"/>
                <a:cs typeface="Arial" pitchFamily="34" charset="-120"/>
              </a:rPr>
              <a:t>3,10</a:t>
            </a:r>
            <a:endParaRPr lang="en-US" sz="2600" dirty="0"/>
          </a:p>
        </p:txBody>
      </p:sp>
      <p:sp>
        <p:nvSpPr>
          <p:cNvPr id="9" name="Text 5"/>
          <p:cNvSpPr txBox="1"/>
          <p:nvPr/>
        </p:nvSpPr>
        <p:spPr>
          <a:xfrm>
            <a:off x="457200" y="1581912"/>
            <a:ext cx="1325880" cy="365760"/>
          </a:xfrm>
          <a:prstGeom prst="rect">
            <a:avLst/>
          </a:prstGeom>
          <a:noFill/>
          <a:ln/>
        </p:spPr>
        <p:txBody>
          <a:bodyPr wrap="square" lIns="0" tIns="0" rIns="0" bIns="0" rtlCol="0" anchor="t"/>
          <a:lstStyle/>
          <a:p>
            <a:pPr indent="0" marL="0">
              <a:buNone/>
            </a:pPr>
            <a:r>
              <a:rPr lang="en-US" sz="850" dirty="0">
                <a:solidFill>
                  <a:srgbClr val="5E6A77"/>
                </a:solidFill>
                <a:latin typeface="Arial" pitchFamily="34" charset="0"/>
                <a:ea typeface="Arial" pitchFamily="34" charset="-122"/>
                <a:cs typeface="Arial" pitchFamily="34" charset="-120"/>
              </a:rPr>
              <a:t>USD de modelo, novela de 10 capítulos publicada</a:t>
            </a:r>
            <a:endParaRPr lang="en-US" sz="850" dirty="0"/>
          </a:p>
        </p:txBody>
      </p:sp>
      <p:sp>
        <p:nvSpPr>
          <p:cNvPr id="10" name="Text 6"/>
          <p:cNvSpPr txBox="1"/>
          <p:nvPr/>
        </p:nvSpPr>
        <p:spPr>
          <a:xfrm>
            <a:off x="1828800" y="1143000"/>
            <a:ext cx="1325880" cy="411480"/>
          </a:xfrm>
          <a:prstGeom prst="rect">
            <a:avLst/>
          </a:prstGeom>
          <a:noFill/>
          <a:ln/>
        </p:spPr>
        <p:txBody>
          <a:bodyPr wrap="square" lIns="0" tIns="0" rIns="0" bIns="0" rtlCol="0" anchor="b"/>
          <a:lstStyle/>
          <a:p>
            <a:pPr indent="0" marL="0">
              <a:buNone/>
            </a:pPr>
            <a:r>
              <a:rPr lang="en-US" sz="2600" b="1" dirty="0">
                <a:solidFill>
                  <a:srgbClr val="1E2B37"/>
                </a:solidFill>
                <a:latin typeface="Arial" pitchFamily="34" charset="0"/>
                <a:ea typeface="Arial" pitchFamily="34" charset="-122"/>
                <a:cs typeface="Arial" pitchFamily="34" charset="-120"/>
              </a:rPr>
              <a:t>0,94</a:t>
            </a:r>
            <a:endParaRPr lang="en-US" sz="2600" dirty="0"/>
          </a:p>
        </p:txBody>
      </p:sp>
      <p:sp>
        <p:nvSpPr>
          <p:cNvPr id="11" name="Text 7"/>
          <p:cNvSpPr txBox="1"/>
          <p:nvPr/>
        </p:nvSpPr>
        <p:spPr>
          <a:xfrm>
            <a:off x="1828800" y="1581912"/>
            <a:ext cx="1325880" cy="365760"/>
          </a:xfrm>
          <a:prstGeom prst="rect">
            <a:avLst/>
          </a:prstGeom>
          <a:noFill/>
          <a:ln/>
        </p:spPr>
        <p:txBody>
          <a:bodyPr wrap="square" lIns="0" tIns="0" rIns="0" bIns="0" rtlCol="0" anchor="t"/>
          <a:lstStyle/>
          <a:p>
            <a:pPr indent="0" marL="0">
              <a:buNone/>
            </a:pPr>
            <a:r>
              <a:rPr lang="en-US" sz="850" dirty="0">
                <a:solidFill>
                  <a:srgbClr val="5E6A77"/>
                </a:solidFill>
                <a:latin typeface="Arial" pitchFamily="34" charset="0"/>
                <a:ea typeface="Arial" pitchFamily="34" charset="-122"/>
                <a:cs typeface="Arial" pitchFamily="34" charset="-120"/>
              </a:rPr>
              <a:t>USD por un cambio del lector (9 capítulos)</a:t>
            </a:r>
            <a:endParaRPr lang="en-US" sz="850" dirty="0"/>
          </a:p>
        </p:txBody>
      </p:sp>
      <p:sp>
        <p:nvSpPr>
          <p:cNvPr id="12" name="Text 8"/>
          <p:cNvSpPr txBox="1"/>
          <p:nvPr/>
        </p:nvSpPr>
        <p:spPr>
          <a:xfrm>
            <a:off x="3200400" y="1143000"/>
            <a:ext cx="1325880" cy="411480"/>
          </a:xfrm>
          <a:prstGeom prst="rect">
            <a:avLst/>
          </a:prstGeom>
          <a:noFill/>
          <a:ln/>
        </p:spPr>
        <p:txBody>
          <a:bodyPr wrap="square" lIns="0" tIns="0" rIns="0" bIns="0" rtlCol="0" anchor="b"/>
          <a:lstStyle/>
          <a:p>
            <a:pPr indent="0" marL="0">
              <a:buNone/>
            </a:pPr>
            <a:r>
              <a:rPr lang="en-US" sz="2600" b="1" dirty="0">
                <a:solidFill>
                  <a:srgbClr val="1E2B37"/>
                </a:solidFill>
                <a:latin typeface="Arial" pitchFamily="34" charset="0"/>
                <a:ea typeface="Arial" pitchFamily="34" charset="-122"/>
                <a:cs typeface="Arial" pitchFamily="34" charset="-120"/>
              </a:rPr>
              <a:t>69 min</a:t>
            </a:r>
            <a:endParaRPr lang="en-US" sz="2600" dirty="0"/>
          </a:p>
        </p:txBody>
      </p:sp>
      <p:sp>
        <p:nvSpPr>
          <p:cNvPr id="13" name="Text 9"/>
          <p:cNvSpPr txBox="1"/>
          <p:nvPr/>
        </p:nvSpPr>
        <p:spPr>
          <a:xfrm>
            <a:off x="3200400" y="1581912"/>
            <a:ext cx="1325880" cy="365760"/>
          </a:xfrm>
          <a:prstGeom prst="rect">
            <a:avLst/>
          </a:prstGeom>
          <a:noFill/>
          <a:ln/>
        </p:spPr>
        <p:txBody>
          <a:bodyPr wrap="square" lIns="0" tIns="0" rIns="0" bIns="0" rtlCol="0" anchor="t"/>
          <a:lstStyle/>
          <a:p>
            <a:pPr indent="0" marL="0">
              <a:buNone/>
            </a:pPr>
            <a:r>
              <a:rPr lang="en-US" sz="850" dirty="0">
                <a:solidFill>
                  <a:srgbClr val="5E6A77"/>
                </a:solidFill>
                <a:latin typeface="Arial" pitchFamily="34" charset="0"/>
                <a:ea typeface="Arial" pitchFamily="34" charset="-122"/>
                <a:cs typeface="Arial" pitchFamily="34" charset="-120"/>
              </a:rPr>
              <a:t>de generación, sin intervención</a:t>
            </a:r>
            <a:endParaRPr lang="en-US" sz="850" dirty="0"/>
          </a:p>
        </p:txBody>
      </p:sp>
      <p:graphicFrame>
        <p:nvGraphicFramePr>
          <p:cNvPr id="14" name="Chart 0" descr=""/>
          <p:cNvGraphicFramePr/>
          <p:nvPr/>
        </p:nvGraphicFramePr>
        <p:xfrm>
          <a:off x="457200" y="2011680"/>
          <a:ext cx="1965960" cy="2148840"/>
        </p:xfrm>
        <a:graphic xmlns:a="http://schemas.openxmlformats.org/drawingml/2006/main">
          <a:graphicData uri="http://schemas.openxmlformats.org/drawingml/2006/chart">
            <c:chart xmlns:c="http://schemas.openxmlformats.org/drawingml/2006/chart" r:id="rId3"/>
          </a:graphicData>
        </a:graphic>
      </p:graphicFrame>
      <p:sp>
        <p:nvSpPr>
          <p:cNvPr id="15" name="Text 10"/>
          <p:cNvSpPr txBox="1"/>
          <p:nvPr/>
        </p:nvSpPr>
        <p:spPr>
          <a:xfrm>
            <a:off x="2560320" y="2029968"/>
            <a:ext cx="1920240" cy="182880"/>
          </a:xfrm>
          <a:prstGeom prst="rect">
            <a:avLst/>
          </a:prstGeom>
          <a:noFill/>
          <a:ln/>
        </p:spPr>
        <p:txBody>
          <a:bodyPr wrap="square" lIns="0" tIns="0" rIns="0" bIns="0" rtlCol="0" anchor="t"/>
          <a:lstStyle/>
          <a:p>
            <a:pPr indent="0" marL="0">
              <a:buNone/>
            </a:pPr>
            <a:r>
              <a:rPr lang="en-US" sz="750" b="1" spc="100" kern="0" dirty="0">
                <a:solidFill>
                  <a:srgbClr val="AE4E14"/>
                </a:solidFill>
                <a:latin typeface="Arial" pitchFamily="34" charset="0"/>
                <a:ea typeface="Arial" pitchFamily="34" charset="-122"/>
                <a:cs typeface="Arial" pitchFamily="34" charset="-120"/>
              </a:rPr>
              <a:t>GASTO REAL MEDIDO</a:t>
            </a:r>
            <a:endParaRPr lang="en-US" sz="750" dirty="0"/>
          </a:p>
        </p:txBody>
      </p:sp>
      <p:sp>
        <p:nvSpPr>
          <p:cNvPr id="16" name="Text 11"/>
          <p:cNvSpPr txBox="1"/>
          <p:nvPr/>
        </p:nvSpPr>
        <p:spPr>
          <a:xfrm>
            <a:off x="2560320" y="2231136"/>
            <a:ext cx="1371600" cy="219456"/>
          </a:xfrm>
          <a:prstGeom prst="rect">
            <a:avLst/>
          </a:prstGeom>
          <a:noFill/>
          <a:ln/>
        </p:spPr>
        <p:txBody>
          <a:bodyPr wrap="square" lIns="0" tIns="0" rIns="0" bIns="0" rtlCol="0" anchor="ctr"/>
          <a:lstStyle/>
          <a:p>
            <a:pPr indent="0" marL="0">
              <a:buNone/>
            </a:pPr>
            <a:r>
              <a:rPr lang="en-US" sz="750" dirty="0">
                <a:solidFill>
                  <a:srgbClr val="3D4A56"/>
                </a:solidFill>
                <a:latin typeface="Arial" pitchFamily="34" charset="0"/>
                <a:ea typeface="Arial" pitchFamily="34" charset="-122"/>
                <a:cs typeface="Arial" pitchFamily="34" charset="-120"/>
              </a:rPr>
              <a:t>Novela 10 cap. publicada</a:t>
            </a:r>
            <a:endParaRPr lang="en-US" sz="750" dirty="0"/>
          </a:p>
        </p:txBody>
      </p:sp>
      <p:sp>
        <p:nvSpPr>
          <p:cNvPr id="17" name="Text 12"/>
          <p:cNvSpPr txBox="1"/>
          <p:nvPr/>
        </p:nvSpPr>
        <p:spPr>
          <a:xfrm>
            <a:off x="3886200" y="2231136"/>
            <a:ext cx="594360" cy="219456"/>
          </a:xfrm>
          <a:prstGeom prst="rect">
            <a:avLst/>
          </a:prstGeom>
          <a:noFill/>
          <a:ln/>
        </p:spPr>
        <p:txBody>
          <a:bodyPr wrap="square" lIns="0" tIns="0" rIns="0" bIns="0" rtlCol="0" anchor="ctr"/>
          <a:lstStyle/>
          <a:p>
            <a:pPr algn="r" indent="0" marL="0">
              <a:buNone/>
            </a:pPr>
            <a:r>
              <a:rPr lang="en-US" sz="750" dirty="0">
                <a:solidFill>
                  <a:srgbClr val="1E2B37"/>
                </a:solidFill>
                <a:latin typeface="Arial" pitchFamily="34" charset="0"/>
                <a:ea typeface="Arial" pitchFamily="34" charset="-122"/>
                <a:cs typeface="Arial" pitchFamily="34" charset="-120"/>
              </a:rPr>
              <a:t>3,09</a:t>
            </a:r>
            <a:endParaRPr lang="en-US" sz="750" dirty="0"/>
          </a:p>
        </p:txBody>
      </p:sp>
      <p:sp>
        <p:nvSpPr>
          <p:cNvPr id="18" name="Text 13"/>
          <p:cNvSpPr txBox="1"/>
          <p:nvPr/>
        </p:nvSpPr>
        <p:spPr>
          <a:xfrm>
            <a:off x="2560320" y="2459736"/>
            <a:ext cx="1371600" cy="219456"/>
          </a:xfrm>
          <a:prstGeom prst="rect">
            <a:avLst/>
          </a:prstGeom>
          <a:noFill/>
          <a:ln/>
        </p:spPr>
        <p:txBody>
          <a:bodyPr wrap="square" lIns="0" tIns="0" rIns="0" bIns="0" rtlCol="0" anchor="ctr"/>
          <a:lstStyle/>
          <a:p>
            <a:pPr indent="0" marL="0">
              <a:buNone/>
            </a:pPr>
            <a:r>
              <a:rPr lang="en-US" sz="750" dirty="0">
                <a:solidFill>
                  <a:srgbClr val="3D4A56"/>
                </a:solidFill>
                <a:latin typeface="Arial" pitchFamily="34" charset="0"/>
                <a:ea typeface="Arial" pitchFamily="34" charset="-122"/>
                <a:cs typeface="Arial" pitchFamily="34" charset="-120"/>
              </a:rPr>
              <a:t>Cambio del lector (v2)</a:t>
            </a:r>
            <a:endParaRPr lang="en-US" sz="750" dirty="0"/>
          </a:p>
        </p:txBody>
      </p:sp>
      <p:sp>
        <p:nvSpPr>
          <p:cNvPr id="19" name="Text 14"/>
          <p:cNvSpPr txBox="1"/>
          <p:nvPr/>
        </p:nvSpPr>
        <p:spPr>
          <a:xfrm>
            <a:off x="3886200" y="2459736"/>
            <a:ext cx="594360" cy="219456"/>
          </a:xfrm>
          <a:prstGeom prst="rect">
            <a:avLst/>
          </a:prstGeom>
          <a:noFill/>
          <a:ln/>
        </p:spPr>
        <p:txBody>
          <a:bodyPr wrap="square" lIns="0" tIns="0" rIns="0" bIns="0" rtlCol="0" anchor="ctr"/>
          <a:lstStyle/>
          <a:p>
            <a:pPr algn="r" indent="0" marL="0">
              <a:buNone/>
            </a:pPr>
            <a:r>
              <a:rPr lang="en-US" sz="750" dirty="0">
                <a:solidFill>
                  <a:srgbClr val="1E2B37"/>
                </a:solidFill>
                <a:latin typeface="Arial" pitchFamily="34" charset="0"/>
                <a:ea typeface="Arial" pitchFamily="34" charset="-122"/>
                <a:cs typeface="Arial" pitchFamily="34" charset="-120"/>
              </a:rPr>
              <a:t>0,94</a:t>
            </a:r>
            <a:endParaRPr lang="en-US" sz="750" dirty="0"/>
          </a:p>
        </p:txBody>
      </p:sp>
      <p:sp>
        <p:nvSpPr>
          <p:cNvPr id="20" name="Text 15"/>
          <p:cNvSpPr txBox="1"/>
          <p:nvPr/>
        </p:nvSpPr>
        <p:spPr>
          <a:xfrm>
            <a:off x="2560320" y="2688336"/>
            <a:ext cx="1371600" cy="219456"/>
          </a:xfrm>
          <a:prstGeom prst="rect">
            <a:avLst/>
          </a:prstGeom>
          <a:noFill/>
          <a:ln/>
        </p:spPr>
        <p:txBody>
          <a:bodyPr wrap="square" lIns="0" tIns="0" rIns="0" bIns="0" rtlCol="0" anchor="ctr"/>
          <a:lstStyle/>
          <a:p>
            <a:pPr indent="0" marL="0">
              <a:buNone/>
            </a:pPr>
            <a:r>
              <a:rPr lang="en-US" sz="750" dirty="0">
                <a:solidFill>
                  <a:srgbClr val="3D4A56"/>
                </a:solidFill>
                <a:latin typeface="Arial" pitchFamily="34" charset="0"/>
                <a:ea typeface="Arial" pitchFamily="34" charset="-122"/>
                <a:cs typeface="Arial" pitchFamily="34" charset="-120"/>
              </a:rPr>
              <a:t>Novela 3 capítulos</a:t>
            </a:r>
            <a:endParaRPr lang="en-US" sz="750" dirty="0"/>
          </a:p>
        </p:txBody>
      </p:sp>
      <p:sp>
        <p:nvSpPr>
          <p:cNvPr id="21" name="Text 16"/>
          <p:cNvSpPr txBox="1"/>
          <p:nvPr/>
        </p:nvSpPr>
        <p:spPr>
          <a:xfrm>
            <a:off x="3886200" y="2688336"/>
            <a:ext cx="594360" cy="219456"/>
          </a:xfrm>
          <a:prstGeom prst="rect">
            <a:avLst/>
          </a:prstGeom>
          <a:noFill/>
          <a:ln/>
        </p:spPr>
        <p:txBody>
          <a:bodyPr wrap="square" lIns="0" tIns="0" rIns="0" bIns="0" rtlCol="0" anchor="ctr"/>
          <a:lstStyle/>
          <a:p>
            <a:pPr algn="r" indent="0" marL="0">
              <a:buNone/>
            </a:pPr>
            <a:r>
              <a:rPr lang="en-US" sz="750" dirty="0">
                <a:solidFill>
                  <a:srgbClr val="1E2B37"/>
                </a:solidFill>
                <a:latin typeface="Arial" pitchFamily="34" charset="0"/>
                <a:ea typeface="Arial" pitchFamily="34" charset="-122"/>
                <a:cs typeface="Arial" pitchFamily="34" charset="-120"/>
              </a:rPr>
              <a:t>0,85</a:t>
            </a:r>
            <a:endParaRPr lang="en-US" sz="750" dirty="0"/>
          </a:p>
        </p:txBody>
      </p:sp>
      <p:sp>
        <p:nvSpPr>
          <p:cNvPr id="22" name="Text 17"/>
          <p:cNvSpPr txBox="1"/>
          <p:nvPr/>
        </p:nvSpPr>
        <p:spPr>
          <a:xfrm>
            <a:off x="2560320" y="2916936"/>
            <a:ext cx="1371600" cy="219456"/>
          </a:xfrm>
          <a:prstGeom prst="rect">
            <a:avLst/>
          </a:prstGeom>
          <a:noFill/>
          <a:ln/>
        </p:spPr>
        <p:txBody>
          <a:bodyPr wrap="square" lIns="0" tIns="0" rIns="0" bIns="0" rtlCol="0" anchor="ctr"/>
          <a:lstStyle/>
          <a:p>
            <a:pPr indent="0" marL="0">
              <a:buNone/>
            </a:pPr>
            <a:r>
              <a:rPr lang="en-US" sz="750" dirty="0">
                <a:solidFill>
                  <a:srgbClr val="3D4A56"/>
                </a:solidFill>
                <a:latin typeface="Arial" pitchFamily="34" charset="0"/>
                <a:ea typeface="Arial" pitchFamily="34" charset="-122"/>
                <a:cs typeface="Arial" pitchFamily="34" charset="-120"/>
              </a:rPr>
              <a:t>3 intentos bloqueados</a:t>
            </a:r>
            <a:endParaRPr lang="en-US" sz="750" dirty="0"/>
          </a:p>
        </p:txBody>
      </p:sp>
      <p:sp>
        <p:nvSpPr>
          <p:cNvPr id="23" name="Text 18"/>
          <p:cNvSpPr txBox="1"/>
          <p:nvPr/>
        </p:nvSpPr>
        <p:spPr>
          <a:xfrm>
            <a:off x="3886200" y="2916936"/>
            <a:ext cx="594360" cy="219456"/>
          </a:xfrm>
          <a:prstGeom prst="rect">
            <a:avLst/>
          </a:prstGeom>
          <a:noFill/>
          <a:ln/>
        </p:spPr>
        <p:txBody>
          <a:bodyPr wrap="square" lIns="0" tIns="0" rIns="0" bIns="0" rtlCol="0" anchor="ctr"/>
          <a:lstStyle/>
          <a:p>
            <a:pPr algn="r" indent="0" marL="0">
              <a:buNone/>
            </a:pPr>
            <a:r>
              <a:rPr lang="en-US" sz="750" dirty="0">
                <a:solidFill>
                  <a:srgbClr val="1E2B37"/>
                </a:solidFill>
                <a:latin typeface="Arial" pitchFamily="34" charset="0"/>
                <a:ea typeface="Arial" pitchFamily="34" charset="-122"/>
                <a:cs typeface="Arial" pitchFamily="34" charset="-120"/>
              </a:rPr>
              <a:t>14,33</a:t>
            </a:r>
            <a:endParaRPr lang="en-US" sz="750" dirty="0"/>
          </a:p>
        </p:txBody>
      </p:sp>
      <p:sp>
        <p:nvSpPr>
          <p:cNvPr id="24" name="Text 19"/>
          <p:cNvSpPr txBox="1"/>
          <p:nvPr/>
        </p:nvSpPr>
        <p:spPr>
          <a:xfrm>
            <a:off x="2560320" y="3145536"/>
            <a:ext cx="1371600" cy="219456"/>
          </a:xfrm>
          <a:prstGeom prst="rect">
            <a:avLst/>
          </a:prstGeom>
          <a:noFill/>
          <a:ln/>
        </p:spPr>
        <p:txBody>
          <a:bodyPr wrap="square" lIns="0" tIns="0" rIns="0" bIns="0" rtlCol="0" anchor="ctr"/>
          <a:lstStyle/>
          <a:p>
            <a:pPr indent="0" marL="0">
              <a:buNone/>
            </a:pPr>
            <a:r>
              <a:rPr lang="en-US" sz="750" dirty="0">
                <a:solidFill>
                  <a:srgbClr val="3D4A56"/>
                </a:solidFill>
                <a:latin typeface="Arial" pitchFamily="34" charset="0"/>
                <a:ea typeface="Arial" pitchFamily="34" charset="-122"/>
                <a:cs typeface="Arial" pitchFamily="34" charset="-120"/>
              </a:rPr>
              <a:t>Evals antes + después</a:t>
            </a:r>
            <a:endParaRPr lang="en-US" sz="750" dirty="0"/>
          </a:p>
        </p:txBody>
      </p:sp>
      <p:sp>
        <p:nvSpPr>
          <p:cNvPr id="25" name="Text 20"/>
          <p:cNvSpPr txBox="1"/>
          <p:nvPr/>
        </p:nvSpPr>
        <p:spPr>
          <a:xfrm>
            <a:off x="3886200" y="3145536"/>
            <a:ext cx="594360" cy="219456"/>
          </a:xfrm>
          <a:prstGeom prst="rect">
            <a:avLst/>
          </a:prstGeom>
          <a:noFill/>
          <a:ln/>
        </p:spPr>
        <p:txBody>
          <a:bodyPr wrap="square" lIns="0" tIns="0" rIns="0" bIns="0" rtlCol="0" anchor="ctr"/>
          <a:lstStyle/>
          <a:p>
            <a:pPr algn="r" indent="0" marL="0">
              <a:buNone/>
            </a:pPr>
            <a:r>
              <a:rPr lang="en-US" sz="750" dirty="0">
                <a:solidFill>
                  <a:srgbClr val="1E2B37"/>
                </a:solidFill>
                <a:latin typeface="Arial" pitchFamily="34" charset="0"/>
                <a:ea typeface="Arial" pitchFamily="34" charset="-122"/>
                <a:cs typeface="Arial" pitchFamily="34" charset="-120"/>
              </a:rPr>
              <a:t>6,53</a:t>
            </a:r>
            <a:endParaRPr lang="en-US" sz="750" dirty="0"/>
          </a:p>
        </p:txBody>
      </p:sp>
      <p:sp>
        <p:nvSpPr>
          <p:cNvPr id="26" name="Text 21"/>
          <p:cNvSpPr txBox="1"/>
          <p:nvPr/>
        </p:nvSpPr>
        <p:spPr>
          <a:xfrm>
            <a:off x="2560320" y="3374136"/>
            <a:ext cx="1371600" cy="219456"/>
          </a:xfrm>
          <a:prstGeom prst="rect">
            <a:avLst/>
          </a:prstGeom>
          <a:noFill/>
          <a:ln/>
        </p:spPr>
        <p:txBody>
          <a:bodyPr wrap="square" lIns="0" tIns="0" rIns="0" bIns="0" rtlCol="0" anchor="ctr"/>
          <a:lstStyle/>
          <a:p>
            <a:pPr indent="0" marL="0">
              <a:buNone/>
            </a:pPr>
            <a:r>
              <a:rPr lang="en-US" sz="750" dirty="0">
                <a:solidFill>
                  <a:srgbClr val="3D4A56"/>
                </a:solidFill>
                <a:latin typeface="Arial" pitchFamily="34" charset="0"/>
                <a:ea typeface="Arial" pitchFamily="34" charset="-122"/>
                <a:cs typeface="Arial" pitchFamily="34" charset="-120"/>
              </a:rPr>
              <a:t>Experimento Lean (L04)</a:t>
            </a:r>
            <a:endParaRPr lang="en-US" sz="750" dirty="0"/>
          </a:p>
        </p:txBody>
      </p:sp>
      <p:sp>
        <p:nvSpPr>
          <p:cNvPr id="27" name="Text 22"/>
          <p:cNvSpPr txBox="1"/>
          <p:nvPr/>
        </p:nvSpPr>
        <p:spPr>
          <a:xfrm>
            <a:off x="3886200" y="3374136"/>
            <a:ext cx="594360" cy="219456"/>
          </a:xfrm>
          <a:prstGeom prst="rect">
            <a:avLst/>
          </a:prstGeom>
          <a:noFill/>
          <a:ln/>
        </p:spPr>
        <p:txBody>
          <a:bodyPr wrap="square" lIns="0" tIns="0" rIns="0" bIns="0" rtlCol="0" anchor="ctr"/>
          <a:lstStyle/>
          <a:p>
            <a:pPr algn="r" indent="0" marL="0">
              <a:buNone/>
            </a:pPr>
            <a:r>
              <a:rPr lang="en-US" sz="750" dirty="0">
                <a:solidFill>
                  <a:srgbClr val="1E2B37"/>
                </a:solidFill>
                <a:latin typeface="Arial" pitchFamily="34" charset="0"/>
                <a:ea typeface="Arial" pitchFamily="34" charset="-122"/>
                <a:cs typeface="Arial" pitchFamily="34" charset="-120"/>
              </a:rPr>
              <a:t>1,29</a:t>
            </a:r>
            <a:endParaRPr lang="en-US" sz="750" dirty="0"/>
          </a:p>
        </p:txBody>
      </p:sp>
      <p:sp>
        <p:nvSpPr>
          <p:cNvPr id="28" name="Text 23"/>
          <p:cNvSpPr txBox="1"/>
          <p:nvPr/>
        </p:nvSpPr>
        <p:spPr>
          <a:xfrm>
            <a:off x="2560320" y="3602736"/>
            <a:ext cx="1371600" cy="219456"/>
          </a:xfrm>
          <a:prstGeom prst="rect">
            <a:avLst/>
          </a:prstGeom>
          <a:noFill/>
          <a:ln/>
        </p:spPr>
        <p:txBody>
          <a:bodyPr wrap="square" lIns="0" tIns="0" rIns="0" bIns="0" rtlCol="0" anchor="ctr"/>
          <a:lstStyle/>
          <a:p>
            <a:pPr indent="0" marL="0">
              <a:buNone/>
            </a:pPr>
            <a:r>
              <a:rPr lang="en-US" sz="750" b="1" dirty="0">
                <a:solidFill>
                  <a:srgbClr val="1E2B37"/>
                </a:solidFill>
                <a:latin typeface="Arial" pitchFamily="34" charset="0"/>
                <a:ea typeface="Arial" pitchFamily="34" charset="-122"/>
                <a:cs typeface="Arial" pitchFamily="34" charset="-120"/>
              </a:rPr>
              <a:t>Total medido</a:t>
            </a:r>
            <a:endParaRPr lang="en-US" sz="750" dirty="0"/>
          </a:p>
        </p:txBody>
      </p:sp>
      <p:sp>
        <p:nvSpPr>
          <p:cNvPr id="29" name="Text 24"/>
          <p:cNvSpPr txBox="1"/>
          <p:nvPr/>
        </p:nvSpPr>
        <p:spPr>
          <a:xfrm>
            <a:off x="3886200" y="3602736"/>
            <a:ext cx="594360" cy="219456"/>
          </a:xfrm>
          <a:prstGeom prst="rect">
            <a:avLst/>
          </a:prstGeom>
          <a:noFill/>
          <a:ln/>
        </p:spPr>
        <p:txBody>
          <a:bodyPr wrap="square" lIns="0" tIns="0" rIns="0" bIns="0" rtlCol="0" anchor="ctr"/>
          <a:lstStyle/>
          <a:p>
            <a:pPr algn="r" indent="0" marL="0">
              <a:buNone/>
            </a:pPr>
            <a:r>
              <a:rPr lang="en-US" sz="750" b="1" dirty="0">
                <a:solidFill>
                  <a:srgbClr val="AE4E14"/>
                </a:solidFill>
                <a:latin typeface="Arial" pitchFamily="34" charset="0"/>
                <a:ea typeface="Arial" pitchFamily="34" charset="-122"/>
                <a:cs typeface="Arial" pitchFamily="34" charset="-120"/>
              </a:rPr>
              <a:t>27,03</a:t>
            </a:r>
            <a:endParaRPr lang="en-US" sz="750" dirty="0"/>
          </a:p>
        </p:txBody>
      </p:sp>
      <p:sp>
        <p:nvSpPr>
          <p:cNvPr id="30" name="Text 25"/>
          <p:cNvSpPr txBox="1"/>
          <p:nvPr/>
        </p:nvSpPr>
        <p:spPr>
          <a:xfrm>
            <a:off x="457200" y="4187952"/>
            <a:ext cx="4023360" cy="457200"/>
          </a:xfrm>
          <a:prstGeom prst="rect">
            <a:avLst/>
          </a:prstGeom>
          <a:noFill/>
          <a:ln/>
        </p:spPr>
        <p:txBody>
          <a:bodyPr wrap="square" lIns="0" tIns="0" rIns="0" bIns="0" rtlCol="0" anchor="t"/>
          <a:lstStyle/>
          <a:p>
            <a:pPr indent="0" marL="0">
              <a:buNone/>
            </a:pPr>
            <a:r>
              <a:rPr lang="en-US" sz="700" i="1" dirty="0">
                <a:solidFill>
                  <a:srgbClr val="5E6A77"/>
                </a:solidFill>
                <a:latin typeface="Arial" pitchFamily="34" charset="0"/>
                <a:ea typeface="Arial" pitchFamily="34" charset="-122"/>
                <a:cs typeface="Arial" pitchFamily="34" charset="-120"/>
              </a:rPr>
              <a:t>Novela publicada: 0,20–0,49 USD por capítulo, 55 llamadas, 472.436 tokens de salida. Techo por bucles acotados: el peor intento costó 6,05 USD y no se cobra (solo se factura lo publicado). Haiku 4.5: 1 USD/M tokens de entrada, 5 USD/M de salida.</a:t>
            </a:r>
            <a:endParaRPr lang="en-US" sz="700" dirty="0"/>
          </a:p>
        </p:txBody>
      </p:sp>
      <p:sp>
        <p:nvSpPr>
          <p:cNvPr id="31" name="Shape 26"/>
          <p:cNvSpPr/>
          <p:nvPr/>
        </p:nvSpPr>
        <p:spPr>
          <a:xfrm>
            <a:off x="4709160" y="1143000"/>
            <a:ext cx="3977640" cy="3474720"/>
          </a:xfrm>
          <a:prstGeom prst="roundRect">
            <a:avLst>
              <a:gd name="adj" fmla="val 2105"/>
            </a:avLst>
          </a:prstGeom>
          <a:solidFill>
            <a:srgbClr val="1E2B37"/>
          </a:solidFill>
          <a:ln/>
        </p:spPr>
      </p:sp>
      <p:sp>
        <p:nvSpPr>
          <p:cNvPr id="32" name="Text 27"/>
          <p:cNvSpPr txBox="1"/>
          <p:nvPr/>
        </p:nvSpPr>
        <p:spPr>
          <a:xfrm>
            <a:off x="4892040" y="1243584"/>
            <a:ext cx="3657600" cy="201168"/>
          </a:xfrm>
          <a:prstGeom prst="rect">
            <a:avLst/>
          </a:prstGeom>
          <a:noFill/>
          <a:ln/>
        </p:spPr>
        <p:txBody>
          <a:bodyPr wrap="square" lIns="0" tIns="0" rIns="0" bIns="0" rtlCol="0" anchor="t"/>
          <a:lstStyle/>
          <a:p>
            <a:pPr indent="0" marL="0">
              <a:buNone/>
            </a:pPr>
            <a:r>
              <a:rPr lang="en-US" sz="800" b="1" spc="150" kern="0" dirty="0">
                <a:solidFill>
                  <a:srgbClr val="FF7A2F"/>
                </a:solidFill>
                <a:latin typeface="Arial" pitchFamily="34" charset="0"/>
                <a:ea typeface="Arial" pitchFamily="34" charset="-122"/>
                <a:cs typeface="Arial" pitchFamily="34" charset="-120"/>
              </a:rPr>
              <a:t>PROPUESTA ECONÓMICA</a:t>
            </a:r>
            <a:endParaRPr lang="en-US" sz="800" dirty="0"/>
          </a:p>
        </p:txBody>
      </p:sp>
      <p:sp>
        <p:nvSpPr>
          <p:cNvPr id="33" name="Text 28"/>
          <p:cNvSpPr txBox="1"/>
          <p:nvPr/>
        </p:nvSpPr>
        <p:spPr>
          <a:xfrm>
            <a:off x="4892040" y="1499616"/>
            <a:ext cx="2743200" cy="22860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Piloto de implantación (8 semanas)</a:t>
            </a:r>
            <a:endParaRPr lang="en-US" sz="900" dirty="0"/>
          </a:p>
        </p:txBody>
      </p:sp>
      <p:sp>
        <p:nvSpPr>
          <p:cNvPr id="34" name="Text 29"/>
          <p:cNvSpPr txBox="1"/>
          <p:nvPr/>
        </p:nvSpPr>
        <p:spPr>
          <a:xfrm>
            <a:off x="7589520" y="1499616"/>
            <a:ext cx="960120" cy="228600"/>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28.800 €</a:t>
            </a:r>
            <a:endParaRPr lang="en-US" sz="900" dirty="0"/>
          </a:p>
        </p:txBody>
      </p:sp>
      <p:sp>
        <p:nvSpPr>
          <p:cNvPr id="35" name="Text 30"/>
          <p:cNvSpPr txBox="1"/>
          <p:nvPr/>
        </p:nvSpPr>
        <p:spPr>
          <a:xfrm>
            <a:off x="5056632" y="1746504"/>
            <a:ext cx="2743200" cy="228600"/>
          </a:xfrm>
          <a:prstGeom prst="rect">
            <a:avLst/>
          </a:prstGeom>
          <a:noFill/>
          <a:ln/>
        </p:spPr>
        <p:txBody>
          <a:bodyPr wrap="square" lIns="0" tIns="0" rIns="0" bIns="0" rtlCol="0" anchor="ctr"/>
          <a:lstStyle/>
          <a:p>
            <a:pPr indent="0" marL="0">
              <a:buNone/>
            </a:pPr>
            <a:r>
              <a:rPr lang="en-US" sz="800" dirty="0">
                <a:solidFill>
                  <a:srgbClr val="AEB8C2"/>
                </a:solidFill>
                <a:latin typeface="Arial" pitchFamily="34" charset="0"/>
                <a:ea typeface="Arial" pitchFamily="34" charset="-122"/>
                <a:cs typeface="Arial" pitchFamily="34" charset="-120"/>
              </a:rPr>
              <a:t>integración con la tienda y login</a:t>
            </a:r>
            <a:endParaRPr lang="en-US" sz="800" dirty="0"/>
          </a:p>
        </p:txBody>
      </p:sp>
      <p:sp>
        <p:nvSpPr>
          <p:cNvPr id="36" name="Text 31"/>
          <p:cNvSpPr txBox="1"/>
          <p:nvPr/>
        </p:nvSpPr>
        <p:spPr>
          <a:xfrm>
            <a:off x="7589520" y="1746504"/>
            <a:ext cx="960120" cy="228600"/>
          </a:xfrm>
          <a:prstGeom prst="rect">
            <a:avLst/>
          </a:prstGeom>
          <a:noFill/>
          <a:ln/>
        </p:spPr>
        <p:txBody>
          <a:bodyPr wrap="square" lIns="0" tIns="0" rIns="0" bIns="0" rtlCol="0" anchor="ctr"/>
          <a:lstStyle/>
          <a:p>
            <a:pPr algn="r" indent="0" marL="0">
              <a:buNone/>
            </a:pPr>
            <a:r>
              <a:rPr lang="en-US" sz="800" dirty="0">
                <a:solidFill>
                  <a:srgbClr val="AEB8C2"/>
                </a:solidFill>
                <a:latin typeface="Arial" pitchFamily="34" charset="0"/>
                <a:ea typeface="Arial" pitchFamily="34" charset="-122"/>
                <a:cs typeface="Arial" pitchFamily="34" charset="-120"/>
              </a:rPr>
              <a:t>8.000 €</a:t>
            </a:r>
            <a:endParaRPr lang="en-US" sz="800" dirty="0"/>
          </a:p>
        </p:txBody>
      </p:sp>
      <p:sp>
        <p:nvSpPr>
          <p:cNvPr id="37" name="Text 32"/>
          <p:cNvSpPr txBox="1"/>
          <p:nvPr/>
        </p:nvSpPr>
        <p:spPr>
          <a:xfrm>
            <a:off x="5056632" y="1993392"/>
            <a:ext cx="2743200" cy="228600"/>
          </a:xfrm>
          <a:prstGeom prst="rect">
            <a:avLst/>
          </a:prstGeom>
          <a:noFill/>
          <a:ln/>
        </p:spPr>
        <p:txBody>
          <a:bodyPr wrap="square" lIns="0" tIns="0" rIns="0" bIns="0" rtlCol="0" anchor="ctr"/>
          <a:lstStyle/>
          <a:p>
            <a:pPr indent="0" marL="0">
              <a:buNone/>
            </a:pPr>
            <a:r>
              <a:rPr lang="en-US" sz="800" dirty="0">
                <a:solidFill>
                  <a:srgbClr val="AEB8C2"/>
                </a:solidFill>
                <a:latin typeface="Arial" pitchFamily="34" charset="0"/>
                <a:ea typeface="Arial" pitchFamily="34" charset="-122"/>
                <a:cs typeface="Arial" pitchFamily="34" charset="-120"/>
              </a:rPr>
              <a:t>lector y PDF con marca blanca</a:t>
            </a:r>
            <a:endParaRPr lang="en-US" sz="800" dirty="0"/>
          </a:p>
        </p:txBody>
      </p:sp>
      <p:sp>
        <p:nvSpPr>
          <p:cNvPr id="38" name="Text 33"/>
          <p:cNvSpPr txBox="1"/>
          <p:nvPr/>
        </p:nvSpPr>
        <p:spPr>
          <a:xfrm>
            <a:off x="7589520" y="1993392"/>
            <a:ext cx="960120" cy="228600"/>
          </a:xfrm>
          <a:prstGeom prst="rect">
            <a:avLst/>
          </a:prstGeom>
          <a:noFill/>
          <a:ln/>
        </p:spPr>
        <p:txBody>
          <a:bodyPr wrap="square" lIns="0" tIns="0" rIns="0" bIns="0" rtlCol="0" anchor="ctr"/>
          <a:lstStyle/>
          <a:p>
            <a:pPr algn="r" indent="0" marL="0">
              <a:buNone/>
            </a:pPr>
            <a:r>
              <a:rPr lang="en-US" sz="800" dirty="0">
                <a:solidFill>
                  <a:srgbClr val="AEB8C2"/>
                </a:solidFill>
                <a:latin typeface="Arial" pitchFamily="34" charset="0"/>
                <a:ea typeface="Arial" pitchFamily="34" charset="-122"/>
                <a:cs typeface="Arial" pitchFamily="34" charset="-120"/>
              </a:rPr>
              <a:t>6.400 €</a:t>
            </a:r>
            <a:endParaRPr lang="en-US" sz="800" dirty="0"/>
          </a:p>
        </p:txBody>
      </p:sp>
      <p:sp>
        <p:nvSpPr>
          <p:cNvPr id="39" name="Text 34"/>
          <p:cNvSpPr txBox="1"/>
          <p:nvPr/>
        </p:nvSpPr>
        <p:spPr>
          <a:xfrm>
            <a:off x="5056632" y="2240280"/>
            <a:ext cx="2743200" cy="228600"/>
          </a:xfrm>
          <a:prstGeom prst="rect">
            <a:avLst/>
          </a:prstGeom>
          <a:noFill/>
          <a:ln/>
        </p:spPr>
        <p:txBody>
          <a:bodyPr wrap="square" lIns="0" tIns="0" rIns="0" bIns="0" rtlCol="0" anchor="ctr"/>
          <a:lstStyle/>
          <a:p>
            <a:pPr indent="0" marL="0">
              <a:buNone/>
            </a:pPr>
            <a:r>
              <a:rPr lang="en-US" sz="800" dirty="0">
                <a:solidFill>
                  <a:srgbClr val="AEB8C2"/>
                </a:solidFill>
                <a:latin typeface="Arial" pitchFamily="34" charset="0"/>
                <a:ea typeface="Arial" pitchFamily="34" charset="-122"/>
                <a:cs typeface="Arial" pitchFamily="34" charset="-120"/>
              </a:rPr>
              <a:t>QA editorial: 50 novelas y calibración del juez</a:t>
            </a:r>
            <a:endParaRPr lang="en-US" sz="800" dirty="0"/>
          </a:p>
        </p:txBody>
      </p:sp>
      <p:sp>
        <p:nvSpPr>
          <p:cNvPr id="40" name="Text 35"/>
          <p:cNvSpPr txBox="1"/>
          <p:nvPr/>
        </p:nvSpPr>
        <p:spPr>
          <a:xfrm>
            <a:off x="7589520" y="2240280"/>
            <a:ext cx="960120" cy="228600"/>
          </a:xfrm>
          <a:prstGeom prst="rect">
            <a:avLst/>
          </a:prstGeom>
          <a:noFill/>
          <a:ln/>
        </p:spPr>
        <p:txBody>
          <a:bodyPr wrap="square" lIns="0" tIns="0" rIns="0" bIns="0" rtlCol="0" anchor="ctr"/>
          <a:lstStyle/>
          <a:p>
            <a:pPr algn="r" indent="0" marL="0">
              <a:buNone/>
            </a:pPr>
            <a:r>
              <a:rPr lang="en-US" sz="800" dirty="0">
                <a:solidFill>
                  <a:srgbClr val="AEB8C2"/>
                </a:solidFill>
                <a:latin typeface="Arial" pitchFamily="34" charset="0"/>
                <a:ea typeface="Arial" pitchFamily="34" charset="-122"/>
                <a:cs typeface="Arial" pitchFamily="34" charset="-120"/>
              </a:rPr>
              <a:t>7.200 €</a:t>
            </a:r>
            <a:endParaRPr lang="en-US" sz="800" dirty="0"/>
          </a:p>
        </p:txBody>
      </p:sp>
      <p:sp>
        <p:nvSpPr>
          <p:cNvPr id="41" name="Text 36"/>
          <p:cNvSpPr txBox="1"/>
          <p:nvPr/>
        </p:nvSpPr>
        <p:spPr>
          <a:xfrm>
            <a:off x="5056632" y="2487168"/>
            <a:ext cx="2743200" cy="228600"/>
          </a:xfrm>
          <a:prstGeom prst="rect">
            <a:avLst/>
          </a:prstGeom>
          <a:noFill/>
          <a:ln/>
        </p:spPr>
        <p:txBody>
          <a:bodyPr wrap="square" lIns="0" tIns="0" rIns="0" bIns="0" rtlCol="0" anchor="ctr"/>
          <a:lstStyle/>
          <a:p>
            <a:pPr indent="0" marL="0">
              <a:buNone/>
            </a:pPr>
            <a:r>
              <a:rPr lang="en-US" sz="800" dirty="0">
                <a:solidFill>
                  <a:srgbClr val="AEB8C2"/>
                </a:solidFill>
                <a:latin typeface="Arial" pitchFamily="34" charset="0"/>
                <a:ea typeface="Arial" pitchFamily="34" charset="-122"/>
                <a:cs typeface="Arial" pitchFamily="34" charset="-120"/>
              </a:rPr>
              <a:t>RGPD: enmascarado en trazas, borrado, DPA</a:t>
            </a:r>
            <a:endParaRPr lang="en-US" sz="800" dirty="0"/>
          </a:p>
        </p:txBody>
      </p:sp>
      <p:sp>
        <p:nvSpPr>
          <p:cNvPr id="42" name="Text 37"/>
          <p:cNvSpPr txBox="1"/>
          <p:nvPr/>
        </p:nvSpPr>
        <p:spPr>
          <a:xfrm>
            <a:off x="7589520" y="2487168"/>
            <a:ext cx="960120" cy="228600"/>
          </a:xfrm>
          <a:prstGeom prst="rect">
            <a:avLst/>
          </a:prstGeom>
          <a:noFill/>
          <a:ln/>
        </p:spPr>
        <p:txBody>
          <a:bodyPr wrap="square" lIns="0" tIns="0" rIns="0" bIns="0" rtlCol="0" anchor="ctr"/>
          <a:lstStyle/>
          <a:p>
            <a:pPr algn="r" indent="0" marL="0">
              <a:buNone/>
            </a:pPr>
            <a:r>
              <a:rPr lang="en-US" sz="800" dirty="0">
                <a:solidFill>
                  <a:srgbClr val="AEB8C2"/>
                </a:solidFill>
                <a:latin typeface="Arial" pitchFamily="34" charset="0"/>
                <a:ea typeface="Arial" pitchFamily="34" charset="-122"/>
                <a:cs typeface="Arial" pitchFamily="34" charset="-120"/>
              </a:rPr>
              <a:t>4.800 €</a:t>
            </a:r>
            <a:endParaRPr lang="en-US" sz="800" dirty="0"/>
          </a:p>
        </p:txBody>
      </p:sp>
      <p:sp>
        <p:nvSpPr>
          <p:cNvPr id="43" name="Text 38"/>
          <p:cNvSpPr txBox="1"/>
          <p:nvPr/>
        </p:nvSpPr>
        <p:spPr>
          <a:xfrm>
            <a:off x="5056632" y="2734056"/>
            <a:ext cx="2743200" cy="228600"/>
          </a:xfrm>
          <a:prstGeom prst="rect">
            <a:avLst/>
          </a:prstGeom>
          <a:noFill/>
          <a:ln/>
        </p:spPr>
        <p:txBody>
          <a:bodyPr wrap="square" lIns="0" tIns="0" rIns="0" bIns="0" rtlCol="0" anchor="ctr"/>
          <a:lstStyle/>
          <a:p>
            <a:pPr indent="0" marL="0">
              <a:buNone/>
            </a:pPr>
            <a:r>
              <a:rPr lang="en-US" sz="800" dirty="0">
                <a:solidFill>
                  <a:srgbClr val="AEB8C2"/>
                </a:solidFill>
                <a:latin typeface="Arial" pitchFamily="34" charset="0"/>
                <a:ea typeface="Arial" pitchFamily="34" charset="-122"/>
                <a:cs typeface="Arial" pitchFamily="34" charset="-120"/>
              </a:rPr>
              <a:t>formación y puesta en marcha</a:t>
            </a:r>
            <a:endParaRPr lang="en-US" sz="800" dirty="0"/>
          </a:p>
        </p:txBody>
      </p:sp>
      <p:sp>
        <p:nvSpPr>
          <p:cNvPr id="44" name="Text 39"/>
          <p:cNvSpPr txBox="1"/>
          <p:nvPr/>
        </p:nvSpPr>
        <p:spPr>
          <a:xfrm>
            <a:off x="7589520" y="2734056"/>
            <a:ext cx="960120" cy="228600"/>
          </a:xfrm>
          <a:prstGeom prst="rect">
            <a:avLst/>
          </a:prstGeom>
          <a:noFill/>
          <a:ln/>
        </p:spPr>
        <p:txBody>
          <a:bodyPr wrap="square" lIns="0" tIns="0" rIns="0" bIns="0" rtlCol="0" anchor="ctr"/>
          <a:lstStyle/>
          <a:p>
            <a:pPr algn="r" indent="0" marL="0">
              <a:buNone/>
            </a:pPr>
            <a:r>
              <a:rPr lang="en-US" sz="800" dirty="0">
                <a:solidFill>
                  <a:srgbClr val="AEB8C2"/>
                </a:solidFill>
                <a:latin typeface="Arial" pitchFamily="34" charset="0"/>
                <a:ea typeface="Arial" pitchFamily="34" charset="-122"/>
                <a:cs typeface="Arial" pitchFamily="34" charset="-120"/>
              </a:rPr>
              <a:t>2.400 €</a:t>
            </a:r>
            <a:endParaRPr lang="en-US" sz="800" dirty="0"/>
          </a:p>
        </p:txBody>
      </p:sp>
      <p:sp>
        <p:nvSpPr>
          <p:cNvPr id="45" name="Text 40"/>
          <p:cNvSpPr txBox="1"/>
          <p:nvPr/>
        </p:nvSpPr>
        <p:spPr>
          <a:xfrm>
            <a:off x="4892040" y="2980944"/>
            <a:ext cx="2743200" cy="22860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Plataforma (hosting, Langfuse, soporte)</a:t>
            </a:r>
            <a:endParaRPr lang="en-US" sz="900" dirty="0"/>
          </a:p>
        </p:txBody>
      </p:sp>
      <p:sp>
        <p:nvSpPr>
          <p:cNvPr id="46" name="Text 41"/>
          <p:cNvSpPr txBox="1"/>
          <p:nvPr/>
        </p:nvSpPr>
        <p:spPr>
          <a:xfrm>
            <a:off x="7589520" y="2980944"/>
            <a:ext cx="960120" cy="228600"/>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600 €/mes</a:t>
            </a:r>
            <a:endParaRPr lang="en-US" sz="900" dirty="0"/>
          </a:p>
        </p:txBody>
      </p:sp>
      <p:sp>
        <p:nvSpPr>
          <p:cNvPr id="47" name="Text 42"/>
          <p:cNvSpPr txBox="1"/>
          <p:nvPr/>
        </p:nvSpPr>
        <p:spPr>
          <a:xfrm>
            <a:off x="4892040" y="3227832"/>
            <a:ext cx="2743200" cy="22860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Por novela publicada (incluye 1 cambio)</a:t>
            </a:r>
            <a:endParaRPr lang="en-US" sz="900" dirty="0"/>
          </a:p>
        </p:txBody>
      </p:sp>
      <p:sp>
        <p:nvSpPr>
          <p:cNvPr id="48" name="Text 43"/>
          <p:cNvSpPr txBox="1"/>
          <p:nvPr/>
        </p:nvSpPr>
        <p:spPr>
          <a:xfrm>
            <a:off x="7589520" y="3227832"/>
            <a:ext cx="960120" cy="228600"/>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12 €</a:t>
            </a:r>
            <a:endParaRPr lang="en-US" sz="900" dirty="0"/>
          </a:p>
        </p:txBody>
      </p:sp>
      <p:sp>
        <p:nvSpPr>
          <p:cNvPr id="49" name="Text 44"/>
          <p:cNvSpPr txBox="1"/>
          <p:nvPr/>
        </p:nvSpPr>
        <p:spPr>
          <a:xfrm>
            <a:off x="4892040" y="3474720"/>
            <a:ext cx="2743200" cy="22860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Cambios adicionales</a:t>
            </a:r>
            <a:endParaRPr lang="en-US" sz="900" dirty="0"/>
          </a:p>
        </p:txBody>
      </p:sp>
      <p:sp>
        <p:nvSpPr>
          <p:cNvPr id="50" name="Text 45"/>
          <p:cNvSpPr txBox="1"/>
          <p:nvPr/>
        </p:nvSpPr>
        <p:spPr>
          <a:xfrm>
            <a:off x="7589520" y="3474720"/>
            <a:ext cx="960120" cy="228600"/>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2 €</a:t>
            </a:r>
            <a:endParaRPr lang="en-US" sz="900" dirty="0"/>
          </a:p>
        </p:txBody>
      </p:sp>
      <p:sp>
        <p:nvSpPr>
          <p:cNvPr id="51" name="Shape 46"/>
          <p:cNvSpPr/>
          <p:nvPr/>
        </p:nvSpPr>
        <p:spPr>
          <a:xfrm>
            <a:off x="4846320" y="3767328"/>
            <a:ext cx="3703320" cy="731520"/>
          </a:xfrm>
          <a:prstGeom prst="roundRect">
            <a:avLst>
              <a:gd name="adj" fmla="val 10000"/>
            </a:avLst>
          </a:prstGeom>
          <a:solidFill>
            <a:srgbClr val="2A3B4A"/>
          </a:solidFill>
          <a:ln/>
        </p:spPr>
      </p:sp>
      <p:sp>
        <p:nvSpPr>
          <p:cNvPr id="52" name="Text 47"/>
          <p:cNvSpPr txBox="1"/>
          <p:nvPr/>
        </p:nvSpPr>
        <p:spPr>
          <a:xfrm>
            <a:off x="4983480" y="3767328"/>
            <a:ext cx="3474720" cy="731520"/>
          </a:xfrm>
          <a:prstGeom prst="rect">
            <a:avLst/>
          </a:prstGeom>
          <a:noFill/>
          <a:ln/>
        </p:spPr>
        <p:txBody>
          <a:bodyPr wrap="square" lIns="0" tIns="0" rIns="0" bIns="0" rtlCol="0" anchor="ctr"/>
          <a:lstStyle/>
          <a:p>
            <a:pPr indent="0" marL="0">
              <a:buNone/>
            </a:pPr>
            <a:r>
              <a:rPr lang="en-US" sz="800" b="1" dirty="0">
                <a:solidFill>
                  <a:srgbClr val="FF7A2F"/>
                </a:solidFill>
                <a:latin typeface="Arial" pitchFamily="34" charset="0"/>
                <a:ea typeface="Arial" pitchFamily="34" charset="-122"/>
                <a:cs typeface="Arial" pitchFamily="34" charset="-120"/>
              </a:rPr>
              <a:t>Ejemplo con PVP de 39 €: </a:t>
            </a:r>
            <a:pPr indent="0" marL="0">
              <a:buNone/>
            </a:pPr>
            <a:r>
              <a:rPr lang="en-US" sz="800" dirty="0">
                <a:solidFill>
                  <a:srgbClr val="FFFFFF"/>
                </a:solidFill>
                <a:latin typeface="Arial" pitchFamily="34" charset="0"/>
                <a:ea typeface="Arial" pitchFamily="34" charset="-122"/>
                <a:cs typeface="Arial" pitchFamily="34" charset="-120"/>
              </a:rPr>
              <a:t>12 € a Qaracter, 27 € de margen bruto para Cuentalia; la cuota se cubre con 23 novelas al mes. Precios sin IVA; 1 USD ≈ 0,90 € (supuesto).</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PRESUPUESTO Y COSTE · 2/2</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Coste unitario, proyecto, volumen y sensibilidad</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12</a:t>
            </a:r>
            <a:endParaRPr lang="en-US" sz="750" dirty="0"/>
          </a:p>
        </p:txBody>
      </p:sp>
      <p:sp>
        <p:nvSpPr>
          <p:cNvPr id="8" name="Text 4"/>
          <p:cNvSpPr txBox="1"/>
          <p:nvPr/>
        </p:nvSpPr>
        <p:spPr>
          <a:xfrm>
            <a:off x="457200" y="1115568"/>
            <a:ext cx="4023360" cy="182880"/>
          </a:xfrm>
          <a:prstGeom prst="rect">
            <a:avLst/>
          </a:prstGeom>
          <a:noFill/>
          <a:ln/>
        </p:spPr>
        <p:txBody>
          <a:bodyPr wrap="square" lIns="0" tIns="0" rIns="0" bIns="0" rtlCol="0" anchor="t"/>
          <a:lstStyle/>
          <a:p>
            <a:pPr indent="0" marL="0">
              <a:buNone/>
            </a:pPr>
            <a:r>
              <a:rPr lang="en-US" sz="750" b="1" spc="100" kern="0" dirty="0">
                <a:solidFill>
                  <a:srgbClr val="AE4E14"/>
                </a:solidFill>
                <a:latin typeface="Arial" pitchFamily="34" charset="0"/>
                <a:ea typeface="Arial" pitchFamily="34" charset="-122"/>
                <a:cs typeface="Arial" pitchFamily="34" charset="-120"/>
              </a:rPr>
              <a:t>COSTE UNITARIO POR NOVELA</a:t>
            </a:r>
            <a:endParaRPr lang="en-US" sz="7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023360" cy="914400"/>
        </p:xfrm>
        <a:graphic>
          <a:graphicData uri="http://schemas.openxmlformats.org/drawingml/2006/table">
            <a:tbl>
              <a:tblPr/>
              <a:tblGrid>
                <a:gridCol w="2834640"/>
                <a:gridCol w="1188720"/>
              </a:tblGrid>
              <a:tr h="219456">
                <a:tc>
                  <a:txBody>
                    <a:bodyPr/>
                    <a:lstStyle/>
                    <a:p>
                      <a:pPr indent="0" marL="0">
                        <a:buNone/>
                      </a:pPr>
                      <a:r>
                        <a:rPr lang="en-US" sz="750" b="1" dirty="0">
                          <a:solidFill>
                            <a:srgbClr val="FFFFFF"/>
                          </a:solidFill>
                          <a:latin typeface="Arial" pitchFamily="34" charset="0"/>
                          <a:ea typeface="Arial" pitchFamily="34" charset="-122"/>
                          <a:cs typeface="Arial" pitchFamily="34" charset="-120"/>
                        </a:rPr>
                        <a:t>Concepto</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Tokens medidos en Langfuse (3,10 USD)</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2,79</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Contingencia de reintentos (+30 %)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0,84</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1 cambio del lector incluido (0,94 USD)</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0,85</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Infraestructura (150 €/mes ÷ 500 novelas)</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0,30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19456">
                <a:tc>
                  <a:txBody>
                    <a:bodyPr/>
                    <a:lstStyle/>
                    <a:p>
                      <a:pPr indent="0" marL="0">
                        <a:buNone/>
                      </a:pPr>
                      <a:r>
                        <a:rPr lang="en-US" sz="750" b="1" dirty="0">
                          <a:solidFill>
                            <a:srgbClr val="1E2B37"/>
                          </a:solidFill>
                          <a:latin typeface="Arial" pitchFamily="34" charset="0"/>
                          <a:ea typeface="Arial" pitchFamily="34" charset="-122"/>
                          <a:cs typeface="Arial" pitchFamily="34" charset="-120"/>
                        </a:rPr>
                        <a:t>Coste total</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b="1" dirty="0">
                          <a:solidFill>
                            <a:srgbClr val="1E2B37"/>
                          </a:solidFill>
                          <a:latin typeface="Arial" pitchFamily="34" charset="0"/>
                          <a:ea typeface="Arial" pitchFamily="34" charset="-122"/>
                          <a:cs typeface="Arial" pitchFamily="34" charset="-120"/>
                        </a:rPr>
                        <a:t>4,77</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19456">
                <a:tc>
                  <a:txBody>
                    <a:bodyPr/>
                    <a:lstStyle/>
                    <a:p>
                      <a:pPr indent="0" marL="0">
                        <a:buNone/>
                      </a:pPr>
                      <a:r>
                        <a:rPr lang="en-US" sz="750" b="1" dirty="0">
                          <a:solidFill>
                            <a:srgbClr val="AE4E14"/>
                          </a:solidFill>
                          <a:latin typeface="Arial" pitchFamily="34" charset="0"/>
                          <a:ea typeface="Arial" pitchFamily="34" charset="-122"/>
                          <a:cs typeface="Arial" pitchFamily="34" charset="-120"/>
                        </a:rPr>
                        <a:t>Precio a Cuentalia · margen operativo Qaracter</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b="1" dirty="0">
                          <a:solidFill>
                            <a:srgbClr val="AE4E14"/>
                          </a:solidFill>
                          <a:latin typeface="Arial" pitchFamily="34" charset="0"/>
                          <a:ea typeface="Arial" pitchFamily="34" charset="-122"/>
                          <a:cs typeface="Arial" pitchFamily="34" charset="-120"/>
                        </a:rPr>
                        <a:t>12 · 7,23 (60 %)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bl>
          </a:graphicData>
        </a:graphic>
      </p:graphicFrame>
      <p:sp>
        <p:nvSpPr>
          <p:cNvPr id="10" name="Text 5"/>
          <p:cNvSpPr txBox="1"/>
          <p:nvPr/>
        </p:nvSpPr>
        <p:spPr>
          <a:xfrm>
            <a:off x="4709160" y="1115568"/>
            <a:ext cx="3977640" cy="182880"/>
          </a:xfrm>
          <a:prstGeom prst="rect">
            <a:avLst/>
          </a:prstGeom>
          <a:noFill/>
          <a:ln/>
        </p:spPr>
        <p:txBody>
          <a:bodyPr wrap="square" lIns="0" tIns="0" rIns="0" bIns="0" rtlCol="0" anchor="t"/>
          <a:lstStyle/>
          <a:p>
            <a:pPr indent="0" marL="0">
              <a:buNone/>
            </a:pPr>
            <a:r>
              <a:rPr lang="en-US" sz="750" b="1" spc="100" kern="0" dirty="0">
                <a:solidFill>
                  <a:srgbClr val="AE4E14"/>
                </a:solidFill>
                <a:latin typeface="Arial" pitchFamily="34" charset="0"/>
                <a:ea typeface="Arial" pitchFamily="34" charset="-122"/>
                <a:cs typeface="Arial" pitchFamily="34" charset="-120"/>
              </a:rPr>
              <a:t>PROYECTO DE DESARROLLO</a:t>
            </a:r>
            <a:endParaRPr lang="en-US" sz="75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709160" y="1325880"/>
          <a:ext cx="3977640" cy="914400"/>
        </p:xfrm>
        <a:graphic>
          <a:graphicData uri="http://schemas.openxmlformats.org/drawingml/2006/table">
            <a:tbl>
              <a:tblPr/>
              <a:tblGrid>
                <a:gridCol w="2514600"/>
                <a:gridCol w="548640"/>
                <a:gridCol w="914400"/>
              </a:tblGrid>
              <a:tr h="219456">
                <a:tc>
                  <a:txBody>
                    <a:bodyPr/>
                    <a:lstStyle/>
                    <a:p>
                      <a:pPr indent="0" marL="0">
                        <a:buNone/>
                      </a:pPr>
                      <a:r>
                        <a:rPr lang="en-US" sz="750" b="1" dirty="0">
                          <a:solidFill>
                            <a:srgbClr val="FFFFFF"/>
                          </a:solidFill>
                          <a:latin typeface="Arial" pitchFamily="34" charset="0"/>
                          <a:ea typeface="Arial" pitchFamily="34" charset="-122"/>
                          <a:cs typeface="Arial" pitchFamily="34" charset="-120"/>
                        </a:rPr>
                        <a:t>Fase</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Horas</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Diseño (specs, arquitectura, TLA+)</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60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4.800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Desarrollo (pipeline, lector, integración)</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180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14.400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Validación (evals, Lean, QA editorial)</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90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7.200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Despliegue (RGPD, puesta en marcha)</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30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2.400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19456">
                <a:tc>
                  <a:txBody>
                    <a:bodyPr/>
                    <a:lstStyle/>
                    <a:p>
                      <a:pPr indent="0" marL="0">
                        <a:buNone/>
                      </a:pPr>
                      <a:r>
                        <a:rPr lang="en-US" sz="750" b="1" dirty="0">
                          <a:solidFill>
                            <a:srgbClr val="1E2B37"/>
                          </a:solidFill>
                          <a:latin typeface="Arial" pitchFamily="34" charset="0"/>
                          <a:ea typeface="Arial" pitchFamily="34" charset="-122"/>
                          <a:cs typeface="Arial" pitchFamily="34" charset="-120"/>
                        </a:rPr>
                        <a:t>Total a 80 €/h</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b="1" dirty="0">
                          <a:solidFill>
                            <a:srgbClr val="1E2B37"/>
                          </a:solidFill>
                          <a:latin typeface="Arial" pitchFamily="34" charset="0"/>
                          <a:ea typeface="Arial" pitchFamily="34" charset="-122"/>
                          <a:cs typeface="Arial" pitchFamily="34" charset="-120"/>
                        </a:rPr>
                        <a:t>360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b="1" dirty="0">
                          <a:solidFill>
                            <a:srgbClr val="AE4E14"/>
                          </a:solidFill>
                          <a:latin typeface="Arial" pitchFamily="34" charset="0"/>
                          <a:ea typeface="Arial" pitchFamily="34" charset="-122"/>
                          <a:cs typeface="Arial" pitchFamily="34" charset="-120"/>
                        </a:rPr>
                        <a:t>28.800 €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bl>
          </a:graphicData>
        </a:graphic>
      </p:graphicFrame>
      <p:sp>
        <p:nvSpPr>
          <p:cNvPr id="12" name="Text 6"/>
          <p:cNvSpPr txBox="1"/>
          <p:nvPr/>
        </p:nvSpPr>
        <p:spPr>
          <a:xfrm>
            <a:off x="457200" y="2971800"/>
            <a:ext cx="4023360" cy="182880"/>
          </a:xfrm>
          <a:prstGeom prst="rect">
            <a:avLst/>
          </a:prstGeom>
          <a:noFill/>
          <a:ln/>
        </p:spPr>
        <p:txBody>
          <a:bodyPr wrap="square" lIns="0" tIns="0" rIns="0" bIns="0" rtlCol="0" anchor="t"/>
          <a:lstStyle/>
          <a:p>
            <a:pPr indent="0" marL="0">
              <a:buNone/>
            </a:pPr>
            <a:r>
              <a:rPr lang="en-US" sz="750" b="1" spc="100" kern="0" dirty="0">
                <a:solidFill>
                  <a:srgbClr val="AE4E14"/>
                </a:solidFill>
                <a:latin typeface="Arial" pitchFamily="34" charset="0"/>
                <a:ea typeface="Arial" pitchFamily="34" charset="-122"/>
                <a:cs typeface="Arial" pitchFamily="34" charset="-120"/>
              </a:rPr>
              <a:t>ESCENARIOS DE VOLUMEN (€/MES)</a:t>
            </a:r>
            <a:endParaRPr lang="en-US" sz="750" dirty="0"/>
          </a:p>
        </p:txBody>
      </p:sp>
      <p:graphicFrame>
        <p:nvGraphicFramePr>
          <p:cNvPr id="37" name="Table 2"/>
          <p:cNvGraphicFramePr>
            <a:graphicFrameLocks noGrp="1"/>
          </p:cNvGraphicFramePr>
          <p:nvPr>
            <p:extLst>
              <p:ext uri="{D42A27DB-BD31-4B8C-83A1-F6EECF244321}">
                <p14:modId xmlns:p14="http://schemas.microsoft.com/office/powerpoint/2010/main" val="1579011935"/>
              </p:ext>
            </p:extLst>
          </p:nvPr>
        </p:nvGraphicFramePr>
        <p:xfrm>
          <a:off x="457200" y="3182112"/>
          <a:ext cx="4023360" cy="914400"/>
        </p:xfrm>
        <a:graphic>
          <a:graphicData uri="http://schemas.openxmlformats.org/drawingml/2006/table">
            <a:tbl>
              <a:tblPr/>
              <a:tblGrid>
                <a:gridCol w="1737360"/>
                <a:gridCol w="758952"/>
                <a:gridCol w="758952"/>
                <a:gridCol w="768096"/>
              </a:tblGrid>
              <a:tr h="237744">
                <a:tc>
                  <a:txBody>
                    <a:bodyPr/>
                    <a:lstStyle/>
                    <a:p>
                      <a:pPr indent="0" marL="0">
                        <a:buNone/>
                      </a:pPr>
                      <a:r>
                        <a:rPr lang="en-US" sz="750" b="1" dirty="0">
                          <a:solidFill>
                            <a:srgbClr val="FFFFFF"/>
                          </a:solidFill>
                          <a:latin typeface="Arial" pitchFamily="34" charset="0"/>
                          <a:ea typeface="Arial" pitchFamily="34" charset="-122"/>
                          <a:cs typeface="Arial" pitchFamily="34" charset="-120"/>
                        </a:rPr>
                        <a:t>Novelas/mes</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100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500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2.000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r>
              <a:tr h="237744">
                <a:tc>
                  <a:txBody>
                    <a:bodyPr/>
                    <a:lstStyle/>
                    <a:p>
                      <a:pPr indent="0" marL="0">
                        <a:buNone/>
                      </a:pPr>
                      <a:r>
                        <a:rPr lang="en-US" sz="750" dirty="0">
                          <a:solidFill>
                            <a:srgbClr val="1E2B37"/>
                          </a:solidFill>
                          <a:latin typeface="Arial" pitchFamily="34" charset="0"/>
                          <a:ea typeface="Arial" pitchFamily="34" charset="-122"/>
                          <a:cs typeface="Arial" pitchFamily="34" charset="-120"/>
                        </a:rPr>
                        <a:t>Ventas Cuentalia (PVP 39 €)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3.900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19.500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78.000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37744">
                <a:tc>
                  <a:txBody>
                    <a:bodyPr/>
                    <a:lstStyle/>
                    <a:p>
                      <a:pPr indent="0" marL="0">
                        <a:buNone/>
                      </a:pPr>
                      <a:r>
                        <a:rPr lang="en-US" sz="750" dirty="0">
                          <a:solidFill>
                            <a:srgbClr val="1E2B37"/>
                          </a:solidFill>
                          <a:latin typeface="Arial" pitchFamily="34" charset="0"/>
                          <a:ea typeface="Arial" pitchFamily="34" charset="-122"/>
                          <a:cs typeface="Arial" pitchFamily="34" charset="-120"/>
                        </a:rPr>
                        <a:t>Margen Cuentalia</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b="1" dirty="0">
                          <a:solidFill>
                            <a:srgbClr val="1E2B37"/>
                          </a:solidFill>
                          <a:latin typeface="Arial" pitchFamily="34" charset="0"/>
                          <a:ea typeface="Arial" pitchFamily="34" charset="-122"/>
                          <a:cs typeface="Arial" pitchFamily="34" charset="-120"/>
                        </a:rPr>
                        <a:t>2.100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b="1" dirty="0">
                          <a:solidFill>
                            <a:srgbClr val="1E2B37"/>
                          </a:solidFill>
                          <a:latin typeface="Arial" pitchFamily="34" charset="0"/>
                          <a:ea typeface="Arial" pitchFamily="34" charset="-122"/>
                          <a:cs typeface="Arial" pitchFamily="34" charset="-120"/>
                        </a:rPr>
                        <a:t>12.900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b="1" dirty="0">
                          <a:solidFill>
                            <a:srgbClr val="1E2B37"/>
                          </a:solidFill>
                          <a:latin typeface="Arial" pitchFamily="34" charset="0"/>
                          <a:ea typeface="Arial" pitchFamily="34" charset="-122"/>
                          <a:cs typeface="Arial" pitchFamily="34" charset="-120"/>
                        </a:rPr>
                        <a:t>53.400</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37744">
                <a:tc>
                  <a:txBody>
                    <a:bodyPr/>
                    <a:lstStyle/>
                    <a:p>
                      <a:pPr indent="0" marL="0">
                        <a:buNone/>
                      </a:pPr>
                      <a:r>
                        <a:rPr lang="en-US" sz="750" dirty="0">
                          <a:solidFill>
                            <a:srgbClr val="1E2B37"/>
                          </a:solidFill>
                          <a:latin typeface="Arial" pitchFamily="34" charset="0"/>
                          <a:ea typeface="Arial" pitchFamily="34" charset="-122"/>
                          <a:cs typeface="Arial" pitchFamily="34" charset="-120"/>
                        </a:rPr>
                        <a:t>Margen Qaracter</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b="1" dirty="0">
                          <a:solidFill>
                            <a:srgbClr val="AE4E14"/>
                          </a:solidFill>
                          <a:latin typeface="Arial" pitchFamily="34" charset="0"/>
                          <a:ea typeface="Arial" pitchFamily="34" charset="-122"/>
                          <a:cs typeface="Arial" pitchFamily="34" charset="-120"/>
                        </a:rPr>
                        <a:t>1.203</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b="1" dirty="0">
                          <a:solidFill>
                            <a:srgbClr val="AE4E14"/>
                          </a:solidFill>
                          <a:latin typeface="Arial" pitchFamily="34" charset="0"/>
                          <a:ea typeface="Arial" pitchFamily="34" charset="-122"/>
                          <a:cs typeface="Arial" pitchFamily="34" charset="-120"/>
                        </a:rPr>
                        <a:t>4.214</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b="1" dirty="0">
                          <a:solidFill>
                            <a:srgbClr val="AE4E14"/>
                          </a:solidFill>
                          <a:latin typeface="Arial" pitchFamily="34" charset="0"/>
                          <a:ea typeface="Arial" pitchFamily="34" charset="-122"/>
                          <a:cs typeface="Arial" pitchFamily="34" charset="-120"/>
                        </a:rPr>
                        <a:t>15.504</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bl>
          </a:graphicData>
        </a:graphic>
      </p:graphicFrame>
      <p:sp>
        <p:nvSpPr>
          <p:cNvPr id="14" name="Text 7"/>
          <p:cNvSpPr txBox="1"/>
          <p:nvPr/>
        </p:nvSpPr>
        <p:spPr>
          <a:xfrm>
            <a:off x="4709160" y="2971800"/>
            <a:ext cx="3977640" cy="182880"/>
          </a:xfrm>
          <a:prstGeom prst="rect">
            <a:avLst/>
          </a:prstGeom>
          <a:noFill/>
          <a:ln/>
        </p:spPr>
        <p:txBody>
          <a:bodyPr wrap="square" lIns="0" tIns="0" rIns="0" bIns="0" rtlCol="0" anchor="t"/>
          <a:lstStyle/>
          <a:p>
            <a:pPr indent="0" marL="0">
              <a:buNone/>
            </a:pPr>
            <a:r>
              <a:rPr lang="en-US" sz="750" b="1" spc="100" kern="0" dirty="0">
                <a:solidFill>
                  <a:srgbClr val="AE4E14"/>
                </a:solidFill>
                <a:latin typeface="Arial" pitchFamily="34" charset="0"/>
                <a:ea typeface="Arial" pitchFamily="34" charset="-122"/>
                <a:cs typeface="Arial" pitchFamily="34" charset="-120"/>
              </a:rPr>
              <a:t>SENSIBILIDAD (POR NOVELA)</a:t>
            </a:r>
            <a:endParaRPr lang="en-US" sz="750" dirty="0"/>
          </a:p>
        </p:txBody>
      </p:sp>
      <p:graphicFrame>
        <p:nvGraphicFramePr>
          <p:cNvPr id="49" name="Table 3"/>
          <p:cNvGraphicFramePr>
            <a:graphicFrameLocks noGrp="1"/>
          </p:cNvGraphicFramePr>
          <p:nvPr>
            <p:extLst>
              <p:ext uri="{D42A27DB-BD31-4B8C-83A1-F6EECF244321}">
                <p14:modId xmlns:p14="http://schemas.microsoft.com/office/powerpoint/2010/main" val="1579011935"/>
              </p:ext>
            </p:extLst>
          </p:nvPr>
        </p:nvGraphicFramePr>
        <p:xfrm>
          <a:off x="4709160" y="3182112"/>
          <a:ext cx="3977640" cy="914400"/>
        </p:xfrm>
        <a:graphic>
          <a:graphicData uri="http://schemas.openxmlformats.org/drawingml/2006/table">
            <a:tbl>
              <a:tblPr/>
              <a:tblGrid>
                <a:gridCol w="1965960"/>
                <a:gridCol w="868680"/>
                <a:gridCol w="1143000"/>
              </a:tblGrid>
              <a:tr h="219456">
                <a:tc>
                  <a:txBody>
                    <a:bodyPr/>
                    <a:lstStyle/>
                    <a:p>
                      <a:pPr indent="0" marL="0">
                        <a:buNone/>
                      </a:pPr>
                      <a:r>
                        <a:rPr lang="en-US" sz="750" b="1" dirty="0">
                          <a:solidFill>
                            <a:srgbClr val="FFFFFF"/>
                          </a:solidFill>
                          <a:latin typeface="Arial" pitchFamily="34" charset="0"/>
                          <a:ea typeface="Arial" pitchFamily="34" charset="-122"/>
                          <a:cs typeface="Arial" pitchFamily="34" charset="-120"/>
                        </a:rPr>
                        <a:t>Escenario</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Coste</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Margen Qaracter</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Base (1 cambio)</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4,77 €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b="1" dirty="0">
                          <a:solidFill>
                            <a:srgbClr val="1E2B37"/>
                          </a:solidFill>
                          <a:latin typeface="Arial" pitchFamily="34" charset="0"/>
                          <a:ea typeface="Arial" pitchFamily="34" charset="-122"/>
                          <a:cs typeface="Arial" pitchFamily="34" charset="-120"/>
                        </a:rPr>
                        <a:t>7,23 €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Tokens +50 %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7,01 €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b="1" dirty="0">
                          <a:solidFill>
                            <a:srgbClr val="1E2B37"/>
                          </a:solidFill>
                          <a:latin typeface="Arial" pitchFamily="34" charset="0"/>
                          <a:ea typeface="Arial" pitchFamily="34" charset="-122"/>
                          <a:cs typeface="Arial" pitchFamily="34" charset="-120"/>
                        </a:rPr>
                        <a:t>4,99 €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4 revisiones (3 extra a 2 €)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7,31 €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b="1" dirty="0">
                          <a:solidFill>
                            <a:srgbClr val="1E2B37"/>
                          </a:solidFill>
                          <a:latin typeface="Arial" pitchFamily="34" charset="0"/>
                          <a:ea typeface="Arial" pitchFamily="34" charset="-122"/>
                          <a:cs typeface="Arial" pitchFamily="34" charset="-120"/>
                        </a:rPr>
                        <a:t>10,69 €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6 revisiones sin cobrar</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9,00 €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b="1" dirty="0">
                          <a:solidFill>
                            <a:srgbClr val="1E2B37"/>
                          </a:solidFill>
                          <a:latin typeface="Arial" pitchFamily="34" charset="0"/>
                          <a:ea typeface="Arial" pitchFamily="34" charset="-122"/>
                          <a:cs typeface="Arial" pitchFamily="34" charset="-120"/>
                        </a:rPr>
                        <a:t>3,00 €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19456">
                <a:tc>
                  <a:txBody>
                    <a:bodyPr/>
                    <a:lstStyle/>
                    <a:p>
                      <a:pPr indent="0" marL="0">
                        <a:buNone/>
                      </a:pPr>
                      <a:r>
                        <a:rPr lang="en-US" sz="750" dirty="0">
                          <a:solidFill>
                            <a:srgbClr val="1E2B37"/>
                          </a:solidFill>
                          <a:latin typeface="Arial" pitchFamily="34" charset="0"/>
                          <a:ea typeface="Arial" pitchFamily="34" charset="-122"/>
                          <a:cs typeface="Arial" pitchFamily="34" charset="-120"/>
                        </a:rPr>
                        <a:t>Tokens +50 % y 6 sin cobrar</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13,35 €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750" b="1" dirty="0">
                          <a:solidFill>
                            <a:srgbClr val="B83232"/>
                          </a:solidFill>
                          <a:latin typeface="Arial" pitchFamily="34" charset="0"/>
                          <a:ea typeface="Arial" pitchFamily="34" charset="-122"/>
                          <a:cs typeface="Arial" pitchFamily="34" charset="-120"/>
                        </a:rPr>
                        <a:t>-1,35 €</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bl>
          </a:graphicData>
        </a:graphic>
      </p:graphicFrame>
      <p:sp>
        <p:nvSpPr>
          <p:cNvPr id="16" name="Text 8"/>
          <p:cNvSpPr txBox="1"/>
          <p:nvPr/>
        </p:nvSpPr>
        <p:spPr>
          <a:xfrm>
            <a:off x="4709160" y="4553712"/>
            <a:ext cx="3977640" cy="182880"/>
          </a:xfrm>
          <a:prstGeom prst="rect">
            <a:avLst/>
          </a:prstGeom>
          <a:noFill/>
          <a:ln/>
        </p:spPr>
        <p:txBody>
          <a:bodyPr wrap="square" lIns="0" tIns="0" rIns="0" bIns="0" rtlCol="0" anchor="t"/>
          <a:lstStyle/>
          <a:p>
            <a:pPr indent="0" marL="0">
              <a:buNone/>
            </a:pPr>
            <a:r>
              <a:rPr lang="en-US" sz="650" i="1" dirty="0">
                <a:solidFill>
                  <a:srgbClr val="5E6A77"/>
                </a:solidFill>
                <a:latin typeface="Arial" pitchFamily="34" charset="0"/>
                <a:ea typeface="Arial" pitchFamily="34" charset="-122"/>
                <a:cs typeface="Arial" pitchFamily="34" charset="-120"/>
              </a:rPr>
              <a:t>Con un precio fijo por novela, la subida de tokens la absorbe Qaracter; cobrar los cambios adicionales protege el margen. Tope recomendado: 3 revisiones incluidas.</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DEMO</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«La perra se llama Nala»: solo cambia lo afectado</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13</a:t>
            </a:r>
            <a:endParaRPr lang="en-US" sz="750" dirty="0"/>
          </a:p>
        </p:txBody>
      </p:sp>
      <p:sp>
        <p:nvSpPr>
          <p:cNvPr id="8" name="Shape 4"/>
          <p:cNvSpPr/>
          <p:nvPr/>
        </p:nvSpPr>
        <p:spPr>
          <a:xfrm>
            <a:off x="420624" y="1197864"/>
            <a:ext cx="3639312" cy="1590667"/>
          </a:xfrm>
          <a:prstGeom prst="roundRect">
            <a:avLst>
              <a:gd name="adj" fmla="val 3449"/>
            </a:avLst>
          </a:prstGeom>
          <a:solidFill>
            <a:srgbClr val="FFFFFF"/>
          </a:solidFill>
          <a:ln w="9525">
            <a:solidFill>
              <a:srgbClr val="E6E9EC"/>
            </a:solidFill>
            <a:prstDash val="solid"/>
          </a:ln>
          <a:effectLst>
            <a:outerShdw sx="100000" sy="100000" kx="0" ky="0" algn="bl" rotWithShape="0" blurRad="76200" dist="25400" dir="5400000">
              <a:srgbClr val="1E2B37">
                <a:alpha val="12000"/>
              </a:srgbClr>
            </a:outerShdw>
          </a:effectLst>
        </p:spPr>
      </p:sp>
      <p:pic>
        <p:nvPicPr>
          <p:cNvPr id="9" name="Image 2" descr="/home/user/My-Story-Marker/presentacion/build/img2/v1-zoom.png">    </p:cNvPr>
          <p:cNvPicPr>
            <a:picLocks noChangeAspect="1"/>
          </p:cNvPicPr>
          <p:nvPr/>
        </p:nvPicPr>
        <p:blipFill>
          <a:blip r:embed="rId3"/>
          <a:stretch>
            <a:fillRect/>
          </a:stretch>
        </p:blipFill>
        <p:spPr>
          <a:xfrm>
            <a:off x="457200" y="1234440"/>
            <a:ext cx="3566160" cy="1517515"/>
          </a:xfrm>
          <a:prstGeom prst="rect">
            <a:avLst/>
          </a:prstGeom>
        </p:spPr>
      </p:pic>
      <p:sp>
        <p:nvSpPr>
          <p:cNvPr id="10" name="Shape 5"/>
          <p:cNvSpPr/>
          <p:nvPr/>
        </p:nvSpPr>
        <p:spPr>
          <a:xfrm>
            <a:off x="2377440" y="1106424"/>
            <a:ext cx="1508760" cy="237744"/>
          </a:xfrm>
          <a:prstGeom prst="roundRect">
            <a:avLst>
              <a:gd name="adj" fmla="val 46154"/>
            </a:avLst>
          </a:prstGeom>
          <a:solidFill>
            <a:srgbClr val="1E2B37"/>
          </a:solidFill>
          <a:ln/>
        </p:spPr>
      </p:sp>
      <p:sp>
        <p:nvSpPr>
          <p:cNvPr id="11" name="Text 6"/>
          <p:cNvSpPr txBox="1"/>
          <p:nvPr/>
        </p:nvSpPr>
        <p:spPr>
          <a:xfrm>
            <a:off x="2423160" y="1106424"/>
            <a:ext cx="14173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versión 1 · «Canela»</a:t>
            </a:r>
            <a:endParaRPr lang="en-US" sz="800" dirty="0"/>
          </a:p>
        </p:txBody>
      </p:sp>
      <p:sp>
        <p:nvSpPr>
          <p:cNvPr id="12" name="Shape 7"/>
          <p:cNvSpPr/>
          <p:nvPr/>
        </p:nvSpPr>
        <p:spPr>
          <a:xfrm>
            <a:off x="420624" y="2989699"/>
            <a:ext cx="3639312" cy="1590667"/>
          </a:xfrm>
          <a:prstGeom prst="roundRect">
            <a:avLst>
              <a:gd name="adj" fmla="val 3449"/>
            </a:avLst>
          </a:prstGeom>
          <a:solidFill>
            <a:srgbClr val="FFFFFF"/>
          </a:solidFill>
          <a:ln w="9525">
            <a:solidFill>
              <a:srgbClr val="E6E9EC"/>
            </a:solidFill>
            <a:prstDash val="solid"/>
          </a:ln>
          <a:effectLst>
            <a:outerShdw sx="100000" sy="100000" kx="0" ky="0" algn="bl" rotWithShape="0" blurRad="76200" dist="25400" dir="5400000">
              <a:srgbClr val="1E2B37">
                <a:alpha val="12000"/>
              </a:srgbClr>
            </a:outerShdw>
          </a:effectLst>
        </p:spPr>
      </p:sp>
      <p:pic>
        <p:nvPicPr>
          <p:cNvPr id="13" name="Image 3" descr="/home/user/My-Story-Marker/presentacion/build/img2/v2-zoom.png">    </p:cNvPr>
          <p:cNvPicPr>
            <a:picLocks noChangeAspect="1"/>
          </p:cNvPicPr>
          <p:nvPr/>
        </p:nvPicPr>
        <p:blipFill>
          <a:blip r:embed="rId4"/>
          <a:stretch>
            <a:fillRect/>
          </a:stretch>
        </p:blipFill>
        <p:spPr>
          <a:xfrm>
            <a:off x="457200" y="3026275"/>
            <a:ext cx="3566160" cy="1517515"/>
          </a:xfrm>
          <a:prstGeom prst="rect">
            <a:avLst/>
          </a:prstGeom>
        </p:spPr>
      </p:pic>
      <p:sp>
        <p:nvSpPr>
          <p:cNvPr id="14" name="Shape 8"/>
          <p:cNvSpPr/>
          <p:nvPr/>
        </p:nvSpPr>
        <p:spPr>
          <a:xfrm>
            <a:off x="2377440" y="2898259"/>
            <a:ext cx="1508760" cy="237744"/>
          </a:xfrm>
          <a:prstGeom prst="roundRect">
            <a:avLst>
              <a:gd name="adj" fmla="val 46154"/>
            </a:avLst>
          </a:prstGeom>
          <a:solidFill>
            <a:srgbClr val="FF7A2F"/>
          </a:solidFill>
          <a:ln/>
        </p:spPr>
      </p:sp>
      <p:sp>
        <p:nvSpPr>
          <p:cNvPr id="15" name="Text 9"/>
          <p:cNvSpPr txBox="1"/>
          <p:nvPr/>
        </p:nvSpPr>
        <p:spPr>
          <a:xfrm>
            <a:off x="2423160" y="2898259"/>
            <a:ext cx="14173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versión 2 · «Nala»</a:t>
            </a:r>
            <a:endParaRPr lang="en-US" sz="800" dirty="0"/>
          </a:p>
        </p:txBody>
      </p:sp>
      <p:sp>
        <p:nvSpPr>
          <p:cNvPr id="16" name="Shape 10"/>
          <p:cNvSpPr/>
          <p:nvPr/>
        </p:nvSpPr>
        <p:spPr>
          <a:xfrm>
            <a:off x="4434840" y="1234440"/>
            <a:ext cx="292608" cy="292608"/>
          </a:xfrm>
          <a:prstGeom prst="roundRect">
            <a:avLst>
              <a:gd name="adj" fmla="val 25000"/>
            </a:avLst>
          </a:prstGeom>
          <a:solidFill>
            <a:srgbClr val="FF7A2F"/>
          </a:solidFill>
          <a:ln/>
        </p:spPr>
      </p:sp>
      <p:sp>
        <p:nvSpPr>
          <p:cNvPr id="17" name="Text 11"/>
          <p:cNvSpPr txBox="1"/>
          <p:nvPr/>
        </p:nvSpPr>
        <p:spPr>
          <a:xfrm>
            <a:off x="4434840" y="12344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8" name="Text 12"/>
          <p:cNvSpPr txBox="1"/>
          <p:nvPr/>
        </p:nvSpPr>
        <p:spPr>
          <a:xfrm>
            <a:off x="4846320" y="1234440"/>
            <a:ext cx="3840480" cy="292608"/>
          </a:xfrm>
          <a:prstGeom prst="rect">
            <a:avLst/>
          </a:prstGeom>
          <a:noFill/>
          <a:ln/>
        </p:spPr>
        <p:txBody>
          <a:bodyPr wrap="square" lIns="0" tIns="0" rIns="0" bIns="0" rtlCol="0" anchor="ctr"/>
          <a:lstStyle/>
          <a:p>
            <a:pPr indent="0" marL="0">
              <a:buNone/>
            </a:pPr>
            <a:r>
              <a:rPr lang="en-US" sz="950" dirty="0">
                <a:solidFill>
                  <a:srgbClr val="1E2B37"/>
                </a:solidFill>
                <a:latin typeface="Arial" pitchFamily="34" charset="0"/>
                <a:ea typeface="Arial" pitchFamily="34" charset="-122"/>
                <a:cs typeface="Arial" pitchFamily="34" charset="-120"/>
              </a:rPr>
              <a:t>Petición en el lector: pet.canela.name → «Nala»</a:t>
            </a:r>
            <a:endParaRPr lang="en-US" sz="950" dirty="0"/>
          </a:p>
        </p:txBody>
      </p:sp>
      <p:sp>
        <p:nvSpPr>
          <p:cNvPr id="19" name="Shape 13"/>
          <p:cNvSpPr/>
          <p:nvPr/>
        </p:nvSpPr>
        <p:spPr>
          <a:xfrm>
            <a:off x="4434840" y="1691640"/>
            <a:ext cx="292608" cy="292608"/>
          </a:xfrm>
          <a:prstGeom prst="roundRect">
            <a:avLst>
              <a:gd name="adj" fmla="val 25000"/>
            </a:avLst>
          </a:prstGeom>
          <a:solidFill>
            <a:srgbClr val="FF7A2F"/>
          </a:solidFill>
          <a:ln/>
        </p:spPr>
      </p:sp>
      <p:sp>
        <p:nvSpPr>
          <p:cNvPr id="20" name="Text 14"/>
          <p:cNvSpPr txBox="1"/>
          <p:nvPr/>
        </p:nvSpPr>
        <p:spPr>
          <a:xfrm>
            <a:off x="4434840" y="16916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1" name="Text 15"/>
          <p:cNvSpPr txBox="1"/>
          <p:nvPr/>
        </p:nvSpPr>
        <p:spPr>
          <a:xfrm>
            <a:off x="4846320" y="1691640"/>
            <a:ext cx="3840480" cy="292608"/>
          </a:xfrm>
          <a:prstGeom prst="rect">
            <a:avLst/>
          </a:prstGeom>
          <a:noFill/>
          <a:ln/>
        </p:spPr>
        <p:txBody>
          <a:bodyPr wrap="square" lIns="0" tIns="0" rIns="0" bIns="0" rtlCol="0" anchor="ctr"/>
          <a:lstStyle/>
          <a:p>
            <a:pPr indent="0" marL="0">
              <a:buNone/>
            </a:pPr>
            <a:r>
              <a:rPr lang="en-US" sz="950" dirty="0">
                <a:solidFill>
                  <a:srgbClr val="1E2B37"/>
                </a:solidFill>
                <a:latin typeface="Arial" pitchFamily="34" charset="0"/>
                <a:ea typeface="Arial" pitchFamily="34" charset="-122"/>
                <a:cs typeface="Arial" pitchFamily="34" charset="-120"/>
              </a:rPr>
              <a:t>fact_usage dice qué capítulos usan el hecho: 1 y 3–10</a:t>
            </a:r>
            <a:endParaRPr lang="en-US" sz="950" dirty="0"/>
          </a:p>
        </p:txBody>
      </p:sp>
      <p:sp>
        <p:nvSpPr>
          <p:cNvPr id="22" name="Shape 16"/>
          <p:cNvSpPr/>
          <p:nvPr/>
        </p:nvSpPr>
        <p:spPr>
          <a:xfrm>
            <a:off x="4434840" y="2148840"/>
            <a:ext cx="292608" cy="292608"/>
          </a:xfrm>
          <a:prstGeom prst="roundRect">
            <a:avLst>
              <a:gd name="adj" fmla="val 25000"/>
            </a:avLst>
          </a:prstGeom>
          <a:solidFill>
            <a:srgbClr val="FF7A2F"/>
          </a:solidFill>
          <a:ln/>
        </p:spPr>
      </p:sp>
      <p:sp>
        <p:nvSpPr>
          <p:cNvPr id="23" name="Text 17"/>
          <p:cNvSpPr txBox="1"/>
          <p:nvPr/>
        </p:nvSpPr>
        <p:spPr>
          <a:xfrm>
            <a:off x="4434840" y="21488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4" name="Text 18"/>
          <p:cNvSpPr txBox="1"/>
          <p:nvPr/>
        </p:nvSpPr>
        <p:spPr>
          <a:xfrm>
            <a:off x="4846320" y="2148840"/>
            <a:ext cx="3840480" cy="292608"/>
          </a:xfrm>
          <a:prstGeom prst="rect">
            <a:avLst/>
          </a:prstGeom>
          <a:noFill/>
          <a:ln/>
        </p:spPr>
        <p:txBody>
          <a:bodyPr wrap="square" lIns="0" tIns="0" rIns="0" bIns="0" rtlCol="0" anchor="ctr"/>
          <a:lstStyle/>
          <a:p>
            <a:pPr indent="0" marL="0">
              <a:buNone/>
            </a:pPr>
            <a:r>
              <a:rPr lang="en-US" sz="950" dirty="0">
                <a:solidFill>
                  <a:srgbClr val="1E2B37"/>
                </a:solidFill>
                <a:latin typeface="Arial" pitchFamily="34" charset="0"/>
                <a:ea typeface="Arial" pitchFamily="34" charset="-122"/>
                <a:cs typeface="Arial" pitchFamily="34" charset="-120"/>
              </a:rPr>
              <a:t>Se regeneran solo esos, en la versión 2; el 2 se copia</a:t>
            </a:r>
            <a:endParaRPr lang="en-US" sz="950" dirty="0"/>
          </a:p>
        </p:txBody>
      </p:sp>
      <p:sp>
        <p:nvSpPr>
          <p:cNvPr id="25" name="Shape 19"/>
          <p:cNvSpPr/>
          <p:nvPr/>
        </p:nvSpPr>
        <p:spPr>
          <a:xfrm>
            <a:off x="4434840" y="2606040"/>
            <a:ext cx="292608" cy="292608"/>
          </a:xfrm>
          <a:prstGeom prst="roundRect">
            <a:avLst>
              <a:gd name="adj" fmla="val 25000"/>
            </a:avLst>
          </a:prstGeom>
          <a:solidFill>
            <a:srgbClr val="FF7A2F"/>
          </a:solidFill>
          <a:ln/>
        </p:spPr>
      </p:sp>
      <p:sp>
        <p:nvSpPr>
          <p:cNvPr id="26" name="Text 20"/>
          <p:cNvSpPr txBox="1"/>
          <p:nvPr/>
        </p:nvSpPr>
        <p:spPr>
          <a:xfrm>
            <a:off x="4434840" y="26060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7" name="Text 21"/>
          <p:cNvSpPr txBox="1"/>
          <p:nvPr/>
        </p:nvSpPr>
        <p:spPr>
          <a:xfrm>
            <a:off x="4846320" y="2606040"/>
            <a:ext cx="3840480" cy="292608"/>
          </a:xfrm>
          <a:prstGeom prst="rect">
            <a:avLst/>
          </a:prstGeom>
          <a:noFill/>
          <a:ln/>
        </p:spPr>
        <p:txBody>
          <a:bodyPr wrap="square" lIns="0" tIns="0" rIns="0" bIns="0" rtlCol="0" anchor="ctr"/>
          <a:lstStyle/>
          <a:p>
            <a:pPr indent="0" marL="0">
              <a:buNone/>
            </a:pPr>
            <a:r>
              <a:rPr lang="en-US" sz="950" dirty="0">
                <a:solidFill>
                  <a:srgbClr val="1E2B37"/>
                </a:solidFill>
                <a:latin typeface="Arial" pitchFamily="34" charset="0"/>
                <a:ea typeface="Arial" pitchFamily="34" charset="-122"/>
                <a:cs typeface="Arial" pitchFamily="34" charset="-120"/>
              </a:rPr>
              <a:t>Mismos validadores; se exporta el PDF con «Novedades»</a:t>
            </a:r>
            <a:endParaRPr lang="en-US" sz="950" dirty="0"/>
          </a:p>
        </p:txBody>
      </p:sp>
      <p:sp>
        <p:nvSpPr>
          <p:cNvPr id="28" name="Shape 22"/>
          <p:cNvSpPr/>
          <p:nvPr/>
        </p:nvSpPr>
        <p:spPr>
          <a:xfrm>
            <a:off x="4434840" y="3154680"/>
            <a:ext cx="969264" cy="822960"/>
          </a:xfrm>
          <a:prstGeom prst="roundRect">
            <a:avLst>
              <a:gd name="adj" fmla="val 8889"/>
            </a:avLst>
          </a:prstGeom>
          <a:solidFill>
            <a:srgbClr val="FFF5EE"/>
          </a:solidFill>
          <a:ln/>
        </p:spPr>
      </p:sp>
      <p:sp>
        <p:nvSpPr>
          <p:cNvPr id="29" name="Text 23"/>
          <p:cNvSpPr txBox="1"/>
          <p:nvPr/>
        </p:nvSpPr>
        <p:spPr>
          <a:xfrm>
            <a:off x="4434840" y="3218688"/>
            <a:ext cx="969264" cy="365760"/>
          </a:xfrm>
          <a:prstGeom prst="rect">
            <a:avLst/>
          </a:prstGeom>
          <a:noFill/>
          <a:ln/>
        </p:spPr>
        <p:txBody>
          <a:bodyPr wrap="square" lIns="0" tIns="0" rIns="0" bIns="0" rtlCol="0" anchor="ctr"/>
          <a:lstStyle/>
          <a:p>
            <a:pPr algn="ctr" indent="0" marL="0">
              <a:buNone/>
            </a:pPr>
            <a:r>
              <a:rPr lang="en-US" sz="1400" b="1" dirty="0">
                <a:solidFill>
                  <a:srgbClr val="AE4E14"/>
                </a:solidFill>
                <a:latin typeface="Arial" pitchFamily="34" charset="0"/>
                <a:ea typeface="Arial" pitchFamily="34" charset="-122"/>
                <a:cs typeface="Arial" pitchFamily="34" charset="-120"/>
              </a:rPr>
              <a:t>44 → 0</a:t>
            </a:r>
            <a:endParaRPr lang="en-US" sz="1400" dirty="0"/>
          </a:p>
        </p:txBody>
      </p:sp>
      <p:sp>
        <p:nvSpPr>
          <p:cNvPr id="30" name="Text 24"/>
          <p:cNvSpPr txBox="1"/>
          <p:nvPr/>
        </p:nvSpPr>
        <p:spPr>
          <a:xfrm>
            <a:off x="4471416" y="3584448"/>
            <a:ext cx="896112" cy="347472"/>
          </a:xfrm>
          <a:prstGeom prst="rect">
            <a:avLst/>
          </a:prstGeom>
          <a:noFill/>
          <a:ln/>
        </p:spPr>
        <p:txBody>
          <a:bodyPr wrap="square" lIns="0" tIns="0" rIns="0" bIns="0" rtlCol="0" anchor="t"/>
          <a:lstStyle/>
          <a:p>
            <a:pPr algn="ctr" indent="0" marL="0">
              <a:buNone/>
            </a:pPr>
            <a:r>
              <a:rPr lang="en-US" sz="750" dirty="0">
                <a:solidFill>
                  <a:srgbClr val="3D4A56"/>
                </a:solidFill>
                <a:latin typeface="Arial" pitchFamily="34" charset="0"/>
                <a:ea typeface="Arial" pitchFamily="34" charset="-122"/>
                <a:cs typeface="Arial" pitchFamily="34" charset="-120"/>
              </a:rPr>
              <a:t>«Canela» en v1 → v2</a:t>
            </a:r>
            <a:endParaRPr lang="en-US" sz="750" dirty="0"/>
          </a:p>
        </p:txBody>
      </p:sp>
      <p:sp>
        <p:nvSpPr>
          <p:cNvPr id="31" name="Shape 25"/>
          <p:cNvSpPr/>
          <p:nvPr/>
        </p:nvSpPr>
        <p:spPr>
          <a:xfrm>
            <a:off x="5513832" y="3154680"/>
            <a:ext cx="969264" cy="822960"/>
          </a:xfrm>
          <a:prstGeom prst="roundRect">
            <a:avLst>
              <a:gd name="adj" fmla="val 8889"/>
            </a:avLst>
          </a:prstGeom>
          <a:solidFill>
            <a:srgbClr val="FFF5EE"/>
          </a:solidFill>
          <a:ln/>
        </p:spPr>
      </p:sp>
      <p:sp>
        <p:nvSpPr>
          <p:cNvPr id="32" name="Text 26"/>
          <p:cNvSpPr txBox="1"/>
          <p:nvPr/>
        </p:nvSpPr>
        <p:spPr>
          <a:xfrm>
            <a:off x="5513832" y="3218688"/>
            <a:ext cx="969264" cy="365760"/>
          </a:xfrm>
          <a:prstGeom prst="rect">
            <a:avLst/>
          </a:prstGeom>
          <a:noFill/>
          <a:ln/>
        </p:spPr>
        <p:txBody>
          <a:bodyPr wrap="square" lIns="0" tIns="0" rIns="0" bIns="0" rtlCol="0" anchor="ctr"/>
          <a:lstStyle/>
          <a:p>
            <a:pPr algn="ctr" indent="0" marL="0">
              <a:buNone/>
            </a:pPr>
            <a:r>
              <a:rPr lang="en-US" sz="1400" b="1" dirty="0">
                <a:solidFill>
                  <a:srgbClr val="AE4E14"/>
                </a:solidFill>
                <a:latin typeface="Arial" pitchFamily="34" charset="0"/>
                <a:ea typeface="Arial" pitchFamily="34" charset="-122"/>
                <a:cs typeface="Arial" pitchFamily="34" charset="-120"/>
              </a:rPr>
              <a:t>0 → 45</a:t>
            </a:r>
            <a:endParaRPr lang="en-US" sz="1400" dirty="0"/>
          </a:p>
        </p:txBody>
      </p:sp>
      <p:sp>
        <p:nvSpPr>
          <p:cNvPr id="33" name="Text 27"/>
          <p:cNvSpPr txBox="1"/>
          <p:nvPr/>
        </p:nvSpPr>
        <p:spPr>
          <a:xfrm>
            <a:off x="5550408" y="3584448"/>
            <a:ext cx="896112" cy="347472"/>
          </a:xfrm>
          <a:prstGeom prst="rect">
            <a:avLst/>
          </a:prstGeom>
          <a:noFill/>
          <a:ln/>
        </p:spPr>
        <p:txBody>
          <a:bodyPr wrap="square" lIns="0" tIns="0" rIns="0" bIns="0" rtlCol="0" anchor="t"/>
          <a:lstStyle/>
          <a:p>
            <a:pPr algn="ctr" indent="0" marL="0">
              <a:buNone/>
            </a:pPr>
            <a:r>
              <a:rPr lang="en-US" sz="750" dirty="0">
                <a:solidFill>
                  <a:srgbClr val="3D4A56"/>
                </a:solidFill>
                <a:latin typeface="Arial" pitchFamily="34" charset="0"/>
                <a:ea typeface="Arial" pitchFamily="34" charset="-122"/>
                <a:cs typeface="Arial" pitchFamily="34" charset="-120"/>
              </a:rPr>
              <a:t>«Nala» en v1 → v2</a:t>
            </a:r>
            <a:endParaRPr lang="en-US" sz="750" dirty="0"/>
          </a:p>
        </p:txBody>
      </p:sp>
      <p:sp>
        <p:nvSpPr>
          <p:cNvPr id="34" name="Shape 28"/>
          <p:cNvSpPr/>
          <p:nvPr/>
        </p:nvSpPr>
        <p:spPr>
          <a:xfrm>
            <a:off x="6592824" y="3154680"/>
            <a:ext cx="969264" cy="822960"/>
          </a:xfrm>
          <a:prstGeom prst="roundRect">
            <a:avLst>
              <a:gd name="adj" fmla="val 8889"/>
            </a:avLst>
          </a:prstGeom>
          <a:solidFill>
            <a:srgbClr val="E4F5EA"/>
          </a:solidFill>
          <a:ln/>
        </p:spPr>
      </p:sp>
      <p:sp>
        <p:nvSpPr>
          <p:cNvPr id="35" name="Text 29"/>
          <p:cNvSpPr txBox="1"/>
          <p:nvPr/>
        </p:nvSpPr>
        <p:spPr>
          <a:xfrm>
            <a:off x="6592824" y="3218688"/>
            <a:ext cx="969264" cy="365760"/>
          </a:xfrm>
          <a:prstGeom prst="rect">
            <a:avLst/>
          </a:prstGeom>
          <a:noFill/>
          <a:ln/>
        </p:spPr>
        <p:txBody>
          <a:bodyPr wrap="square" lIns="0" tIns="0" rIns="0" bIns="0" rtlCol="0" anchor="ctr"/>
          <a:lstStyle/>
          <a:p>
            <a:pPr algn="ctr" indent="0" marL="0">
              <a:buNone/>
            </a:pPr>
            <a:r>
              <a:rPr lang="en-US" sz="1400" b="1" dirty="0">
                <a:solidFill>
                  <a:srgbClr val="16794A"/>
                </a:solidFill>
                <a:latin typeface="Arial" pitchFamily="34" charset="0"/>
                <a:ea typeface="Arial" pitchFamily="34" charset="-122"/>
                <a:cs typeface="Arial" pitchFamily="34" charset="-120"/>
              </a:rPr>
              <a:t>v1</a:t>
            </a:r>
            <a:endParaRPr lang="en-US" sz="1400" dirty="0"/>
          </a:p>
        </p:txBody>
      </p:sp>
      <p:sp>
        <p:nvSpPr>
          <p:cNvPr id="36" name="Text 30"/>
          <p:cNvSpPr txBox="1"/>
          <p:nvPr/>
        </p:nvSpPr>
        <p:spPr>
          <a:xfrm>
            <a:off x="6629400" y="3584448"/>
            <a:ext cx="896112" cy="347472"/>
          </a:xfrm>
          <a:prstGeom prst="rect">
            <a:avLst/>
          </a:prstGeom>
          <a:noFill/>
          <a:ln/>
        </p:spPr>
        <p:txBody>
          <a:bodyPr wrap="square" lIns="0" tIns="0" rIns="0" bIns="0" rtlCol="0" anchor="t"/>
          <a:lstStyle/>
          <a:p>
            <a:pPr algn="ctr" indent="0" marL="0">
              <a:buNone/>
            </a:pPr>
            <a:r>
              <a:rPr lang="en-US" sz="750" dirty="0">
                <a:solidFill>
                  <a:srgbClr val="3D4A56"/>
                </a:solidFill>
                <a:latin typeface="Arial" pitchFamily="34" charset="0"/>
                <a:ea typeface="Arial" pitchFamily="34" charset="-122"/>
                <a:cs typeface="Arial" pitchFamily="34" charset="-120"/>
              </a:rPr>
              <a:t>intacta</a:t>
            </a:r>
            <a:endParaRPr lang="en-US" sz="750" dirty="0"/>
          </a:p>
        </p:txBody>
      </p:sp>
      <p:sp>
        <p:nvSpPr>
          <p:cNvPr id="37" name="Shape 31"/>
          <p:cNvSpPr/>
          <p:nvPr/>
        </p:nvSpPr>
        <p:spPr>
          <a:xfrm>
            <a:off x="7671816" y="3154680"/>
            <a:ext cx="969264" cy="822960"/>
          </a:xfrm>
          <a:prstGeom prst="roundRect">
            <a:avLst>
              <a:gd name="adj" fmla="val 8889"/>
            </a:avLst>
          </a:prstGeom>
          <a:solidFill>
            <a:srgbClr val="FFF5EE"/>
          </a:solidFill>
          <a:ln/>
        </p:spPr>
      </p:sp>
      <p:sp>
        <p:nvSpPr>
          <p:cNvPr id="38" name="Text 32"/>
          <p:cNvSpPr txBox="1"/>
          <p:nvPr/>
        </p:nvSpPr>
        <p:spPr>
          <a:xfrm>
            <a:off x="7671816" y="3218688"/>
            <a:ext cx="969264" cy="365760"/>
          </a:xfrm>
          <a:prstGeom prst="rect">
            <a:avLst/>
          </a:prstGeom>
          <a:noFill/>
          <a:ln/>
        </p:spPr>
        <p:txBody>
          <a:bodyPr wrap="square" lIns="0" tIns="0" rIns="0" bIns="0" rtlCol="0" anchor="ctr"/>
          <a:lstStyle/>
          <a:p>
            <a:pPr algn="ctr" indent="0" marL="0">
              <a:buNone/>
            </a:pPr>
            <a:r>
              <a:rPr lang="en-US" sz="1400" b="1" dirty="0">
                <a:solidFill>
                  <a:srgbClr val="AE4E14"/>
                </a:solidFill>
                <a:latin typeface="Arial" pitchFamily="34" charset="0"/>
                <a:ea typeface="Arial" pitchFamily="34" charset="-122"/>
                <a:cs typeface="Arial" pitchFamily="34" charset="-120"/>
              </a:rPr>
              <a:t>~27 min</a:t>
            </a:r>
            <a:endParaRPr lang="en-US" sz="1400" dirty="0"/>
          </a:p>
        </p:txBody>
      </p:sp>
      <p:sp>
        <p:nvSpPr>
          <p:cNvPr id="39" name="Text 33"/>
          <p:cNvSpPr txBox="1"/>
          <p:nvPr/>
        </p:nvSpPr>
        <p:spPr>
          <a:xfrm>
            <a:off x="7708392" y="3584448"/>
            <a:ext cx="896112" cy="347472"/>
          </a:xfrm>
          <a:prstGeom prst="rect">
            <a:avLst/>
          </a:prstGeom>
          <a:noFill/>
          <a:ln/>
        </p:spPr>
        <p:txBody>
          <a:bodyPr wrap="square" lIns="0" tIns="0" rIns="0" bIns="0" rtlCol="0" anchor="t"/>
          <a:lstStyle/>
          <a:p>
            <a:pPr algn="ctr" indent="0" marL="0">
              <a:buNone/>
            </a:pPr>
            <a:r>
              <a:rPr lang="en-US" sz="750" dirty="0">
                <a:solidFill>
                  <a:srgbClr val="3D4A56"/>
                </a:solidFill>
                <a:latin typeface="Arial" pitchFamily="34" charset="0"/>
                <a:ea typeface="Arial" pitchFamily="34" charset="-122"/>
                <a:cs typeface="Arial" pitchFamily="34" charset="-120"/>
              </a:rPr>
              <a:t>~0,94 USD</a:t>
            </a:r>
            <a:endParaRPr lang="en-US" sz="750" dirty="0"/>
          </a:p>
        </p:txBody>
      </p:sp>
      <p:sp>
        <p:nvSpPr>
          <p:cNvPr id="40" name="Text 34"/>
          <p:cNvSpPr txBox="1"/>
          <p:nvPr/>
        </p:nvSpPr>
        <p:spPr>
          <a:xfrm>
            <a:off x="4434840" y="4069080"/>
            <a:ext cx="4251960" cy="457200"/>
          </a:xfrm>
          <a:prstGeom prst="rect">
            <a:avLst/>
          </a:prstGeom>
          <a:noFill/>
          <a:ln/>
        </p:spPr>
        <p:txBody>
          <a:bodyPr wrap="square" lIns="0" tIns="0" rIns="0" bIns="0" rtlCol="0" anchor="t"/>
          <a:lstStyle/>
          <a:p>
            <a:pPr indent="0" marL="0">
              <a:buNone/>
            </a:pPr>
            <a:r>
              <a:rPr lang="en-US" sz="800" i="1" dirty="0">
                <a:solidFill>
                  <a:srgbClr val="5E6A77"/>
                </a:solidFill>
                <a:latin typeface="Arial" pitchFamily="34" charset="0"/>
                <a:ea typeface="Arial" pitchFamily="34" charset="-122"/>
                <a:cs typeface="Arial" pitchFamily="34" charset="-120"/>
              </a:rPr>
              <a:t>Misma página en ejemplos/novela-ejemplo.pdf (v1) y ejemplos/novela-ejemplo-v2-cambio-nala.pdf (v2). El índice de la v2 marca cada capítulo «(modificado)».</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RIESGOS Y SIGUIENTES PASOS</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E2B37"/>
                </a:solidFill>
                <a:latin typeface="Arial" pitchFamily="34" charset="0"/>
                <a:ea typeface="Arial" pitchFamily="34" charset="-122"/>
                <a:cs typeface="Arial" pitchFamily="34" charset="-120"/>
              </a:rPr>
              <a:t>Lo que aún no está demostrado y cómo lo cerramos</a:t>
            </a:r>
            <a:endParaRPr lang="en-US" sz="23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14</a:t>
            </a:r>
            <a:endParaRPr lang="en-US" sz="7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212080" cy="914400"/>
        </p:xfrm>
        <a:graphic>
          <a:graphicData uri="http://schemas.openxmlformats.org/drawingml/2006/table">
            <a:tbl>
              <a:tblPr/>
              <a:tblGrid>
                <a:gridCol w="2743200"/>
                <a:gridCol w="2468880"/>
              </a:tblGrid>
              <a:tr h="384048">
                <a:tc>
                  <a:txBody>
                    <a:bodyPr/>
                    <a:lstStyle/>
                    <a:p>
                      <a:pPr indent="0" marL="0">
                        <a:buNone/>
                      </a:pPr>
                      <a:r>
                        <a:rPr lang="en-US" sz="800" b="1" dirty="0">
                          <a:solidFill>
                            <a:srgbClr val="FFFFFF"/>
                          </a:solidFill>
                          <a:latin typeface="Arial" pitchFamily="34" charset="0"/>
                          <a:ea typeface="Arial" pitchFamily="34" charset="-122"/>
                          <a:cs typeface="Arial" pitchFamily="34" charset="-120"/>
                        </a:rPr>
                        <a:t>Riesgo</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Mitigación</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r>
              <a:tr h="384048">
                <a:tc>
                  <a:txBody>
                    <a:bodyPr/>
                    <a:lstStyle/>
                    <a:p>
                      <a:pPr indent="0" marL="0">
                        <a:buNone/>
                      </a:pPr>
                      <a:r>
                        <a:rPr lang="en-US" sz="800" dirty="0">
                          <a:solidFill>
                            <a:srgbClr val="1E2B37"/>
                          </a:solidFill>
                          <a:latin typeface="Arial" pitchFamily="34" charset="0"/>
                          <a:ea typeface="Arial" pitchFamily="34" charset="-122"/>
                          <a:cs typeface="Arial" pitchFamily="34" charset="-120"/>
                        </a:rPr>
                        <a:t>Días sin fecha al lado («aquel lunes») y duraciones no se validan</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extender calendar_consistency a la prosa</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384048">
                <a:tc>
                  <a:txBody>
                    <a:bodyPr/>
                    <a:lstStyle/>
                    <a:p>
                      <a:pPr indent="0" marL="0">
                        <a:buNone/>
                      </a:pPr>
                      <a:r>
                        <a:rPr lang="en-US" sz="800" dirty="0">
                          <a:solidFill>
                            <a:srgbClr val="1E2B37"/>
                          </a:solidFill>
                          <a:latin typeface="Arial" pitchFamily="34" charset="0"/>
                          <a:ea typeface="Arial" pitchFamily="34" charset="-122"/>
                          <a:cs typeface="Arial" pitchFamily="34" charset="-120"/>
                        </a:rPr>
                        <a:t>Lean solo prueba lo que el planner registra en la cronología</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evento «departure» obligatorio si el brief dice que alguien se fue</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384048">
                <a:tc>
                  <a:txBody>
                    <a:bodyPr/>
                    <a:lstStyle/>
                    <a:p>
                      <a:pPr indent="0" marL="0">
                        <a:buNone/>
                      </a:pPr>
                      <a:r>
                        <a:rPr lang="en-US" sz="800" dirty="0">
                          <a:solidFill>
                            <a:srgbClr val="1E2B37"/>
                          </a:solidFill>
                          <a:latin typeface="Arial" pitchFamily="34" charset="0"/>
                          <a:ea typeface="Arial" pitchFamily="34" charset="-122"/>
                          <a:cs typeface="Arial" pitchFamily="34" charset="-120"/>
                        </a:rPr>
                        <a:t>Un brief contradictorio bloquea bien pero caro (b4: timeout de 45 min)</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prechequeo del plan más estricto; parar antes de escribir</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384048">
                <a:tc>
                  <a:txBody>
                    <a:bodyPr/>
                    <a:lstStyle/>
                    <a:p>
                      <a:pPr indent="0" marL="0">
                        <a:buNone/>
                      </a:pPr>
                      <a:r>
                        <a:rPr lang="en-US" sz="800" dirty="0">
                          <a:solidFill>
                            <a:srgbClr val="1E2B37"/>
                          </a:solidFill>
                          <a:latin typeface="Arial" pitchFamily="34" charset="0"/>
                          <a:ea typeface="Arial" pitchFamily="34" charset="-122"/>
                          <a:cs typeface="Arial" pitchFamily="34" charset="-120"/>
                        </a:rPr>
                        <a:t>Fichas de personajes sin versionar (solo el nombre)</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versionar reparto por versión</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384048">
                <a:tc>
                  <a:txBody>
                    <a:bodyPr/>
                    <a:lstStyle/>
                    <a:p>
                      <a:pPr indent="0" marL="0">
                        <a:buNone/>
                      </a:pPr>
                      <a:r>
                        <a:rPr lang="en-US" sz="800" dirty="0">
                          <a:solidFill>
                            <a:srgbClr val="1E2B37"/>
                          </a:solidFill>
                          <a:latin typeface="Arial" pitchFamily="34" charset="0"/>
                          <a:ea typeface="Arial" pitchFamily="34" charset="-122"/>
                          <a:cs typeface="Arial" pitchFamily="34" charset="-120"/>
                        </a:rPr>
                        <a:t>Datos personales reales en prompts y trazas</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enmascarado en Langfuse, borrado a petición y DPA (piloto)</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384048">
                <a:tc>
                  <a:txBody>
                    <a:bodyPr/>
                    <a:lstStyle/>
                    <a:p>
                      <a:pPr indent="0" marL="0">
                        <a:buNone/>
                      </a:pPr>
                      <a:r>
                        <a:rPr lang="en-US" sz="800" dirty="0">
                          <a:solidFill>
                            <a:srgbClr val="1E2B37"/>
                          </a:solidFill>
                          <a:latin typeface="Arial" pitchFamily="34" charset="0"/>
                          <a:ea typeface="Arial" pitchFamily="34" charset="-122"/>
                          <a:cs typeface="Arial" pitchFamily="34" charset="-120"/>
                        </a:rPr>
                        <a:t>Juez aún no calibrado con revisión humana</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800" dirty="0">
                          <a:solidFill>
                            <a:srgbClr val="1E2B37"/>
                          </a:solidFill>
                          <a:latin typeface="Arial" pitchFamily="34" charset="0"/>
                          <a:ea typeface="Arial" pitchFamily="34" charset="-122"/>
                          <a:cs typeface="Arial" pitchFamily="34" charset="-120"/>
                        </a:rPr>
                        <a:t>QA editorial de 50 novelas con la misma rúbrica</a:t>
                      </a:r>
                      <a:endParaRPr lang="en-US" sz="80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bl>
          </a:graphicData>
        </a:graphic>
      </p:graphicFrame>
      <p:sp>
        <p:nvSpPr>
          <p:cNvPr id="9" name="Text 4"/>
          <p:cNvSpPr txBox="1"/>
          <p:nvPr/>
        </p:nvSpPr>
        <p:spPr>
          <a:xfrm>
            <a:off x="5989320" y="1188720"/>
            <a:ext cx="2743200" cy="256032"/>
          </a:xfrm>
          <a:prstGeom prst="rect">
            <a:avLst/>
          </a:prstGeom>
          <a:noFill/>
          <a:ln/>
        </p:spPr>
        <p:txBody>
          <a:bodyPr wrap="square" lIns="0" tIns="0" rIns="0" bIns="0" rtlCol="0" anchor="t"/>
          <a:lstStyle/>
          <a:p>
            <a:pPr indent="0" marL="0">
              <a:buNone/>
            </a:pPr>
            <a:r>
              <a:rPr lang="en-US" sz="1200" b="1" dirty="0">
                <a:solidFill>
                  <a:srgbClr val="1E2B37"/>
                </a:solidFill>
                <a:latin typeface="Arial" pitchFamily="34" charset="0"/>
                <a:ea typeface="Arial" pitchFamily="34" charset="-122"/>
                <a:cs typeface="Arial" pitchFamily="34" charset="-120"/>
              </a:rPr>
              <a:t>Siguientes pasos</a:t>
            </a:r>
            <a:endParaRPr lang="en-US" sz="1200" dirty="0"/>
          </a:p>
        </p:txBody>
      </p:sp>
      <p:sp>
        <p:nvSpPr>
          <p:cNvPr id="10" name="Shape 5"/>
          <p:cNvSpPr/>
          <p:nvPr/>
        </p:nvSpPr>
        <p:spPr>
          <a:xfrm>
            <a:off x="5989320" y="1554480"/>
            <a:ext cx="329184" cy="329184"/>
          </a:xfrm>
          <a:prstGeom prst="roundRect">
            <a:avLst>
              <a:gd name="adj" fmla="val 22222"/>
            </a:avLst>
          </a:prstGeom>
          <a:solidFill>
            <a:srgbClr val="1E2B37"/>
          </a:solidFill>
          <a:ln/>
        </p:spPr>
      </p:sp>
      <p:sp>
        <p:nvSpPr>
          <p:cNvPr id="11" name="Text 6"/>
          <p:cNvSpPr txBox="1"/>
          <p:nvPr/>
        </p:nvSpPr>
        <p:spPr>
          <a:xfrm>
            <a:off x="5989320" y="15544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Shape 7"/>
          <p:cNvSpPr/>
          <p:nvPr/>
        </p:nvSpPr>
        <p:spPr>
          <a:xfrm>
            <a:off x="6153912" y="1901952"/>
            <a:ext cx="0" cy="365760"/>
          </a:xfrm>
          <a:prstGeom prst="line">
            <a:avLst/>
          </a:prstGeom>
          <a:noFill/>
          <a:ln w="19050">
            <a:solidFill>
              <a:srgbClr val="E6E9EC"/>
            </a:solidFill>
            <a:prstDash val="solid"/>
          </a:ln>
        </p:spPr>
      </p:sp>
      <p:sp>
        <p:nvSpPr>
          <p:cNvPr id="13" name="Text 8"/>
          <p:cNvSpPr txBox="1"/>
          <p:nvPr/>
        </p:nvSpPr>
        <p:spPr>
          <a:xfrm>
            <a:off x="6446520" y="1536192"/>
            <a:ext cx="2194560" cy="201168"/>
          </a:xfrm>
          <a:prstGeom prst="rect">
            <a:avLst/>
          </a:prstGeom>
          <a:noFill/>
          <a:ln/>
        </p:spPr>
        <p:txBody>
          <a:bodyPr wrap="square" lIns="0" tIns="0" rIns="0" bIns="0" rtlCol="0" anchor="t"/>
          <a:lstStyle/>
          <a:p>
            <a:pPr indent="0" marL="0">
              <a:buNone/>
            </a:pPr>
            <a:r>
              <a:rPr lang="en-US" sz="950" b="1" dirty="0">
                <a:solidFill>
                  <a:srgbClr val="1E2B37"/>
                </a:solidFill>
                <a:latin typeface="Arial" pitchFamily="34" charset="0"/>
                <a:ea typeface="Arial" pitchFamily="34" charset="-122"/>
                <a:cs typeface="Arial" pitchFamily="34" charset="-120"/>
              </a:rPr>
              <a:t>Semanas 1–2</a:t>
            </a:r>
            <a:endParaRPr lang="en-US" sz="950" dirty="0"/>
          </a:p>
        </p:txBody>
      </p:sp>
      <p:sp>
        <p:nvSpPr>
          <p:cNvPr id="14" name="Text 9"/>
          <p:cNvSpPr txBox="1"/>
          <p:nvPr/>
        </p:nvSpPr>
        <p:spPr>
          <a:xfrm>
            <a:off x="6446520" y="1737360"/>
            <a:ext cx="2194560" cy="365760"/>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integración y RGPD</a:t>
            </a:r>
            <a:endParaRPr lang="en-US" sz="850" dirty="0"/>
          </a:p>
        </p:txBody>
      </p:sp>
      <p:sp>
        <p:nvSpPr>
          <p:cNvPr id="15" name="Shape 10"/>
          <p:cNvSpPr/>
          <p:nvPr/>
        </p:nvSpPr>
        <p:spPr>
          <a:xfrm>
            <a:off x="5989320" y="2286000"/>
            <a:ext cx="329184" cy="329184"/>
          </a:xfrm>
          <a:prstGeom prst="roundRect">
            <a:avLst>
              <a:gd name="adj" fmla="val 22222"/>
            </a:avLst>
          </a:prstGeom>
          <a:solidFill>
            <a:srgbClr val="1E2B37"/>
          </a:solidFill>
          <a:ln/>
        </p:spPr>
      </p:sp>
      <p:sp>
        <p:nvSpPr>
          <p:cNvPr id="16" name="Text 11"/>
          <p:cNvSpPr txBox="1"/>
          <p:nvPr/>
        </p:nvSpPr>
        <p:spPr>
          <a:xfrm>
            <a:off x="5989320" y="22860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Shape 12"/>
          <p:cNvSpPr/>
          <p:nvPr/>
        </p:nvSpPr>
        <p:spPr>
          <a:xfrm>
            <a:off x="6153912" y="2633472"/>
            <a:ext cx="0" cy="365760"/>
          </a:xfrm>
          <a:prstGeom prst="line">
            <a:avLst/>
          </a:prstGeom>
          <a:noFill/>
          <a:ln w="19050">
            <a:solidFill>
              <a:srgbClr val="E6E9EC"/>
            </a:solidFill>
            <a:prstDash val="solid"/>
          </a:ln>
        </p:spPr>
      </p:sp>
      <p:sp>
        <p:nvSpPr>
          <p:cNvPr id="18" name="Text 13"/>
          <p:cNvSpPr txBox="1"/>
          <p:nvPr/>
        </p:nvSpPr>
        <p:spPr>
          <a:xfrm>
            <a:off x="6446520" y="2267712"/>
            <a:ext cx="2194560" cy="201168"/>
          </a:xfrm>
          <a:prstGeom prst="rect">
            <a:avLst/>
          </a:prstGeom>
          <a:noFill/>
          <a:ln/>
        </p:spPr>
        <p:txBody>
          <a:bodyPr wrap="square" lIns="0" tIns="0" rIns="0" bIns="0" rtlCol="0" anchor="t"/>
          <a:lstStyle/>
          <a:p>
            <a:pPr indent="0" marL="0">
              <a:buNone/>
            </a:pPr>
            <a:r>
              <a:rPr lang="en-US" sz="950" b="1" dirty="0">
                <a:solidFill>
                  <a:srgbClr val="1E2B37"/>
                </a:solidFill>
                <a:latin typeface="Arial" pitchFamily="34" charset="0"/>
                <a:ea typeface="Arial" pitchFamily="34" charset="-122"/>
                <a:cs typeface="Arial" pitchFamily="34" charset="-120"/>
              </a:rPr>
              <a:t>Semanas 3–5</a:t>
            </a:r>
            <a:endParaRPr lang="en-US" sz="950" dirty="0"/>
          </a:p>
        </p:txBody>
      </p:sp>
      <p:sp>
        <p:nvSpPr>
          <p:cNvPr id="19" name="Text 14"/>
          <p:cNvSpPr txBox="1"/>
          <p:nvPr/>
        </p:nvSpPr>
        <p:spPr>
          <a:xfrm>
            <a:off x="6446520" y="2468880"/>
            <a:ext cx="2194560" cy="365760"/>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marca blanca y 50 novelas de QA</a:t>
            </a:r>
            <a:endParaRPr lang="en-US" sz="850" dirty="0"/>
          </a:p>
        </p:txBody>
      </p:sp>
      <p:sp>
        <p:nvSpPr>
          <p:cNvPr id="20" name="Shape 15"/>
          <p:cNvSpPr/>
          <p:nvPr/>
        </p:nvSpPr>
        <p:spPr>
          <a:xfrm>
            <a:off x="5989320" y="3017520"/>
            <a:ext cx="329184" cy="329184"/>
          </a:xfrm>
          <a:prstGeom prst="roundRect">
            <a:avLst>
              <a:gd name="adj" fmla="val 22222"/>
            </a:avLst>
          </a:prstGeom>
          <a:solidFill>
            <a:srgbClr val="1E2B37"/>
          </a:solidFill>
          <a:ln/>
        </p:spPr>
      </p:sp>
      <p:sp>
        <p:nvSpPr>
          <p:cNvPr id="21" name="Text 16"/>
          <p:cNvSpPr txBox="1"/>
          <p:nvPr/>
        </p:nvSpPr>
        <p:spPr>
          <a:xfrm>
            <a:off x="5989320"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2" name="Shape 17"/>
          <p:cNvSpPr/>
          <p:nvPr/>
        </p:nvSpPr>
        <p:spPr>
          <a:xfrm>
            <a:off x="6153912" y="3364992"/>
            <a:ext cx="0" cy="365760"/>
          </a:xfrm>
          <a:prstGeom prst="line">
            <a:avLst/>
          </a:prstGeom>
          <a:noFill/>
          <a:ln w="19050">
            <a:solidFill>
              <a:srgbClr val="E6E9EC"/>
            </a:solidFill>
            <a:prstDash val="solid"/>
          </a:ln>
        </p:spPr>
      </p:sp>
      <p:sp>
        <p:nvSpPr>
          <p:cNvPr id="23" name="Text 18"/>
          <p:cNvSpPr txBox="1"/>
          <p:nvPr/>
        </p:nvSpPr>
        <p:spPr>
          <a:xfrm>
            <a:off x="6446520" y="2999232"/>
            <a:ext cx="2194560" cy="201168"/>
          </a:xfrm>
          <a:prstGeom prst="rect">
            <a:avLst/>
          </a:prstGeom>
          <a:noFill/>
          <a:ln/>
        </p:spPr>
        <p:txBody>
          <a:bodyPr wrap="square" lIns="0" tIns="0" rIns="0" bIns="0" rtlCol="0" anchor="t"/>
          <a:lstStyle/>
          <a:p>
            <a:pPr indent="0" marL="0">
              <a:buNone/>
            </a:pPr>
            <a:r>
              <a:rPr lang="en-US" sz="950" b="1" dirty="0">
                <a:solidFill>
                  <a:srgbClr val="1E2B37"/>
                </a:solidFill>
                <a:latin typeface="Arial" pitchFamily="34" charset="0"/>
                <a:ea typeface="Arial" pitchFamily="34" charset="-122"/>
                <a:cs typeface="Arial" pitchFamily="34" charset="-120"/>
              </a:rPr>
              <a:t>Semanas 6–7</a:t>
            </a:r>
            <a:endParaRPr lang="en-US" sz="950" dirty="0"/>
          </a:p>
        </p:txBody>
      </p:sp>
      <p:sp>
        <p:nvSpPr>
          <p:cNvPr id="24" name="Text 19"/>
          <p:cNvSpPr txBox="1"/>
          <p:nvPr/>
        </p:nvSpPr>
        <p:spPr>
          <a:xfrm>
            <a:off x="6446520" y="3200400"/>
            <a:ext cx="2194560" cy="365760"/>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calibración del juez y validadores nuevos</a:t>
            </a:r>
            <a:endParaRPr lang="en-US" sz="850" dirty="0"/>
          </a:p>
        </p:txBody>
      </p:sp>
      <p:sp>
        <p:nvSpPr>
          <p:cNvPr id="25" name="Shape 20"/>
          <p:cNvSpPr/>
          <p:nvPr/>
        </p:nvSpPr>
        <p:spPr>
          <a:xfrm>
            <a:off x="5989320" y="3749040"/>
            <a:ext cx="329184" cy="329184"/>
          </a:xfrm>
          <a:prstGeom prst="roundRect">
            <a:avLst>
              <a:gd name="adj" fmla="val 22222"/>
            </a:avLst>
          </a:prstGeom>
          <a:solidFill>
            <a:srgbClr val="FF7A2F"/>
          </a:solidFill>
          <a:ln/>
        </p:spPr>
      </p:sp>
      <p:sp>
        <p:nvSpPr>
          <p:cNvPr id="26" name="Text 21"/>
          <p:cNvSpPr txBox="1"/>
          <p:nvPr/>
        </p:nvSpPr>
        <p:spPr>
          <a:xfrm>
            <a:off x="5989320" y="37490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7" name="Text 22"/>
          <p:cNvSpPr txBox="1"/>
          <p:nvPr/>
        </p:nvSpPr>
        <p:spPr>
          <a:xfrm>
            <a:off x="6446520" y="3730752"/>
            <a:ext cx="2194560" cy="201168"/>
          </a:xfrm>
          <a:prstGeom prst="rect">
            <a:avLst/>
          </a:prstGeom>
          <a:noFill/>
          <a:ln/>
        </p:spPr>
        <p:txBody>
          <a:bodyPr wrap="square" lIns="0" tIns="0" rIns="0" bIns="0" rtlCol="0" anchor="t"/>
          <a:lstStyle/>
          <a:p>
            <a:pPr indent="0" marL="0">
              <a:buNone/>
            </a:pPr>
            <a:r>
              <a:rPr lang="en-US" sz="950" b="1" dirty="0">
                <a:solidFill>
                  <a:srgbClr val="1E2B37"/>
                </a:solidFill>
                <a:latin typeface="Arial" pitchFamily="34" charset="0"/>
                <a:ea typeface="Arial" pitchFamily="34" charset="-122"/>
                <a:cs typeface="Arial" pitchFamily="34" charset="-120"/>
              </a:rPr>
              <a:t>Semana 8</a:t>
            </a:r>
            <a:endParaRPr lang="en-US" sz="950" dirty="0"/>
          </a:p>
        </p:txBody>
      </p:sp>
      <p:sp>
        <p:nvSpPr>
          <p:cNvPr id="28" name="Text 23"/>
          <p:cNvSpPr txBox="1"/>
          <p:nvPr/>
        </p:nvSpPr>
        <p:spPr>
          <a:xfrm>
            <a:off x="6446520" y="3931920"/>
            <a:ext cx="2194560" cy="365760"/>
          </a:xfrm>
          <a:prstGeom prst="rect">
            <a:avLst/>
          </a:prstGeom>
          <a:noFill/>
          <a:ln/>
        </p:spPr>
        <p:txBody>
          <a:bodyPr wrap="square" lIns="0" tIns="0" rIns="0" bIns="0" rtlCol="0" anchor="t"/>
          <a:lstStyle/>
          <a:p>
            <a:pPr indent="0" marL="0">
              <a:buNone/>
            </a:pPr>
            <a:r>
              <a:rPr lang="en-US" sz="850" dirty="0">
                <a:solidFill>
                  <a:srgbClr val="3D4A56"/>
                </a:solidFill>
                <a:latin typeface="Arial" pitchFamily="34" charset="0"/>
                <a:ea typeface="Arial" pitchFamily="34" charset="-122"/>
                <a:cs typeface="Arial" pitchFamily="34" charset="-120"/>
              </a:rPr>
              <a:t>lanzamiento en el catálogo de Navidad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B37"/>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alphaModFix amt="10000"/>
          </a:blip>
          <a:stretch>
            <a:fillRect/>
          </a:stretch>
        </p:blipFill>
        <p:spPr>
          <a:xfrm>
            <a:off x="5760720" y="822960"/>
            <a:ext cx="2926080" cy="2901696"/>
          </a:xfrm>
          <a:prstGeom prst="rect">
            <a:avLst/>
          </a:prstGeom>
        </p:spPr>
      </p:pic>
      <p:pic>
        <p:nvPicPr>
          <p:cNvPr id="3" name="Image 1" descr="/home/user/My-Story-Marker/presentacion/build/img2/logo-white.png">    </p:cNvPr>
          <p:cNvPicPr>
            <a:picLocks noChangeAspect="1"/>
          </p:cNvPicPr>
          <p:nvPr/>
        </p:nvPicPr>
        <p:blipFill>
          <a:blip r:embed="rId2"/>
          <a:stretch>
            <a:fillRect/>
          </a:stretch>
        </p:blipFill>
        <p:spPr>
          <a:xfrm>
            <a:off x="457200" y="640080"/>
            <a:ext cx="1939636" cy="457200"/>
          </a:xfrm>
          <a:prstGeom prst="rect">
            <a:avLst/>
          </a:prstGeom>
        </p:spPr>
      </p:pic>
      <p:sp>
        <p:nvSpPr>
          <p:cNvPr id="4" name="Text 0"/>
          <p:cNvSpPr txBox="1"/>
          <p:nvPr/>
        </p:nvSpPr>
        <p:spPr>
          <a:xfrm>
            <a:off x="457200" y="1554480"/>
            <a:ext cx="502920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Gracias</a:t>
            </a:r>
            <a:endParaRPr lang="en-US" sz="4000" dirty="0"/>
          </a:p>
        </p:txBody>
      </p:sp>
      <p:sp>
        <p:nvSpPr>
          <p:cNvPr id="5" name="Text 1"/>
          <p:cNvSpPr txBox="1"/>
          <p:nvPr/>
        </p:nvSpPr>
        <p:spPr>
          <a:xfrm>
            <a:off x="457200" y="2286000"/>
            <a:ext cx="4937760" cy="731520"/>
          </a:xfrm>
          <a:prstGeom prst="rect">
            <a:avLst/>
          </a:prstGeom>
          <a:noFill/>
          <a:ln/>
        </p:spPr>
        <p:txBody>
          <a:bodyPr wrap="square" lIns="0" tIns="0" rIns="0" bIns="0" rtlCol="0" anchor="t"/>
          <a:lstStyle/>
          <a:p>
            <a:pPr indent="0" marL="0">
              <a:buNone/>
            </a:pPr>
            <a:r>
              <a:rPr lang="en-US" sz="1200" dirty="0">
                <a:solidFill>
                  <a:srgbClr val="C9D1D9"/>
                </a:solidFill>
                <a:latin typeface="Arial" pitchFamily="34" charset="0"/>
                <a:ea typeface="Arial" pitchFamily="34" charset="-122"/>
                <a:cs typeface="Arial" pitchFamily="34" charset="-120"/>
              </a:rPr>
              <a:t>Separamos la verdad de la prosa: lo que es cierto sobre la historia vive en una base de datos y lo comprueban validadores, Lean y TLA+. Solo se publica lo que pasa todo.</a:t>
            </a:r>
            <a:endParaRPr lang="en-US" sz="1200" dirty="0"/>
          </a:p>
        </p:txBody>
      </p:sp>
      <p:sp>
        <p:nvSpPr>
          <p:cNvPr id="6" name="Text 2"/>
          <p:cNvSpPr txBox="1"/>
          <p:nvPr/>
        </p:nvSpPr>
        <p:spPr>
          <a:xfrm>
            <a:off x="457200" y="3154680"/>
            <a:ext cx="1005840" cy="237744"/>
          </a:xfrm>
          <a:prstGeom prst="rect">
            <a:avLst/>
          </a:prstGeom>
          <a:noFill/>
          <a:ln/>
        </p:spPr>
        <p:txBody>
          <a:bodyPr wrap="square" lIns="0" tIns="0" rIns="0" bIns="0" rtlCol="0" anchor="ctr"/>
          <a:lstStyle/>
          <a:p>
            <a:pPr indent="0" marL="0">
              <a:buNone/>
            </a:pPr>
            <a:r>
              <a:rPr lang="en-US" sz="850" b="1" spc="100" kern="0" dirty="0">
                <a:solidFill>
                  <a:srgbClr val="FF7A2F"/>
                </a:solidFill>
                <a:latin typeface="Arial" pitchFamily="34" charset="0"/>
                <a:ea typeface="Arial" pitchFamily="34" charset="-122"/>
                <a:cs typeface="Arial" pitchFamily="34" charset="-120"/>
              </a:rPr>
              <a:t>EMPRESA</a:t>
            </a:r>
            <a:endParaRPr lang="en-US" sz="850" dirty="0"/>
          </a:p>
        </p:txBody>
      </p:sp>
      <p:sp>
        <p:nvSpPr>
          <p:cNvPr id="7" name="Text 3"/>
          <p:cNvSpPr txBox="1"/>
          <p:nvPr/>
        </p:nvSpPr>
        <p:spPr>
          <a:xfrm>
            <a:off x="1508760" y="3154680"/>
            <a:ext cx="4114800" cy="23774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Qaracter</a:t>
            </a:r>
            <a:endParaRPr lang="en-US" sz="1100" dirty="0"/>
          </a:p>
        </p:txBody>
      </p:sp>
      <p:sp>
        <p:nvSpPr>
          <p:cNvPr id="8" name="Text 4"/>
          <p:cNvSpPr txBox="1"/>
          <p:nvPr/>
        </p:nvSpPr>
        <p:spPr>
          <a:xfrm>
            <a:off x="457200" y="3429000"/>
            <a:ext cx="1005840" cy="237744"/>
          </a:xfrm>
          <a:prstGeom prst="rect">
            <a:avLst/>
          </a:prstGeom>
          <a:noFill/>
          <a:ln/>
        </p:spPr>
        <p:txBody>
          <a:bodyPr wrap="square" lIns="0" tIns="0" rIns="0" bIns="0" rtlCol="0" anchor="ctr"/>
          <a:lstStyle/>
          <a:p>
            <a:pPr indent="0" marL="0">
              <a:buNone/>
            </a:pPr>
            <a:r>
              <a:rPr lang="en-US" sz="850" b="1" spc="100" kern="0" dirty="0">
                <a:solidFill>
                  <a:srgbClr val="FF7A2F"/>
                </a:solidFill>
                <a:latin typeface="Arial" pitchFamily="34" charset="0"/>
                <a:ea typeface="Arial" pitchFamily="34" charset="-122"/>
                <a:cs typeface="Arial" pitchFamily="34" charset="-120"/>
              </a:rPr>
              <a:t>CONTACTO</a:t>
            </a:r>
            <a:endParaRPr lang="en-US" sz="850" dirty="0"/>
          </a:p>
        </p:txBody>
      </p:sp>
      <p:sp>
        <p:nvSpPr>
          <p:cNvPr id="9" name="Text 5"/>
          <p:cNvSpPr txBox="1"/>
          <p:nvPr/>
        </p:nvSpPr>
        <p:spPr>
          <a:xfrm>
            <a:off x="1508760" y="3429000"/>
            <a:ext cx="4114800" cy="23774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[NOMBRE_ESTUDIANTE]</a:t>
            </a:r>
            <a:endParaRPr lang="en-US" sz="1100" dirty="0"/>
          </a:p>
        </p:txBody>
      </p:sp>
      <p:sp>
        <p:nvSpPr>
          <p:cNvPr id="10" name="Text 6"/>
          <p:cNvSpPr txBox="1"/>
          <p:nvPr/>
        </p:nvSpPr>
        <p:spPr>
          <a:xfrm>
            <a:off x="457200" y="3703320"/>
            <a:ext cx="1005840" cy="237744"/>
          </a:xfrm>
          <a:prstGeom prst="rect">
            <a:avLst/>
          </a:prstGeom>
          <a:noFill/>
          <a:ln/>
        </p:spPr>
        <p:txBody>
          <a:bodyPr wrap="square" lIns="0" tIns="0" rIns="0" bIns="0" rtlCol="0" anchor="ctr"/>
          <a:lstStyle/>
          <a:p>
            <a:pPr indent="0" marL="0">
              <a:buNone/>
            </a:pPr>
            <a:r>
              <a:rPr lang="en-US" sz="850" b="1" spc="100" kern="0" dirty="0">
                <a:solidFill>
                  <a:srgbClr val="FF7A2F"/>
                </a:solidFill>
                <a:latin typeface="Arial" pitchFamily="34" charset="0"/>
                <a:ea typeface="Arial" pitchFamily="34" charset="-122"/>
                <a:cs typeface="Arial" pitchFamily="34" charset="-120"/>
              </a:rPr>
              <a:t>WEB</a:t>
            </a:r>
            <a:endParaRPr lang="en-US" sz="850" dirty="0"/>
          </a:p>
        </p:txBody>
      </p:sp>
      <p:sp>
        <p:nvSpPr>
          <p:cNvPr id="11" name="Text 7"/>
          <p:cNvSpPr txBox="1"/>
          <p:nvPr/>
        </p:nvSpPr>
        <p:spPr>
          <a:xfrm>
            <a:off x="1508760" y="3703320"/>
            <a:ext cx="4114800" cy="23774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qaracter.com</a:t>
            </a:r>
            <a:endParaRPr lang="en-US" sz="1100" dirty="0"/>
          </a:p>
        </p:txBody>
      </p:sp>
      <p:sp>
        <p:nvSpPr>
          <p:cNvPr id="12" name="Text 8"/>
          <p:cNvSpPr txBox="1"/>
          <p:nvPr/>
        </p:nvSpPr>
        <p:spPr>
          <a:xfrm>
            <a:off x="5760720" y="4434840"/>
            <a:ext cx="2926080" cy="228600"/>
          </a:xfrm>
          <a:prstGeom prst="rect">
            <a:avLst/>
          </a:prstGeom>
          <a:noFill/>
          <a:ln/>
        </p:spPr>
        <p:txBody>
          <a:bodyPr wrap="square" lIns="0" tIns="0" rIns="0" bIns="0" rtlCol="0" anchor="t"/>
          <a:lstStyle/>
          <a:p>
            <a:pPr algn="r" indent="0" marL="0">
              <a:buNone/>
            </a:pPr>
            <a:r>
              <a:rPr lang="en-US" sz="900" dirty="0">
                <a:solidFill>
                  <a:srgbClr val="AEB8C2"/>
                </a:solidFill>
                <a:latin typeface="Arial" pitchFamily="34" charset="0"/>
                <a:ea typeface="Arial" pitchFamily="34" charset="-122"/>
                <a:cs typeface="Arial" pitchFamily="34" charset="-120"/>
              </a:rPr>
              <a:t>Anexos: tabla completa de evals · coste de desarrollo</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ANEXO · EVALS</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000" b="1" dirty="0">
                <a:solidFill>
                  <a:srgbClr val="1E2B37"/>
                </a:solidFill>
                <a:latin typeface="Arial" pitchFamily="34" charset="0"/>
                <a:ea typeface="Arial" pitchFamily="34" charset="-122"/>
                <a:cs typeface="Arial" pitchFamily="34" charset="-120"/>
              </a:rPr>
              <a:t>Tabla completa: validador × brief, antes y después del tuning 1</a:t>
            </a:r>
            <a:endParaRPr lang="en-US" sz="20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 · anexo</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16</a:t>
            </a:r>
            <a:endParaRPr lang="en-US" sz="7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920240"/>
                <a:gridCol w="901337"/>
                <a:gridCol w="901337"/>
                <a:gridCol w="901337"/>
                <a:gridCol w="901337"/>
                <a:gridCol w="901337"/>
                <a:gridCol w="901337"/>
                <a:gridCol w="901337"/>
              </a:tblGrid>
              <a:tr h="237744">
                <a:tc>
                  <a:txBody>
                    <a:bodyPr/>
                    <a:lstStyle/>
                    <a:p>
                      <a:pPr indent="0" marL="0">
                        <a:buNone/>
                      </a:pPr>
                      <a:r>
                        <a:rPr lang="en-US" sz="750" b="1" dirty="0">
                          <a:solidFill>
                            <a:srgbClr val="FFFFFF"/>
                          </a:solidFill>
                          <a:latin typeface="Arial" pitchFamily="34" charset="0"/>
                          <a:ea typeface="Arial" pitchFamily="34" charset="-122"/>
                          <a:cs typeface="Arial" pitchFamily="34" charset="-120"/>
                        </a:rPr>
                        <a:t>Validador</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antes b2</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antes b3</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antes b4</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después b2</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después b3</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después b4</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después b5</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1E2B37"/>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brief_schema</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B83232"/>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forbidden_words_scene</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forbidden_words_chapter</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chapter_length</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exact_names</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brief_coverage</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B83232"/>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B83232"/>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prose_repetition</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judge_chapter</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B83232"/>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judge_novel</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B83232"/>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lean_chronology</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r h="237744">
                <a:tc>
                  <a:txBody>
                    <a:bodyPr/>
                    <a:lstStyle/>
                    <a:p>
                      <a:pPr indent="0" marL="0">
                        <a:buNone/>
                      </a:pPr>
                      <a:r>
                        <a:rPr lang="en-US" sz="700" dirty="0">
                          <a:solidFill>
                            <a:srgbClr val="1E2B37"/>
                          </a:solidFill>
                          <a:latin typeface="Courier New" pitchFamily="34" charset="0"/>
                          <a:ea typeface="Courier New" pitchFamily="34" charset="-122"/>
                          <a:cs typeface="Courier New" pitchFamily="34" charset="-120"/>
                        </a:rPr>
                        <a:t>visual_check</a:t>
                      </a:r>
                      <a:endParaRPr lang="en-US" sz="700" dirty="0">
                        <a:latin typeface="Courier New" charset="0"/>
                        <a:ea typeface="Courier New" charset="0"/>
                        <a:cs typeface="Courier New"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6794A"/>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5E6A7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FFFFF"/>
                    </a:solidFill>
                  </a:tcPr>
                </a:tc>
              </a:tr>
              <a:tr h="237744">
                <a:tc>
                  <a:txBody>
                    <a:bodyPr/>
                    <a:lstStyle/>
                    <a:p>
                      <a:pPr indent="0" marL="0">
                        <a:buNone/>
                      </a:pPr>
                      <a:r>
                        <a:rPr lang="en-US" sz="750" b="1" dirty="0">
                          <a:solidFill>
                            <a:srgbClr val="1E2B37"/>
                          </a:solidFill>
                          <a:latin typeface="Arial" pitchFamily="34" charset="0"/>
                          <a:ea typeface="Arial" pitchFamily="34" charset="-122"/>
                          <a:cs typeface="Arial" pitchFamily="34" charset="-120"/>
                        </a:rPr>
                        <a:t>coste USD</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1,12</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1,24</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0,25</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0,97</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1,02</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1,93</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c>
                  <a:txBody>
                    <a:bodyPr/>
                    <a:lstStyle/>
                    <a:p>
                      <a:pPr indent="0" marL="0">
                        <a:buNone/>
                      </a:pPr>
                      <a:r>
                        <a:rPr lang="en-US" sz="750" dirty="0">
                          <a:solidFill>
                            <a:srgbClr val="1E2B37"/>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45720" marR="45720" marT="45720" marB="45720" anchor="ctr">
                    <a:lnL w="6350" cap="flat" cmpd="sng" algn="ctr">
                      <a:solidFill>
                        <a:srgbClr val="E6E9EC"/>
                      </a:solidFill>
                      <a:prstDash val="solid"/>
                      <a:round/>
                      <a:headEnd type="none" w="med" len="med"/>
                      <a:tailEnd type="none" w="med" len="med"/>
                    </a:lnL>
                    <a:lnR w="6350" cap="flat" cmpd="sng" algn="ctr">
                      <a:solidFill>
                        <a:srgbClr val="E6E9EC"/>
                      </a:solidFill>
                      <a:prstDash val="solid"/>
                      <a:round/>
                      <a:headEnd type="none" w="med" len="med"/>
                      <a:tailEnd type="none" w="med" len="med"/>
                    </a:lnR>
                    <a:lnT w="6350" cap="flat" cmpd="sng" algn="ctr">
                      <a:solidFill>
                        <a:srgbClr val="E6E9EC"/>
                      </a:solidFill>
                      <a:prstDash val="solid"/>
                      <a:round/>
                      <a:headEnd type="none" w="med" len="med"/>
                      <a:tailEnd type="none" w="med" len="med"/>
                    </a:lnT>
                    <a:lnB w="6350" cap="flat" cmpd="sng" algn="ctr">
                      <a:solidFill>
                        <a:srgbClr val="E6E9EC"/>
                      </a:solidFill>
                      <a:prstDash val="solid"/>
                      <a:round/>
                      <a:headEnd type="none" w="med" len="med"/>
                      <a:tailEnd type="none" w="med" len="med"/>
                    </a:lnB>
                    <a:solidFill>
                      <a:srgbClr val="F7F8FA"/>
                    </a:solidFill>
                  </a:tcPr>
                </a:tc>
              </a:tr>
            </a:tbl>
          </a:graphicData>
        </a:graphic>
      </p:graphicFrame>
      <p:sp>
        <p:nvSpPr>
          <p:cNvPr id="9" name="Text 4"/>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750" i="1" dirty="0">
                <a:solidFill>
                  <a:srgbClr val="5E6A77"/>
                </a:solidFill>
                <a:latin typeface="Arial" pitchFamily="34" charset="0"/>
                <a:ea typeface="Arial" pitchFamily="34" charset="-122"/>
                <a:cs typeface="Arial" pitchFamily="34" charset="-120"/>
              </a:rPr>
              <a:t>b2 infantil · b3 inyección · b4 trampas temporales · b5 contradictorio (rechazado en el brief). Fuente: evals/results.md y evals/results/{before,after}/*.json. Detalle: presentacion/anexo-evals-tabla.pdf.</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home/user/My-Story-Marker/presentacion/build/img2/mark.png">    </p:cNvPr>
          <p:cNvPicPr>
            <a:picLocks noChangeAspect="1"/>
          </p:cNvPicPr>
          <p:nvPr/>
        </p:nvPicPr>
        <p:blipFill>
          <a:blip r:embed="rId1"/>
          <a:stretch>
            <a:fillRect/>
          </a:stretch>
        </p:blipFill>
        <p:spPr>
          <a:xfrm>
            <a:off x="457200" y="301752"/>
            <a:ext cx="155448" cy="155448"/>
          </a:xfrm>
          <a:prstGeom prst="rect">
            <a:avLst/>
          </a:prstGeom>
        </p:spPr>
      </p:pic>
      <p:sp>
        <p:nvSpPr>
          <p:cNvPr id="3" name="Text 0"/>
          <p:cNvSpPr txBox="1"/>
          <p:nvPr/>
        </p:nvSpPr>
        <p:spPr>
          <a:xfrm>
            <a:off x="694944" y="274320"/>
            <a:ext cx="6400800" cy="219456"/>
          </a:xfrm>
          <a:prstGeom prst="rect">
            <a:avLst/>
          </a:prstGeom>
          <a:noFill/>
          <a:ln/>
        </p:spPr>
        <p:txBody>
          <a:bodyPr wrap="square" lIns="0" tIns="0" rIns="0" bIns="0" rtlCol="0" anchor="t"/>
          <a:lstStyle/>
          <a:p>
            <a:pPr indent="0" marL="0">
              <a:buNone/>
            </a:pPr>
            <a:r>
              <a:rPr lang="en-US" sz="950" b="1" spc="150" kern="0" dirty="0">
                <a:solidFill>
                  <a:srgbClr val="AE4E14"/>
                </a:solidFill>
                <a:latin typeface="Arial" pitchFamily="34" charset="0"/>
                <a:ea typeface="Arial" pitchFamily="34" charset="-122"/>
                <a:cs typeface="Arial" pitchFamily="34" charset="-120"/>
              </a:rPr>
              <a:t>ANEXO · COSTE DE DESARROLLO</a:t>
            </a:r>
            <a:endParaRPr lang="en-US" sz="950" dirty="0"/>
          </a:p>
        </p:txBody>
      </p:sp>
      <p:sp>
        <p:nvSpPr>
          <p:cNvPr id="4"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000" b="1" dirty="0">
                <a:solidFill>
                  <a:srgbClr val="1E2B37"/>
                </a:solidFill>
                <a:latin typeface="Arial" pitchFamily="34" charset="0"/>
                <a:ea typeface="Arial" pitchFamily="34" charset="-122"/>
                <a:cs typeface="Arial" pitchFamily="34" charset="-120"/>
              </a:rPr>
              <a:t>Cómo reduciríamos el coste de desarrollo del harness</a:t>
            </a:r>
            <a:endParaRPr lang="en-US" sz="2000" dirty="0"/>
          </a:p>
        </p:txBody>
      </p:sp>
      <p:pic>
        <p:nvPicPr>
          <p:cNvPr id="5" name="Image 1" descr="/home/user/My-Story-Marker/presentacion/build/img2/logo.png">    </p:cNvPr>
          <p:cNvPicPr>
            <a:picLocks noChangeAspect="1"/>
          </p:cNvPicPr>
          <p:nvPr/>
        </p:nvPicPr>
        <p:blipFill>
          <a:blip r:embed="rId2"/>
          <a:stretch>
            <a:fillRect/>
          </a:stretch>
        </p:blipFill>
        <p:spPr>
          <a:xfrm>
            <a:off x="457200" y="4754880"/>
            <a:ext cx="426720" cy="100584"/>
          </a:xfrm>
          <a:prstGeom prst="rect">
            <a:avLst/>
          </a:prstGeom>
        </p:spPr>
      </p:pic>
      <p:sp>
        <p:nvSpPr>
          <p:cNvPr id="6" name="Text 2"/>
          <p:cNvSpPr txBox="1"/>
          <p:nvPr/>
        </p:nvSpPr>
        <p:spPr>
          <a:xfrm>
            <a:off x="1024128" y="4736592"/>
            <a:ext cx="5486400" cy="146304"/>
          </a:xfrm>
          <a:prstGeom prst="rect">
            <a:avLst/>
          </a:prstGeom>
          <a:noFill/>
          <a:ln/>
        </p:spPr>
        <p:txBody>
          <a:bodyPr wrap="square" lIns="0" tIns="0" rIns="0" bIns="0" rtlCol="0" anchor="ctr"/>
          <a:lstStyle/>
          <a:p>
            <a:pPr indent="0" marL="0">
              <a:buNone/>
            </a:pPr>
            <a:r>
              <a:rPr lang="en-US" sz="750" dirty="0">
                <a:solidFill>
                  <a:srgbClr val="5E6A77"/>
                </a:solidFill>
                <a:latin typeface="Arial" pitchFamily="34" charset="0"/>
                <a:ea typeface="Arial" pitchFamily="34" charset="-122"/>
                <a:cs typeface="Arial" pitchFamily="34" charset="-120"/>
              </a:rPr>
              <a:t>My Story Marker · propuesta para Cuentalia · anexo</a:t>
            </a:r>
            <a:endParaRPr lang="en-US" sz="750" dirty="0"/>
          </a:p>
        </p:txBody>
      </p:sp>
      <p:sp>
        <p:nvSpPr>
          <p:cNvPr id="7" name="Text 3"/>
          <p:cNvSpPr txBox="1"/>
          <p:nvPr/>
        </p:nvSpPr>
        <p:spPr>
          <a:xfrm>
            <a:off x="8138160" y="4736592"/>
            <a:ext cx="548640" cy="146304"/>
          </a:xfrm>
          <a:prstGeom prst="rect">
            <a:avLst/>
          </a:prstGeom>
          <a:noFill/>
          <a:ln/>
        </p:spPr>
        <p:txBody>
          <a:bodyPr wrap="square" lIns="0" tIns="0" rIns="0" bIns="0" rtlCol="0" anchor="ctr"/>
          <a:lstStyle/>
          <a:p>
            <a:pPr algn="r" indent="0" marL="0">
              <a:buNone/>
            </a:pPr>
            <a:r>
              <a:rPr lang="en-US" sz="750" dirty="0">
                <a:solidFill>
                  <a:srgbClr val="5E6A77"/>
                </a:solidFill>
                <a:latin typeface="Arial" pitchFamily="34" charset="0"/>
                <a:ea typeface="Arial" pitchFamily="34" charset="-122"/>
                <a:cs typeface="Arial" pitchFamily="34" charset="-120"/>
              </a:rPr>
              <a:t>17</a:t>
            </a:r>
            <a:endParaRPr lang="en-US" sz="750" dirty="0"/>
          </a:p>
        </p:txBody>
      </p:sp>
      <p:sp>
        <p:nvSpPr>
          <p:cNvPr id="8" name="Text 4"/>
          <p:cNvSpPr txBox="1"/>
          <p:nvPr/>
        </p:nvSpPr>
        <p:spPr>
          <a:xfrm>
            <a:off x="457200" y="1097280"/>
            <a:ext cx="1920240" cy="411480"/>
          </a:xfrm>
          <a:prstGeom prst="rect">
            <a:avLst/>
          </a:prstGeom>
          <a:noFill/>
          <a:ln/>
        </p:spPr>
        <p:txBody>
          <a:bodyPr wrap="square" lIns="0" tIns="0" rIns="0" bIns="0" rtlCol="0" anchor="b"/>
          <a:lstStyle/>
          <a:p>
            <a:pPr indent="0" marL="0">
              <a:buNone/>
            </a:pPr>
            <a:r>
              <a:rPr lang="en-US" sz="2200" b="1" dirty="0">
                <a:solidFill>
                  <a:srgbClr val="AE4E14"/>
                </a:solidFill>
                <a:latin typeface="Arial" pitchFamily="34" charset="0"/>
                <a:ea typeface="Arial" pitchFamily="34" charset="-122"/>
                <a:cs typeface="Arial" pitchFamily="34" charset="-120"/>
              </a:rPr>
              <a:t>27,03 USD</a:t>
            </a:r>
            <a:endParaRPr lang="en-US" sz="2200" dirty="0"/>
          </a:p>
        </p:txBody>
      </p:sp>
      <p:sp>
        <p:nvSpPr>
          <p:cNvPr id="9" name="Text 5"/>
          <p:cNvSpPr txBox="1"/>
          <p:nvPr/>
        </p:nvSpPr>
        <p:spPr>
          <a:xfrm>
            <a:off x="457200" y="1536192"/>
            <a:ext cx="1920240" cy="365760"/>
          </a:xfrm>
          <a:prstGeom prst="rect">
            <a:avLst/>
          </a:prstGeom>
          <a:noFill/>
          <a:ln/>
        </p:spPr>
        <p:txBody>
          <a:bodyPr wrap="square" lIns="0" tIns="0" rIns="0" bIns="0" rtlCol="0" anchor="t"/>
          <a:lstStyle/>
          <a:p>
            <a:pPr indent="0" marL="0">
              <a:buNone/>
            </a:pPr>
            <a:r>
              <a:rPr lang="en-US" sz="850" dirty="0">
                <a:solidFill>
                  <a:srgbClr val="5E6A77"/>
                </a:solidFill>
                <a:latin typeface="Arial" pitchFamily="34" charset="0"/>
                <a:ea typeface="Arial" pitchFamily="34" charset="-122"/>
                <a:cs typeface="Arial" pitchFamily="34" charset="-120"/>
              </a:rPr>
              <a:t>gasto real de modelo en todo el desarrollo</a:t>
            </a:r>
            <a:endParaRPr lang="en-US" sz="850" dirty="0"/>
          </a:p>
        </p:txBody>
      </p:sp>
      <p:sp>
        <p:nvSpPr>
          <p:cNvPr id="10" name="Text 6"/>
          <p:cNvSpPr txBox="1"/>
          <p:nvPr/>
        </p:nvSpPr>
        <p:spPr>
          <a:xfrm>
            <a:off x="457200" y="1965960"/>
            <a:ext cx="1920240" cy="411480"/>
          </a:xfrm>
          <a:prstGeom prst="rect">
            <a:avLst/>
          </a:prstGeom>
          <a:noFill/>
          <a:ln/>
        </p:spPr>
        <p:txBody>
          <a:bodyPr wrap="square" lIns="0" tIns="0" rIns="0" bIns="0" rtlCol="0" anchor="b"/>
          <a:lstStyle/>
          <a:p>
            <a:pPr indent="0" marL="0">
              <a:buNone/>
            </a:pPr>
            <a:r>
              <a:rPr lang="en-US" sz="2200" b="1" dirty="0">
                <a:solidFill>
                  <a:srgbClr val="1E2B37"/>
                </a:solidFill>
                <a:latin typeface="Arial" pitchFamily="34" charset="0"/>
                <a:ea typeface="Arial" pitchFamily="34" charset="-122"/>
                <a:cs typeface="Arial" pitchFamily="34" charset="-120"/>
              </a:rPr>
              <a:t>53 %</a:t>
            </a:r>
            <a:endParaRPr lang="en-US" sz="2200" dirty="0"/>
          </a:p>
        </p:txBody>
      </p:sp>
      <p:sp>
        <p:nvSpPr>
          <p:cNvPr id="11" name="Text 7"/>
          <p:cNvSpPr txBox="1"/>
          <p:nvPr/>
        </p:nvSpPr>
        <p:spPr>
          <a:xfrm>
            <a:off x="457200" y="2404872"/>
            <a:ext cx="1920240" cy="365760"/>
          </a:xfrm>
          <a:prstGeom prst="rect">
            <a:avLst/>
          </a:prstGeom>
          <a:noFill/>
          <a:ln/>
        </p:spPr>
        <p:txBody>
          <a:bodyPr wrap="square" lIns="0" tIns="0" rIns="0" bIns="0" rtlCol="0" anchor="t"/>
          <a:lstStyle/>
          <a:p>
            <a:pPr indent="0" marL="0">
              <a:buNone/>
            </a:pPr>
            <a:r>
              <a:rPr lang="en-US" sz="850" dirty="0">
                <a:solidFill>
                  <a:srgbClr val="5E6A77"/>
                </a:solidFill>
                <a:latin typeface="Arial" pitchFamily="34" charset="0"/>
                <a:ea typeface="Arial" pitchFamily="34" charset="-122"/>
                <a:cs typeface="Arial" pitchFamily="34" charset="-120"/>
              </a:rPr>
              <a:t>en intentos bloqueados de 10 capítulos (14,33 USD)</a:t>
            </a:r>
            <a:endParaRPr lang="en-US" sz="850" dirty="0"/>
          </a:p>
        </p:txBody>
      </p:sp>
      <p:sp>
        <p:nvSpPr>
          <p:cNvPr id="12" name="Text 8"/>
          <p:cNvSpPr txBox="1"/>
          <p:nvPr/>
        </p:nvSpPr>
        <p:spPr>
          <a:xfrm>
            <a:off x="457200" y="2971800"/>
            <a:ext cx="1920240" cy="1097280"/>
          </a:xfrm>
          <a:prstGeom prst="rect">
            <a:avLst/>
          </a:prstGeom>
          <a:noFill/>
          <a:ln/>
        </p:spPr>
        <p:txBody>
          <a:bodyPr wrap="square" lIns="0" tIns="0" rIns="0" bIns="0" rtlCol="0" anchor="t"/>
          <a:lstStyle/>
          <a:p>
            <a:pPr indent="0" marL="0">
              <a:buNone/>
            </a:pPr>
            <a:r>
              <a:rPr lang="en-US" sz="1100" b="1" i="1" dirty="0">
                <a:solidFill>
                  <a:srgbClr val="3D4A56"/>
                </a:solidFill>
                <a:latin typeface="Arial" pitchFamily="34" charset="0"/>
                <a:ea typeface="Arial" pitchFamily="34" charset="-122"/>
                <a:cs typeface="Arial" pitchFamily="34" charset="-120"/>
              </a:rPr>
              <a:t>«El coste de desarrollo no está en los tokens; está en el retrabajo.»</a:t>
            </a:r>
            <a:endParaRPr lang="en-US" sz="1100" dirty="0"/>
          </a:p>
        </p:txBody>
      </p:sp>
      <p:sp>
        <p:nvSpPr>
          <p:cNvPr id="13" name="Shape 9"/>
          <p:cNvSpPr/>
          <p:nvPr/>
        </p:nvSpPr>
        <p:spPr>
          <a:xfrm>
            <a:off x="2606040" y="1097280"/>
            <a:ext cx="274320" cy="274320"/>
          </a:xfrm>
          <a:prstGeom prst="roundRect">
            <a:avLst>
              <a:gd name="adj" fmla="val 26667"/>
            </a:avLst>
          </a:prstGeom>
          <a:solidFill>
            <a:srgbClr val="1E2B37"/>
          </a:solidFill>
          <a:ln/>
        </p:spPr>
      </p:sp>
      <p:sp>
        <p:nvSpPr>
          <p:cNvPr id="14" name="Text 10"/>
          <p:cNvSpPr txBox="1"/>
          <p:nvPr/>
        </p:nvSpPr>
        <p:spPr>
          <a:xfrm>
            <a:off x="2606040" y="10972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5" name="Text 11"/>
          <p:cNvSpPr txBox="1"/>
          <p:nvPr/>
        </p:nvSpPr>
        <p:spPr>
          <a:xfrm>
            <a:off x="2971800" y="1078992"/>
            <a:ext cx="2606040" cy="201168"/>
          </a:xfrm>
          <a:prstGeom prst="rect">
            <a:avLst/>
          </a:prstGeom>
          <a:noFill/>
          <a:ln/>
        </p:spPr>
        <p:txBody>
          <a:bodyPr wrap="square" lIns="0" tIns="0" rIns="0" bIns="0" rtlCol="0" anchor="t"/>
          <a:lstStyle/>
          <a:p>
            <a:pPr indent="0" marL="0">
              <a:buNone/>
            </a:pPr>
            <a:r>
              <a:rPr lang="en-US" sz="850" b="1" dirty="0">
                <a:solidFill>
                  <a:srgbClr val="1E2B37"/>
                </a:solidFill>
                <a:latin typeface="Arial" pitchFamily="34" charset="0"/>
                <a:ea typeface="Arial" pitchFamily="34" charset="-122"/>
                <a:cs typeface="Arial" pitchFamily="34" charset="-120"/>
              </a:rPr>
              <a:t>Spec del producto antes que harness genérico</a:t>
            </a:r>
            <a:endParaRPr lang="en-US" sz="850" dirty="0"/>
          </a:p>
        </p:txBody>
      </p:sp>
      <p:sp>
        <p:nvSpPr>
          <p:cNvPr id="16" name="Text 12"/>
          <p:cNvSpPr txBox="1"/>
          <p:nvPr/>
        </p:nvSpPr>
        <p:spPr>
          <a:xfrm>
            <a:off x="2971800" y="1280160"/>
            <a:ext cx="2606040" cy="457200"/>
          </a:xfrm>
          <a:prstGeom prst="rect">
            <a:avLst/>
          </a:prstGeom>
          <a:noFill/>
          <a:ln/>
        </p:spPr>
        <p:txBody>
          <a:bodyPr wrap="square" lIns="0" tIns="0" rIns="0" bIns="0" rtlCol="0" anchor="t"/>
          <a:lstStyle/>
          <a:p>
            <a:pPr indent="0" marL="0">
              <a:buNone/>
            </a:pPr>
            <a:r>
              <a:rPr lang="en-US" sz="750" dirty="0">
                <a:solidFill>
                  <a:srgbClr val="3D4A56"/>
                </a:solidFill>
                <a:latin typeface="Arial" pitchFamily="34" charset="0"/>
                <a:ea typeface="Arial" pitchFamily="34" charset="-122"/>
                <a:cs typeface="Arial" pitchFamily="34" charset="-120"/>
              </a:rPr>
              <a:t>el harness de partida (~20.000 líneas, novela larga genérica) hubo que adaptarlo casi entero; empezar por spec + esqueleto de punta a punta</a:t>
            </a:r>
            <a:endParaRPr lang="en-US" sz="750" dirty="0"/>
          </a:p>
        </p:txBody>
      </p:sp>
      <p:sp>
        <p:nvSpPr>
          <p:cNvPr id="17" name="Shape 13"/>
          <p:cNvSpPr/>
          <p:nvPr/>
        </p:nvSpPr>
        <p:spPr>
          <a:xfrm>
            <a:off x="2606040" y="1783080"/>
            <a:ext cx="274320" cy="274320"/>
          </a:xfrm>
          <a:prstGeom prst="roundRect">
            <a:avLst>
              <a:gd name="adj" fmla="val 26667"/>
            </a:avLst>
          </a:prstGeom>
          <a:solidFill>
            <a:srgbClr val="1E2B37"/>
          </a:solidFill>
          <a:ln/>
        </p:spPr>
      </p:sp>
      <p:sp>
        <p:nvSpPr>
          <p:cNvPr id="18" name="Text 14"/>
          <p:cNvSpPr txBox="1"/>
          <p:nvPr/>
        </p:nvSpPr>
        <p:spPr>
          <a:xfrm>
            <a:off x="2606040" y="17830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9" name="Text 15"/>
          <p:cNvSpPr txBox="1"/>
          <p:nvPr/>
        </p:nvSpPr>
        <p:spPr>
          <a:xfrm>
            <a:off x="2971800" y="1764792"/>
            <a:ext cx="2606040" cy="201168"/>
          </a:xfrm>
          <a:prstGeom prst="rect">
            <a:avLst/>
          </a:prstGeom>
          <a:noFill/>
          <a:ln/>
        </p:spPr>
        <p:txBody>
          <a:bodyPr wrap="square" lIns="0" tIns="0" rIns="0" bIns="0" rtlCol="0" anchor="t"/>
          <a:lstStyle/>
          <a:p>
            <a:pPr indent="0" marL="0">
              <a:buNone/>
            </a:pPr>
            <a:r>
              <a:rPr lang="en-US" sz="850" b="1" dirty="0">
                <a:solidFill>
                  <a:srgbClr val="1E2B37"/>
                </a:solidFill>
                <a:latin typeface="Arial" pitchFamily="34" charset="0"/>
                <a:ea typeface="Arial" pitchFamily="34" charset="-122"/>
                <a:cs typeface="Arial" pitchFamily="34" charset="-120"/>
              </a:rPr>
              <a:t>Iterar con novelas cortas</a:t>
            </a:r>
            <a:endParaRPr lang="en-US" sz="850" dirty="0"/>
          </a:p>
        </p:txBody>
      </p:sp>
      <p:sp>
        <p:nvSpPr>
          <p:cNvPr id="20" name="Text 16"/>
          <p:cNvSpPr txBox="1"/>
          <p:nvPr/>
        </p:nvSpPr>
        <p:spPr>
          <a:xfrm>
            <a:off x="2971800" y="1965960"/>
            <a:ext cx="2606040" cy="457200"/>
          </a:xfrm>
          <a:prstGeom prst="rect">
            <a:avLst/>
          </a:prstGeom>
          <a:noFill/>
          <a:ln/>
        </p:spPr>
        <p:txBody>
          <a:bodyPr wrap="square" lIns="0" tIns="0" rIns="0" bIns="0" rtlCol="0" anchor="t"/>
          <a:lstStyle/>
          <a:p>
            <a:pPr indent="0" marL="0">
              <a:buNone/>
            </a:pPr>
            <a:r>
              <a:rPr lang="en-US" sz="750" dirty="0">
                <a:solidFill>
                  <a:srgbClr val="3D4A56"/>
                </a:solidFill>
                <a:latin typeface="Arial" pitchFamily="34" charset="0"/>
                <a:ea typeface="Arial" pitchFamily="34" charset="-122"/>
                <a:cs typeface="Arial" pitchFamily="34" charset="-120"/>
              </a:rPr>
              <a:t>los fallos ya salían en 1–3 capítulos (0,4–0,9 USD); la de 10 solo al final</a:t>
            </a:r>
            <a:endParaRPr lang="en-US" sz="750" dirty="0"/>
          </a:p>
        </p:txBody>
      </p:sp>
      <p:sp>
        <p:nvSpPr>
          <p:cNvPr id="21" name="Shape 17"/>
          <p:cNvSpPr/>
          <p:nvPr/>
        </p:nvSpPr>
        <p:spPr>
          <a:xfrm>
            <a:off x="2606040" y="2468880"/>
            <a:ext cx="274320" cy="274320"/>
          </a:xfrm>
          <a:prstGeom prst="roundRect">
            <a:avLst>
              <a:gd name="adj" fmla="val 26667"/>
            </a:avLst>
          </a:prstGeom>
          <a:solidFill>
            <a:srgbClr val="1E2B37"/>
          </a:solidFill>
          <a:ln/>
        </p:spPr>
      </p:sp>
      <p:sp>
        <p:nvSpPr>
          <p:cNvPr id="22" name="Text 18"/>
          <p:cNvSpPr txBox="1"/>
          <p:nvPr/>
        </p:nvSpPr>
        <p:spPr>
          <a:xfrm>
            <a:off x="2606040" y="24688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3" name="Text 19"/>
          <p:cNvSpPr txBox="1"/>
          <p:nvPr/>
        </p:nvSpPr>
        <p:spPr>
          <a:xfrm>
            <a:off x="2971800" y="2450592"/>
            <a:ext cx="2606040" cy="201168"/>
          </a:xfrm>
          <a:prstGeom prst="rect">
            <a:avLst/>
          </a:prstGeom>
          <a:noFill/>
          <a:ln/>
        </p:spPr>
        <p:txBody>
          <a:bodyPr wrap="square" lIns="0" tIns="0" rIns="0" bIns="0" rtlCol="0" anchor="t"/>
          <a:lstStyle/>
          <a:p>
            <a:pPr indent="0" marL="0">
              <a:buNone/>
            </a:pPr>
            <a:r>
              <a:rPr lang="en-US" sz="850" b="1" dirty="0">
                <a:solidFill>
                  <a:srgbClr val="1E2B37"/>
                </a:solidFill>
                <a:latin typeface="Arial" pitchFamily="34" charset="0"/>
                <a:ea typeface="Arial" pitchFamily="34" charset="-122"/>
                <a:cs typeface="Arial" pitchFamily="34" charset="-120"/>
              </a:rPr>
              <a:t>Lo determinista, antes de escribir</a:t>
            </a:r>
            <a:endParaRPr lang="en-US" sz="850" dirty="0"/>
          </a:p>
        </p:txBody>
      </p:sp>
      <p:sp>
        <p:nvSpPr>
          <p:cNvPr id="24" name="Text 20"/>
          <p:cNvSpPr txBox="1"/>
          <p:nvPr/>
        </p:nvSpPr>
        <p:spPr>
          <a:xfrm>
            <a:off x="2971800" y="2651760"/>
            <a:ext cx="2606040" cy="457200"/>
          </a:xfrm>
          <a:prstGeom prst="rect">
            <a:avLst/>
          </a:prstGeom>
          <a:noFill/>
          <a:ln/>
        </p:spPr>
        <p:txBody>
          <a:bodyPr wrap="square" lIns="0" tIns="0" rIns="0" bIns="0" rtlCol="0" anchor="t"/>
          <a:lstStyle/>
          <a:p>
            <a:pPr indent="0" marL="0">
              <a:buNone/>
            </a:pPr>
            <a:r>
              <a:rPr lang="en-US" sz="750" dirty="0">
                <a:solidFill>
                  <a:srgbClr val="3D4A56"/>
                </a:solidFill>
                <a:latin typeface="Arial" pitchFamily="34" charset="0"/>
                <a:ea typeface="Arial" pitchFamily="34" charset="-122"/>
                <a:cs typeface="Arial" pitchFamily="34" charset="-120"/>
              </a:rPr>
              <a:t>fechas, cronología y lugares validados en el plan: segundos y céntimos, frente a una novela entera</a:t>
            </a:r>
            <a:endParaRPr lang="en-US" sz="750" dirty="0"/>
          </a:p>
        </p:txBody>
      </p:sp>
      <p:sp>
        <p:nvSpPr>
          <p:cNvPr id="25" name="Shape 21"/>
          <p:cNvSpPr/>
          <p:nvPr/>
        </p:nvSpPr>
        <p:spPr>
          <a:xfrm>
            <a:off x="2606040" y="3154680"/>
            <a:ext cx="274320" cy="274320"/>
          </a:xfrm>
          <a:prstGeom prst="roundRect">
            <a:avLst>
              <a:gd name="adj" fmla="val 26667"/>
            </a:avLst>
          </a:prstGeom>
          <a:solidFill>
            <a:srgbClr val="1E2B37"/>
          </a:solidFill>
          <a:ln/>
        </p:spPr>
      </p:sp>
      <p:sp>
        <p:nvSpPr>
          <p:cNvPr id="26" name="Text 22"/>
          <p:cNvSpPr txBox="1"/>
          <p:nvPr/>
        </p:nvSpPr>
        <p:spPr>
          <a:xfrm>
            <a:off x="2606040" y="31546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7" name="Text 23"/>
          <p:cNvSpPr txBox="1"/>
          <p:nvPr/>
        </p:nvSpPr>
        <p:spPr>
          <a:xfrm>
            <a:off x="2971800" y="3136392"/>
            <a:ext cx="2606040" cy="201168"/>
          </a:xfrm>
          <a:prstGeom prst="rect">
            <a:avLst/>
          </a:prstGeom>
          <a:noFill/>
          <a:ln/>
        </p:spPr>
        <p:txBody>
          <a:bodyPr wrap="square" lIns="0" tIns="0" rIns="0" bIns="0" rtlCol="0" anchor="t"/>
          <a:lstStyle/>
          <a:p>
            <a:pPr indent="0" marL="0">
              <a:buNone/>
            </a:pPr>
            <a:r>
              <a:rPr lang="en-US" sz="850" b="1" dirty="0">
                <a:solidFill>
                  <a:srgbClr val="1E2B37"/>
                </a:solidFill>
                <a:latin typeface="Arial" pitchFamily="34" charset="0"/>
                <a:ea typeface="Arial" pitchFamily="34" charset="-122"/>
                <a:cs typeface="Arial" pitchFamily="34" charset="-120"/>
              </a:rPr>
              <a:t>Tests sin modelo</a:t>
            </a:r>
            <a:endParaRPr lang="en-US" sz="850" dirty="0"/>
          </a:p>
        </p:txBody>
      </p:sp>
      <p:sp>
        <p:nvSpPr>
          <p:cNvPr id="28" name="Text 24"/>
          <p:cNvSpPr txBox="1"/>
          <p:nvPr/>
        </p:nvSpPr>
        <p:spPr>
          <a:xfrm>
            <a:off x="2971800" y="3337560"/>
            <a:ext cx="2606040" cy="457200"/>
          </a:xfrm>
          <a:prstGeom prst="rect">
            <a:avLst/>
          </a:prstGeom>
          <a:noFill/>
          <a:ln/>
        </p:spPr>
        <p:txBody>
          <a:bodyPr wrap="square" lIns="0" tIns="0" rIns="0" bIns="0" rtlCol="0" anchor="t"/>
          <a:lstStyle/>
          <a:p>
            <a:pPr indent="0" marL="0">
              <a:buNone/>
            </a:pPr>
            <a:r>
              <a:rPr lang="en-US" sz="750" dirty="0">
                <a:solidFill>
                  <a:srgbClr val="3D4A56"/>
                </a:solidFill>
                <a:latin typeface="Arial" pitchFamily="34" charset="0"/>
                <a:ea typeface="Arial" pitchFamily="34" charset="-122"/>
                <a:cs typeface="Arial" pitchFamily="34" charset="-120"/>
              </a:rPr>
              <a:t>FakeModelClient y respuestas grabadas; en vivo solo un smoke pequeño</a:t>
            </a:r>
            <a:endParaRPr lang="en-US" sz="750" dirty="0"/>
          </a:p>
        </p:txBody>
      </p:sp>
      <p:sp>
        <p:nvSpPr>
          <p:cNvPr id="29" name="Shape 25"/>
          <p:cNvSpPr/>
          <p:nvPr/>
        </p:nvSpPr>
        <p:spPr>
          <a:xfrm>
            <a:off x="2606040" y="3840480"/>
            <a:ext cx="274320" cy="274320"/>
          </a:xfrm>
          <a:prstGeom prst="roundRect">
            <a:avLst>
              <a:gd name="adj" fmla="val 26667"/>
            </a:avLst>
          </a:prstGeom>
          <a:solidFill>
            <a:srgbClr val="1E2B37"/>
          </a:solidFill>
          <a:ln/>
        </p:spPr>
      </p:sp>
      <p:sp>
        <p:nvSpPr>
          <p:cNvPr id="30" name="Text 26"/>
          <p:cNvSpPr txBox="1"/>
          <p:nvPr/>
        </p:nvSpPr>
        <p:spPr>
          <a:xfrm>
            <a:off x="2606040" y="38404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1" name="Text 27"/>
          <p:cNvSpPr txBox="1"/>
          <p:nvPr/>
        </p:nvSpPr>
        <p:spPr>
          <a:xfrm>
            <a:off x="2971800" y="3822192"/>
            <a:ext cx="2606040" cy="201168"/>
          </a:xfrm>
          <a:prstGeom prst="rect">
            <a:avLst/>
          </a:prstGeom>
          <a:noFill/>
          <a:ln/>
        </p:spPr>
        <p:txBody>
          <a:bodyPr wrap="square" lIns="0" tIns="0" rIns="0" bIns="0" rtlCol="0" anchor="t"/>
          <a:lstStyle/>
          <a:p>
            <a:pPr indent="0" marL="0">
              <a:buNone/>
            </a:pPr>
            <a:r>
              <a:rPr lang="en-US" sz="850" b="1" dirty="0">
                <a:solidFill>
                  <a:srgbClr val="1E2B37"/>
                </a:solidFill>
                <a:latin typeface="Arial" pitchFamily="34" charset="0"/>
                <a:ea typeface="Arial" pitchFamily="34" charset="-122"/>
                <a:cs typeface="Arial" pitchFamily="34" charset="-120"/>
              </a:rPr>
              <a:t>Modelo según la tarea</a:t>
            </a:r>
            <a:endParaRPr lang="en-US" sz="850" dirty="0"/>
          </a:p>
        </p:txBody>
      </p:sp>
      <p:sp>
        <p:nvSpPr>
          <p:cNvPr id="32" name="Text 28"/>
          <p:cNvSpPr txBox="1"/>
          <p:nvPr/>
        </p:nvSpPr>
        <p:spPr>
          <a:xfrm>
            <a:off x="2971800" y="4023360"/>
            <a:ext cx="2606040" cy="457200"/>
          </a:xfrm>
          <a:prstGeom prst="rect">
            <a:avLst/>
          </a:prstGeom>
          <a:noFill/>
          <a:ln/>
        </p:spPr>
        <p:txBody>
          <a:bodyPr wrap="square" lIns="0" tIns="0" rIns="0" bIns="0" rtlCol="0" anchor="t"/>
          <a:lstStyle/>
          <a:p>
            <a:pPr indent="0" marL="0">
              <a:buNone/>
            </a:pPr>
            <a:r>
              <a:rPr lang="en-US" sz="750" dirty="0">
                <a:solidFill>
                  <a:srgbClr val="3D4A56"/>
                </a:solidFill>
                <a:latin typeface="Arial" pitchFamily="34" charset="0"/>
                <a:ea typeface="Arial" pitchFamily="34" charset="-122"/>
                <a:cs typeface="Arial" pitchFamily="34" charset="-120"/>
              </a:rPr>
              <a:t>potente para diseño y specs; barato para tests, docs y regenerar tipos; presupuesto por agente</a:t>
            </a:r>
            <a:endParaRPr lang="en-US" sz="750" dirty="0"/>
          </a:p>
        </p:txBody>
      </p:sp>
      <p:sp>
        <p:nvSpPr>
          <p:cNvPr id="33" name="Shape 29"/>
          <p:cNvSpPr/>
          <p:nvPr/>
        </p:nvSpPr>
        <p:spPr>
          <a:xfrm>
            <a:off x="5669280" y="1097280"/>
            <a:ext cx="274320" cy="274320"/>
          </a:xfrm>
          <a:prstGeom prst="roundRect">
            <a:avLst>
              <a:gd name="adj" fmla="val 26667"/>
            </a:avLst>
          </a:prstGeom>
          <a:solidFill>
            <a:srgbClr val="1E2B37"/>
          </a:solidFill>
          <a:ln/>
        </p:spPr>
      </p:sp>
      <p:sp>
        <p:nvSpPr>
          <p:cNvPr id="34" name="Text 30"/>
          <p:cNvSpPr txBox="1"/>
          <p:nvPr/>
        </p:nvSpPr>
        <p:spPr>
          <a:xfrm>
            <a:off x="5669280" y="10972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35" name="Text 31"/>
          <p:cNvSpPr txBox="1"/>
          <p:nvPr/>
        </p:nvSpPr>
        <p:spPr>
          <a:xfrm>
            <a:off x="6035040" y="1078992"/>
            <a:ext cx="2606040" cy="201168"/>
          </a:xfrm>
          <a:prstGeom prst="rect">
            <a:avLst/>
          </a:prstGeom>
          <a:noFill/>
          <a:ln/>
        </p:spPr>
        <p:txBody>
          <a:bodyPr wrap="square" lIns="0" tIns="0" rIns="0" bIns="0" rtlCol="0" anchor="t"/>
          <a:lstStyle/>
          <a:p>
            <a:pPr indent="0" marL="0">
              <a:buNone/>
            </a:pPr>
            <a:r>
              <a:rPr lang="en-US" sz="850" b="1" dirty="0">
                <a:solidFill>
                  <a:srgbClr val="1E2B37"/>
                </a:solidFill>
                <a:latin typeface="Arial" pitchFamily="34" charset="0"/>
                <a:ea typeface="Arial" pitchFamily="34" charset="-122"/>
                <a:cs typeface="Arial" pitchFamily="34" charset="-120"/>
              </a:rPr>
              <a:t>Contratos primero, pocos ficheros compartidos</a:t>
            </a:r>
            <a:endParaRPr lang="en-US" sz="850" dirty="0"/>
          </a:p>
        </p:txBody>
      </p:sp>
      <p:sp>
        <p:nvSpPr>
          <p:cNvPr id="36" name="Text 32"/>
          <p:cNvSpPr txBox="1"/>
          <p:nvPr/>
        </p:nvSpPr>
        <p:spPr>
          <a:xfrm>
            <a:off x="6035040" y="1280160"/>
            <a:ext cx="2606040" cy="457200"/>
          </a:xfrm>
          <a:prstGeom prst="rect">
            <a:avLst/>
          </a:prstGeom>
          <a:noFill/>
          <a:ln/>
        </p:spPr>
        <p:txBody>
          <a:bodyPr wrap="square" lIns="0" tIns="0" rIns="0" bIns="0" rtlCol="0" anchor="t"/>
          <a:lstStyle/>
          <a:p>
            <a:pPr indent="0" marL="0">
              <a:buNone/>
            </a:pPr>
            <a:r>
              <a:rPr lang="en-US" sz="750" dirty="0">
                <a:solidFill>
                  <a:srgbClr val="3D4A56"/>
                </a:solidFill>
                <a:latin typeface="Arial" pitchFamily="34" charset="0"/>
                <a:ea typeface="Arial" pitchFamily="34" charset="-122"/>
                <a:cs typeface="Arial" pitchFamily="34" charset="-120"/>
              </a:rPr>
              <a:t>K1–K5 evitaron retrabajo; rutas y dependencias compartidas costaron fusiones</a:t>
            </a:r>
            <a:endParaRPr lang="en-US" sz="750" dirty="0"/>
          </a:p>
        </p:txBody>
      </p:sp>
      <p:sp>
        <p:nvSpPr>
          <p:cNvPr id="37" name="Shape 33"/>
          <p:cNvSpPr/>
          <p:nvPr/>
        </p:nvSpPr>
        <p:spPr>
          <a:xfrm>
            <a:off x="5669280" y="1783080"/>
            <a:ext cx="274320" cy="274320"/>
          </a:xfrm>
          <a:prstGeom prst="roundRect">
            <a:avLst>
              <a:gd name="adj" fmla="val 26667"/>
            </a:avLst>
          </a:prstGeom>
          <a:solidFill>
            <a:srgbClr val="1E2B37"/>
          </a:solidFill>
          <a:ln/>
        </p:spPr>
      </p:sp>
      <p:sp>
        <p:nvSpPr>
          <p:cNvPr id="38" name="Text 34"/>
          <p:cNvSpPr txBox="1"/>
          <p:nvPr/>
        </p:nvSpPr>
        <p:spPr>
          <a:xfrm>
            <a:off x="5669280" y="17830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39" name="Text 35"/>
          <p:cNvSpPr txBox="1"/>
          <p:nvPr/>
        </p:nvSpPr>
        <p:spPr>
          <a:xfrm>
            <a:off x="6035040" y="1764792"/>
            <a:ext cx="2606040" cy="201168"/>
          </a:xfrm>
          <a:prstGeom prst="rect">
            <a:avLst/>
          </a:prstGeom>
          <a:noFill/>
          <a:ln/>
        </p:spPr>
        <p:txBody>
          <a:bodyPr wrap="square" lIns="0" tIns="0" rIns="0" bIns="0" rtlCol="0" anchor="t"/>
          <a:lstStyle/>
          <a:p>
            <a:pPr indent="0" marL="0">
              <a:buNone/>
            </a:pPr>
            <a:r>
              <a:rPr lang="en-US" sz="850" b="1" dirty="0">
                <a:solidFill>
                  <a:srgbClr val="1E2B37"/>
                </a:solidFill>
                <a:latin typeface="Arial" pitchFamily="34" charset="0"/>
                <a:ea typeface="Arial" pitchFamily="34" charset="-122"/>
                <a:cs typeface="Arial" pitchFamily="34" charset="-120"/>
              </a:rPr>
              <a:t>Verificación proporcional al riesgo</a:t>
            </a:r>
            <a:endParaRPr lang="en-US" sz="850" dirty="0"/>
          </a:p>
        </p:txBody>
      </p:sp>
      <p:sp>
        <p:nvSpPr>
          <p:cNvPr id="40" name="Text 36"/>
          <p:cNvSpPr txBox="1"/>
          <p:nvPr/>
        </p:nvSpPr>
        <p:spPr>
          <a:xfrm>
            <a:off x="6035040" y="1965960"/>
            <a:ext cx="2606040" cy="457200"/>
          </a:xfrm>
          <a:prstGeom prst="rect">
            <a:avLst/>
          </a:prstGeom>
          <a:noFill/>
          <a:ln/>
        </p:spPr>
        <p:txBody>
          <a:bodyPr wrap="square" lIns="0" tIns="0" rIns="0" bIns="0" rtlCol="0" anchor="t"/>
          <a:lstStyle/>
          <a:p>
            <a:pPr indent="0" marL="0">
              <a:buNone/>
            </a:pPr>
            <a:r>
              <a:rPr lang="en-US" sz="750" dirty="0">
                <a:solidFill>
                  <a:srgbClr val="3D4A56"/>
                </a:solidFill>
                <a:latin typeface="Arial" pitchFamily="34" charset="0"/>
                <a:ea typeface="Arial" pitchFamily="34" charset="-122"/>
                <a:cs typeface="Arial" pitchFamily="34" charset="-120"/>
              </a:rPr>
              <a:t>TLC y Lean con modelos pequeños; gate estricto solo en el núcleo</a:t>
            </a:r>
            <a:endParaRPr lang="en-US" sz="750" dirty="0"/>
          </a:p>
        </p:txBody>
      </p:sp>
      <p:sp>
        <p:nvSpPr>
          <p:cNvPr id="41" name="Shape 37"/>
          <p:cNvSpPr/>
          <p:nvPr/>
        </p:nvSpPr>
        <p:spPr>
          <a:xfrm>
            <a:off x="5669280" y="2468880"/>
            <a:ext cx="274320" cy="274320"/>
          </a:xfrm>
          <a:prstGeom prst="roundRect">
            <a:avLst>
              <a:gd name="adj" fmla="val 26667"/>
            </a:avLst>
          </a:prstGeom>
          <a:solidFill>
            <a:srgbClr val="1E2B37"/>
          </a:solidFill>
          <a:ln/>
        </p:spPr>
      </p:sp>
      <p:sp>
        <p:nvSpPr>
          <p:cNvPr id="42" name="Text 38"/>
          <p:cNvSpPr txBox="1"/>
          <p:nvPr/>
        </p:nvSpPr>
        <p:spPr>
          <a:xfrm>
            <a:off x="5669280" y="24688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43" name="Text 39"/>
          <p:cNvSpPr txBox="1"/>
          <p:nvPr/>
        </p:nvSpPr>
        <p:spPr>
          <a:xfrm>
            <a:off x="6035040" y="2450592"/>
            <a:ext cx="2606040" cy="201168"/>
          </a:xfrm>
          <a:prstGeom prst="rect">
            <a:avLst/>
          </a:prstGeom>
          <a:noFill/>
          <a:ln/>
        </p:spPr>
        <p:txBody>
          <a:bodyPr wrap="square" lIns="0" tIns="0" rIns="0" bIns="0" rtlCol="0" anchor="t"/>
          <a:lstStyle/>
          <a:p>
            <a:pPr indent="0" marL="0">
              <a:buNone/>
            </a:pPr>
            <a:r>
              <a:rPr lang="en-US" sz="850" b="1" dirty="0">
                <a:solidFill>
                  <a:srgbClr val="1E2B37"/>
                </a:solidFill>
                <a:latin typeface="Arial" pitchFamily="34" charset="0"/>
                <a:ea typeface="Arial" pitchFamily="34" charset="-122"/>
                <a:cs typeface="Arial" pitchFamily="34" charset="-120"/>
              </a:rPr>
              <a:t>Reutilizar</a:t>
            </a:r>
            <a:endParaRPr lang="en-US" sz="850" dirty="0"/>
          </a:p>
        </p:txBody>
      </p:sp>
      <p:sp>
        <p:nvSpPr>
          <p:cNvPr id="44" name="Text 40"/>
          <p:cNvSpPr txBox="1"/>
          <p:nvPr/>
        </p:nvSpPr>
        <p:spPr>
          <a:xfrm>
            <a:off x="6035040" y="2651760"/>
            <a:ext cx="2606040" cy="457200"/>
          </a:xfrm>
          <a:prstGeom prst="rect">
            <a:avLst/>
          </a:prstGeom>
          <a:noFill/>
          <a:ln/>
        </p:spPr>
        <p:txBody>
          <a:bodyPr wrap="square" lIns="0" tIns="0" rIns="0" bIns="0" rtlCol="0" anchor="t"/>
          <a:lstStyle/>
          <a:p>
            <a:pPr indent="0" marL="0">
              <a:buNone/>
            </a:pPr>
            <a:r>
              <a:rPr lang="en-US" sz="750" dirty="0">
                <a:solidFill>
                  <a:srgbClr val="3D4A56"/>
                </a:solidFill>
                <a:latin typeface="Arial" pitchFamily="34" charset="0"/>
                <a:ea typeface="Arial" pitchFamily="34" charset="-122"/>
                <a:cs typeface="Arial" pitchFamily="34" charset="-120"/>
              </a:rPr>
              <a:t>Langfuse, FastMCP, Playwright MCP, reportlab; llevar hooks, skills y el runner de evals a MyFactory</a:t>
            </a:r>
            <a:endParaRPr lang="en-US" sz="750" dirty="0"/>
          </a:p>
        </p:txBody>
      </p:sp>
      <p:sp>
        <p:nvSpPr>
          <p:cNvPr id="45" name="Shape 41"/>
          <p:cNvSpPr/>
          <p:nvPr/>
        </p:nvSpPr>
        <p:spPr>
          <a:xfrm>
            <a:off x="5669280" y="3154680"/>
            <a:ext cx="274320" cy="274320"/>
          </a:xfrm>
          <a:prstGeom prst="roundRect">
            <a:avLst>
              <a:gd name="adj" fmla="val 26667"/>
            </a:avLst>
          </a:prstGeom>
          <a:solidFill>
            <a:srgbClr val="1E2B37"/>
          </a:solidFill>
          <a:ln/>
        </p:spPr>
      </p:sp>
      <p:sp>
        <p:nvSpPr>
          <p:cNvPr id="46" name="Text 42"/>
          <p:cNvSpPr txBox="1"/>
          <p:nvPr/>
        </p:nvSpPr>
        <p:spPr>
          <a:xfrm>
            <a:off x="5669280" y="31546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47" name="Text 43"/>
          <p:cNvSpPr txBox="1"/>
          <p:nvPr/>
        </p:nvSpPr>
        <p:spPr>
          <a:xfrm>
            <a:off x="6035040" y="3136392"/>
            <a:ext cx="2606040" cy="201168"/>
          </a:xfrm>
          <a:prstGeom prst="rect">
            <a:avLst/>
          </a:prstGeom>
          <a:noFill/>
          <a:ln/>
        </p:spPr>
        <p:txBody>
          <a:bodyPr wrap="square" lIns="0" tIns="0" rIns="0" bIns="0" rtlCol="0" anchor="t"/>
          <a:lstStyle/>
          <a:p>
            <a:pPr indent="0" marL="0">
              <a:buNone/>
            </a:pPr>
            <a:r>
              <a:rPr lang="en-US" sz="850" b="1" dirty="0">
                <a:solidFill>
                  <a:srgbClr val="1E2B37"/>
                </a:solidFill>
                <a:latin typeface="Arial" pitchFamily="34" charset="0"/>
                <a:ea typeface="Arial" pitchFamily="34" charset="-122"/>
                <a:cs typeface="Arial" pitchFamily="34" charset="-120"/>
              </a:rPr>
              <a:t>Observabilidad desde el día 1</a:t>
            </a:r>
            <a:endParaRPr lang="en-US" sz="850" dirty="0"/>
          </a:p>
        </p:txBody>
      </p:sp>
      <p:sp>
        <p:nvSpPr>
          <p:cNvPr id="48" name="Text 44"/>
          <p:cNvSpPr txBox="1"/>
          <p:nvPr/>
        </p:nvSpPr>
        <p:spPr>
          <a:xfrm>
            <a:off x="6035040" y="3337560"/>
            <a:ext cx="2606040" cy="457200"/>
          </a:xfrm>
          <a:prstGeom prst="rect">
            <a:avLst/>
          </a:prstGeom>
          <a:noFill/>
          <a:ln/>
        </p:spPr>
        <p:txBody>
          <a:bodyPr wrap="square" lIns="0" tIns="0" rIns="0" bIns="0" rtlCol="0" anchor="t"/>
          <a:lstStyle/>
          <a:p>
            <a:pPr indent="0" marL="0">
              <a:buNone/>
            </a:pPr>
            <a:r>
              <a:rPr lang="en-US" sz="750" dirty="0">
                <a:solidFill>
                  <a:srgbClr val="3D4A56"/>
                </a:solidFill>
                <a:latin typeface="Arial" pitchFamily="34" charset="0"/>
                <a:ea typeface="Arial" pitchFamily="34" charset="-122"/>
                <a:cs typeface="Arial" pitchFamily="34" charset="-120"/>
              </a:rPr>
              <a:t>coste por llamada y por rol: se optimiza donde está el gasto (writer y editor)</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Qaracter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Story Marker — propuesta para Cuentalia</dc:title>
  <dc:subject>PptxGenJS Presentation</dc:subject>
  <dc:creator>Qaracter</dc:creator>
  <cp:lastModifiedBy>Qaracter</cp:lastModifiedBy>
  <cp:revision>1</cp:revision>
  <dcterms:created xsi:type="dcterms:W3CDTF">2026-09-25T10:02:06Z</dcterms:created>
  <dcterms:modified xsi:type="dcterms:W3CDTF">2026-09-25T10:02:06Z</dcterms:modified>
</cp:coreProperties>
</file>