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latin typeface="Calibri"/>
              </a:rPr>
              <a:t>Coste por ejecución (USD)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C2551F"/>
            </a:solidFill>
          </c:spPr>
          <c:cat>
            <c:strRef>
              <c:f>Sheet1!$A$2:$A$4</c:f>
              <c:strCache>
                <c:ptCount val="3"/>
                <c:pt idx="0">
                  <c:v>b2-infantil (before)</c:v>
                </c:pt>
                <c:pt idx="1">
                  <c:v>b3-injection (before)</c:v>
                </c:pt>
                <c:pt idx="2">
                  <c:v>b4-temporal (before)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1.12</c:v>
                </c:pt>
                <c:pt idx="1">
                  <c:v>1.24</c:v>
                </c:pt>
                <c:pt idx="2">
                  <c:v>0.25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EE3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latin typeface="Calibri"/>
              </a:rPr>
              <a:t>Coste acumulado por rol (USD)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C2551F"/>
            </a:solidFill>
          </c:spPr>
          <c:cat>
            <c:strRef>
              <c:f>Sheet1!$A$2:$A$6</c:f>
              <c:strCache>
                <c:ptCount val="5"/>
                <c:pt idx="0">
                  <c:v>interviewer</c:v>
                </c:pt>
                <c:pt idx="1">
                  <c:v>planner</c:v>
                </c:pt>
                <c:pt idx="2">
                  <c:v>writer</c:v>
                </c:pt>
                <c:pt idx="3">
                  <c:v>judge</c:v>
                </c:pt>
                <c:pt idx="4">
                  <c:v>editor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0.01</c:v>
                </c:pt>
                <c:pt idx="1">
                  <c:v>0.52</c:v>
                </c:pt>
                <c:pt idx="2">
                  <c:v>0.61</c:v>
                </c:pt>
                <c:pt idx="3">
                  <c:v>0.67</c:v>
                </c:pt>
                <c:pt idx="4">
                  <c:v>0.8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EE3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técnico-comercial. Un producto (novelas-regalo) y el harness que lo hace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Clientes: padres, parejas, bodas, aniversarios, jubilaciones.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Capturas del lector React tomadas por el validador visual_check (Playwright) en pre_publish, novela de demostración demo-faro.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renombrado se propaga a hechos derivados, brief, plan, reparto y todo capítulo que mencione el nombre (iteración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Diagrama completo (Mermaid) en anexo-arquitectura.pdf, desde docs/process/diagramas.md.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Decisiones D1, D2, D6, V4. Migraciones 1000_init, 1001_tlc_rules, 1300_forbidden_terms_global.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Registro K3 en app/validators/registry.py. Tabla completa en docs/process/diagramas.md y anexo-arquitectura.pdf.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Motor en app/policy/engine.py: decide y registra, nunca reescribe. El texto libre del cliente es contenido no confiable: prescan de inyección y solo hechos extraídos llegan a los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formal/lean/Chronology/Basic.lean; exportador backend/app/formal/lean_export.py. Detalle en anexo-lean-invariantes.pdf.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formal/tla/GiftNovelHarness.tla + .cfg; salida en tlc-output.txt. TLC corre en desarrollo, no por generación.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Detalle de cada traza en formal/tla/COUNTEREXAMPLES.md y anexo-tla-spec.pdf.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backend/app/commons/observability/ (contrato K2). Prompts en backend/app/prompts/*.md publicados en la gestión de prompts de Langfuse.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evals/run_evals.py; tabla en evals/results.md; detalle en anexo-evals-tabla.pdf.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docs/process/red-team-log.md. Los casos de generación se actualizan con cada ejecución de evals.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docs/process/subagentes-comandos-skills.md y browser-mcp-log.md.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Datos de evals/results/*/*.json (tabla llm_call). Las ejecuciones incluyen la ronda de reparación de pre_publish, así que la estimación es conservadora.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docs/process/trade-offs.md, con opciones, criterios y elección para cada una.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Lista generada: los puntos desaparecen al existir tuning.md, lean-caso-real.md o una revisión humana rellenada.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Frase de la entrega (≤ 3 líneas).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551F"/>
                </a:solidFill>
                <a:latin typeface="Calibri"/>
              </a:rPr>
              <a:t>HARNESS ENGINEERING · ENTREGA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mbria"/>
              </a:rPr>
              <a:t>My Story Marker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40280"/>
            <a:ext cx="6035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E7EB"/>
                </a:solidFill>
                <a:latin typeface="Calibri"/>
              </a:rPr>
              <a:t>Novelas personalizadas para regalar, escritas por un harness de agentes que se puede verificar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2551F"/>
                </a:solidFill>
                <a:latin typeface="Cambria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6344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capítulos de 1.000–1.500</a:t>
            </a:r>
          </a:p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palabras, en español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88620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2551F"/>
                </a:solidFill>
                <a:latin typeface="Cambria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466344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roles con Claude Haiku 4.5</a:t>
            </a:r>
          </a:p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orquestados por código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88620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2551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66344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verificaciones formales:</a:t>
            </a:r>
          </a:p>
          <a:p>
            <a:pPr algn="l"/>
            <a:r>
              <a:rPr sz="1200" b="0" i="0">
                <a:solidFill>
                  <a:srgbClr val="C9CFD6"/>
                </a:solidFill>
                <a:latin typeface="Calibri"/>
              </a:rPr>
              <a:t>Lean 4 y TLA+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Repositorio storyMaker · commit 78548f3 · 2026</a:t>
            </a:r>
          </a:p>
        </p:txBody>
      </p:sp>
      <p:pic>
        <p:nvPicPr>
          <p:cNvPr id="12" name="Picture 11" descr="desktop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822960"/>
            <a:ext cx="4572000" cy="45755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PROBLEMA Y PROPUESTA DE VALOR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Un regalo único que no se puede comprar hecho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329184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F2933"/>
                </a:solidFill>
                <a:latin typeface="Cambria"/>
              </a:rPr>
              <a:t>El problema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86000"/>
            <a:ext cx="484632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Escribir una novela sobre alguien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lleva meses; un regalo tiene fecha.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Un LLM sin harness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mezcla nombres, olvida recuerdos, contradice fechas y resucita a la mascota.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El cliente tiene vetos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(un nombre, un tema) que no pueden aparecer nunca.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440680" cy="329184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2551F"/>
                </a:solidFill>
                <a:latin typeface="Cambria"/>
              </a:rPr>
              <a:t>La propuesta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86000"/>
            <a:ext cx="49377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Entrevista guiada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→ brief validado con schema; detecta datos que faltan y contradicciones.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Novela de 10 capítulos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en la que el destinatario se reconoce.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Lectura web y PDF: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portada con dedicatoria, índice, fichas de personajes.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500" b="1" i="0">
                <a:solidFill>
                  <a:srgbClr val="1F2933"/>
                </a:solidFill>
                <a:latin typeface="Calibri"/>
              </a:rPr>
              <a:t>Cambios puntuales: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«el perro se llama Nala» regenera solo lo necesario.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30368"/>
            <a:ext cx="1045433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C2551F"/>
                </a:solidFill>
                <a:latin typeface="Calibri"/>
              </a:rPr>
              <a:t>D11 ·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Personalización y calidad narrativa pesan igual.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Que aparezcan todos los datos no basta si la historia no funciona como historia: validadores, editor y juez comprueban las dos cosas.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DEMO DEL PRODUCTO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Del brief a una novela que se lee y se regala</a:t>
            </a:r>
          </a:p>
        </p:txBody>
      </p:sp>
      <p:pic>
        <p:nvPicPr>
          <p:cNvPr id="6" name="Picture 5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3545738" cy="3199474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5074920"/>
            <a:ext cx="329184" cy="329184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5093208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Portada con dedicatoria personalizada</a:t>
            </a:r>
          </a:p>
        </p:txBody>
      </p:sp>
      <p:pic>
        <p:nvPicPr>
          <p:cNvPr id="9" name="Picture 8" descr="02-ind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978" y="1645920"/>
            <a:ext cx="3545738" cy="2382292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sp>
        <p:nvSpPr>
          <p:cNvPr id="10" name="Oval 9"/>
          <p:cNvSpPr/>
          <p:nvPr/>
        </p:nvSpPr>
        <p:spPr>
          <a:xfrm>
            <a:off x="4322978" y="5074920"/>
            <a:ext cx="329184" cy="329184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1890" y="5093208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Índice navegable con marcas de versión</a:t>
            </a:r>
          </a:p>
        </p:txBody>
      </p:sp>
      <p:pic>
        <p:nvPicPr>
          <p:cNvPr id="12" name="Picture 11" descr="04-sheets.png"/>
          <p:cNvPicPr>
            <a:picLocks noChangeAspect="1"/>
          </p:cNvPicPr>
          <p:nvPr/>
        </p:nvPicPr>
        <p:blipFill>
          <a:blip r:embed="rId4"/>
          <a:srcRect b="3790"/>
          <a:stretch>
            <a:fillRect/>
          </a:stretch>
        </p:blipFill>
        <p:spPr>
          <a:xfrm>
            <a:off x="8097316" y="1645920"/>
            <a:ext cx="3545738" cy="3246120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sp>
        <p:nvSpPr>
          <p:cNvPr id="13" name="Oval 12"/>
          <p:cNvSpPr/>
          <p:nvPr/>
        </p:nvSpPr>
        <p:spPr>
          <a:xfrm>
            <a:off x="8097316" y="5074920"/>
            <a:ext cx="329184" cy="329184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6228" y="5093208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Fichas desde la story bible, con «Aparece en»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DEMO DEL PRODUCTO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El lector pide un cambio: «el perro se llama Nala»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45920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Selecciona el hecho</a:t>
            </a:r>
          </a:p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en la página o por CLI/API (change_fact).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32304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414016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Se actualiza la story bible</a:t>
            </a:r>
          </a:p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el hecho es único: nunca hay dos versiones de él.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18688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0400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Solo se regeneran sus capítulos</a:t>
            </a:r>
          </a:p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fact_usage dice qué capítulos lo usan.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005072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86784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Versión v+1 publicada</a:t>
            </a:r>
          </a:p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la v1 se conserva; el índice marca «modificado».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791456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7731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PDF nuevo con «novedades»</a:t>
            </a:r>
          </a:p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capítulos cambiados con enlaces internos.</a:t>
            </a:r>
          </a:p>
        </p:txBody>
      </p:sp>
      <p:pic>
        <p:nvPicPr>
          <p:cNvPr id="16" name="Picture 15" descr="desktop-index.png"/>
          <p:cNvPicPr>
            <a:picLocks noChangeAspect="1"/>
          </p:cNvPicPr>
          <p:nvPr/>
        </p:nvPicPr>
        <p:blipFill>
          <a:blip r:embed="rId2"/>
          <a:srcRect b="23923"/>
          <a:stretch>
            <a:fillRect/>
          </a:stretch>
        </p:blipFill>
        <p:spPr>
          <a:xfrm>
            <a:off x="5486400" y="1600200"/>
            <a:ext cx="6153912" cy="3291840"/>
          </a:xfrm>
          <a:prstGeom prst="rect">
            <a:avLst/>
          </a:prstGeom>
          <a:ln w="12700">
            <a:solidFill>
              <a:srgbClr val="D9DEE3"/>
            </a:solidFill>
          </a:ln>
        </p:spPr>
      </p:pic>
      <p:sp>
        <p:nvSpPr>
          <p:cNvPr id="17" name="Rounded Rectangle 16"/>
          <p:cNvSpPr/>
          <p:nvPr/>
        </p:nvSpPr>
        <p:spPr>
          <a:xfrm>
            <a:off x="5486400" y="5074920"/>
            <a:ext cx="6153912" cy="109728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0" y="5166360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F2933"/>
                </a:solidFill>
                <a:latin typeface="Calibri"/>
              </a:rPr>
              <a:t>Ejecución real (ab4731f):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novela de 2 capítulos → versión 2 publicada, 0 apariciones del nombre antiguo, 16 del nuevo, versión 1 intacta.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ARQUITECTURA DEL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Roles con un solo trabajo, orquestados por código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interviewer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brief + hechos
del texto libre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21408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78024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planner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plan, reparto
y cronología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50791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07407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writer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3 escenas
por capítulo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80175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36792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editor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une, pule,
reescribe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09560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266175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F2933"/>
                </a:solidFill>
                <a:latin typeface="Calibri"/>
              </a:rPr>
              <a:t>judge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rúbrica de
4 criterios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838944" y="2350008"/>
            <a:ext cx="356616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195559" y="1874519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 w="12700">
            <a:solidFill>
              <a:srgbClr val="1F2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publicación</a:t>
            </a:r>
          </a:p>
          <a:p>
            <a:pPr algn="ctr"/>
            <a:r>
              <a:rPr sz="1100">
                <a:solidFill>
                  <a:srgbClr val="C9CFD6"/>
                </a:solidFill>
                <a:latin typeface="Calibri"/>
              </a:rPr>
              <a:t>versión v
(lector + PDF)</a:t>
            </a:r>
          </a:p>
        </p:txBody>
      </p:sp>
      <p:sp>
        <p:nvSpPr>
          <p:cNvPr id="17" name="Hexagon 16"/>
          <p:cNvSpPr/>
          <p:nvPr/>
        </p:nvSpPr>
        <p:spPr>
          <a:xfrm>
            <a:off x="548640" y="3154680"/>
            <a:ext cx="1572768" cy="713232"/>
          </a:xfrm>
          <a:prstGeom prst="hexagon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brief_schema</a:t>
            </a:r>
          </a:p>
          <a:p>
            <a:pPr algn="ctr"/>
            <a:r>
              <a:rPr sz="1000">
                <a:solidFill>
                  <a:srgbClr val="52606D"/>
                </a:solidFill>
                <a:latin typeface="Calibri"/>
              </a:rPr>
              <a:t>hook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35024" y="2834639"/>
            <a:ext cx="0" cy="320041"/>
          </a:xfrm>
          <a:prstGeom prst="line">
            <a:avLst/>
          </a:prstGeom>
          <a:ln w="12700">
            <a:solidFill>
              <a:srgbClr val="7B87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Hexagon 18"/>
          <p:cNvSpPr/>
          <p:nvPr/>
        </p:nvSpPr>
        <p:spPr>
          <a:xfrm>
            <a:off x="4407407" y="3154680"/>
            <a:ext cx="1572768" cy="713232"/>
          </a:xfrm>
          <a:prstGeom prst="hexagon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scene_accept</a:t>
            </a:r>
          </a:p>
          <a:p>
            <a:pPr algn="ctr"/>
            <a:r>
              <a:rPr sz="1000">
                <a:solidFill>
                  <a:srgbClr val="52606D"/>
                </a:solidFill>
                <a:latin typeface="Calibri"/>
              </a:rPr>
              <a:t>≤ 2 reescrituras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193792" y="2834639"/>
            <a:ext cx="0" cy="320041"/>
          </a:xfrm>
          <a:prstGeom prst="line">
            <a:avLst/>
          </a:prstGeom>
          <a:ln w="12700">
            <a:solidFill>
              <a:srgbClr val="7B87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Hexagon 20"/>
          <p:cNvSpPr/>
          <p:nvPr/>
        </p:nvSpPr>
        <p:spPr>
          <a:xfrm>
            <a:off x="8037575" y="3154680"/>
            <a:ext cx="2029967" cy="713232"/>
          </a:xfrm>
          <a:prstGeom prst="hexagon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chapter_close</a:t>
            </a:r>
          </a:p>
          <a:p>
            <a:pPr algn="ctr"/>
            <a:r>
              <a:rPr sz="1000">
                <a:solidFill>
                  <a:srgbClr val="52606D"/>
                </a:solidFill>
                <a:latin typeface="Calibri"/>
              </a:rPr>
              <a:t>≤ 2 reescrituras · checkpoint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59" y="2834639"/>
            <a:ext cx="0" cy="320041"/>
          </a:xfrm>
          <a:prstGeom prst="line">
            <a:avLst/>
          </a:prstGeom>
          <a:ln w="12700">
            <a:solidFill>
              <a:srgbClr val="7B87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Hexagon 22"/>
          <p:cNvSpPr/>
          <p:nvPr/>
        </p:nvSpPr>
        <p:spPr>
          <a:xfrm>
            <a:off x="10195559" y="3154680"/>
            <a:ext cx="1572768" cy="713232"/>
          </a:xfrm>
          <a:prstGeom prst="hexagon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pre_publish</a:t>
            </a:r>
          </a:p>
          <a:p>
            <a:pPr algn="ctr"/>
            <a:r>
              <a:rPr sz="1000">
                <a:solidFill>
                  <a:srgbClr val="52606D"/>
                </a:solidFill>
                <a:latin typeface="Calibri"/>
              </a:rPr>
              <a:t>cobertura · Lean · juez · visual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981943" y="2834639"/>
            <a:ext cx="0" cy="320041"/>
          </a:xfrm>
          <a:prstGeom prst="line">
            <a:avLst/>
          </a:prstGeom>
          <a:ln w="12700">
            <a:solidFill>
              <a:srgbClr val="7B87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4160520"/>
            <a:ext cx="7406640" cy="11430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251960"/>
            <a:ext cx="7040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Story bible · SQLite autoritativa</a:t>
            </a:r>
          </a:p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Brief, hechos y su uso por escena, cronología, versiones, checkpoints, resultados de validadores, log de políticas y coste. Solo BibleRepository la toca.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79" y="4160520"/>
            <a:ext cx="3459175" cy="11430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251960"/>
            <a:ext cx="30476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Langfuse</a:t>
            </a:r>
          </a:p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Sesión por novela, spans por rol y tool, coste, scores y prompts versionados.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53212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52606D"/>
                </a:solidFill>
                <a:latin typeface="Calibri"/>
              </a:rPr>
              <a:t>Ningún modelo tiene herramientas. </a:t>
            </a:r>
            <a:r>
              <a:rPr sz="1300" b="0" i="0">
                <a:solidFill>
                  <a:srgbClr val="52606D"/>
                </a:solidFill>
                <a:latin typeface="Calibri"/>
              </a:rPr>
              <a:t>El orquestador (app/novel/pipeline.py) decide qué documentos ve cada rol, valida su salida con JSON Schema y escribe en la BD en su nombre: la tabla de permisos se aplica en código, no en un prompt. Cada fallo vuelve, con feedback y presupuesto, al rol que puede arreglarlo.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MEMORIA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La story bible: una SQLite autoritativa con 16 tablas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1874519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874519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874519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2933"/>
                </a:solidFill>
                <a:latin typeface="Cambria"/>
              </a:rPr>
              <a:t>Hechos y su uso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313432"/>
            <a:ext cx="4312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2551F"/>
                </a:solidFill>
                <a:latin typeface="Courier New"/>
              </a:rPr>
              <a:t>fact · fact_usage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51760"/>
            <a:ext cx="4267047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Cada hecho del brief es una fila; fact_usage lo liga a (versión, capítulo, escena). Así change_fact sabe qué capítulos regenerar.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00200"/>
            <a:ext cx="5410047" cy="1874519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7327" y="1874519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1687" y="1874519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2933"/>
                </a:solidFill>
                <a:latin typeface="Cambria"/>
              </a:rPr>
              <a:t>Cronología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2313432"/>
            <a:ext cx="4312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2551F"/>
                </a:solidFill>
                <a:latin typeface="Courier New"/>
              </a:rPr>
              <a:t>chronology_event · event_participant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1687" y="2651760"/>
            <a:ext cx="4267047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Fechas, lugares, participantes, edades declaradas y salidas (muerte, partida). Es la entrada del modelo Lean.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49039"/>
            <a:ext cx="5410047" cy="1874519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59" y="4023359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023359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2933"/>
                </a:solidFill>
                <a:latin typeface="Cambria"/>
              </a:rPr>
              <a:t>Versiones y checkpoints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4462272"/>
            <a:ext cx="4312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2551F"/>
                </a:solidFill>
                <a:latin typeface="Courier New"/>
              </a:rPr>
              <a:t>novel_version · chapter_version · checkpoint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800600"/>
            <a:ext cx="4267047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Texto + hash por capítulo y versión; texto y checkpoint en una transacción. Reanudación en el primer capítulo incompleto.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749039"/>
            <a:ext cx="5410047" cy="1874519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7327" y="4023359"/>
            <a:ext cx="411480" cy="411480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1687" y="4023359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2933"/>
                </a:solidFill>
                <a:latin typeface="Cambria"/>
              </a:rPr>
              <a:t>Auditoría y coste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4462272"/>
            <a:ext cx="4312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2551F"/>
                </a:solidFill>
                <a:latin typeface="Courier New"/>
              </a:rPr>
              <a:t>validator_result · policy_decision · llm_call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1687" y="4800600"/>
            <a:ext cx="4267047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Cada validador, decisión de política y llamada con tokens, coste, latencia y versión de prompt. Nada se borra (D6).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Diagrama entidad-relación completo (Mermaid) en anexo-arquitectura.pdf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VALIDADORES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Cada fallo se detecta donde es barato repararlo</a:t>
            </a:r>
          </a:p>
        </p:txBody>
      </p:sp>
      <p:sp>
        <p:nvSpPr>
          <p:cNvPr id="6" name="Pentagon 5"/>
          <p:cNvSpPr/>
          <p:nvPr/>
        </p:nvSpPr>
        <p:spPr>
          <a:xfrm>
            <a:off x="548640" y="1554480"/>
            <a:ext cx="2514600" cy="658368"/>
          </a:xfrm>
          <a:prstGeom prst="homePlate">
            <a:avLst/>
          </a:prstGeom>
          <a:solidFill>
            <a:srgbClr val="F3F5F7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hook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al entregar el brief</a:t>
            </a:r>
          </a:p>
        </p:txBody>
      </p:sp>
      <p:sp>
        <p:nvSpPr>
          <p:cNvPr id="7" name="Chevron 6"/>
          <p:cNvSpPr/>
          <p:nvPr/>
        </p:nvSpPr>
        <p:spPr>
          <a:xfrm>
            <a:off x="3429000" y="1554480"/>
            <a:ext cx="2514600" cy="658368"/>
          </a:xfrm>
          <a:prstGeom prst="chevron">
            <a:avLst/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scene_accept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cada escena</a:t>
            </a:r>
          </a:p>
        </p:txBody>
      </p:sp>
      <p:sp>
        <p:nvSpPr>
          <p:cNvPr id="8" name="Chevron 7"/>
          <p:cNvSpPr/>
          <p:nvPr/>
        </p:nvSpPr>
        <p:spPr>
          <a:xfrm>
            <a:off x="6309359" y="1554480"/>
            <a:ext cx="2514600" cy="658368"/>
          </a:xfrm>
          <a:prstGeom prst="chevron">
            <a:avLst/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chapter_close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cada capítulo</a:t>
            </a:r>
          </a:p>
        </p:txBody>
      </p:sp>
      <p:sp>
        <p:nvSpPr>
          <p:cNvPr id="9" name="Chevron 8"/>
          <p:cNvSpPr/>
          <p:nvPr/>
        </p:nvSpPr>
        <p:spPr>
          <a:xfrm>
            <a:off x="9189719" y="1554480"/>
            <a:ext cx="2514600" cy="658368"/>
          </a:xfrm>
          <a:prstGeom prst="chevron">
            <a:avLst/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pre_publish</a:t>
            </a:r>
          </a:p>
          <a:p>
            <a:pPr algn="ctr"/>
            <a:r>
              <a:rPr sz="1100">
                <a:solidFill>
                  <a:srgbClr val="52606D"/>
                </a:solidFill>
                <a:latin typeface="Calibri"/>
              </a:rPr>
              <a:t>antes de publicar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1094413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961"/>
                <a:gridCol w="4217711"/>
                <a:gridCol w="2750681"/>
                <a:gridCol w="29340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Validadores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Punto de ejecución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 falla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Programático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brief_schema · schema_role_output · chapter_length · exact_names · brief_coverage · prose_repetition · no_placeholders · visual_check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hook · scene_accept · chapter_close · pre_publish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vuelve al rol productor con la evidencia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forbidden_words_scene · forbidden_words_chapter · free_text_injection (prescan)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entrevista · scene_accept · chapter_close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reescritura ≤ 2 → forbidden_word_limit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Semántico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judge_chapter · judge_novel · revisión humana (misma rúbrica)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chapter_close · pre_publish · una novela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editor; aprueba si cada criterio ≥ 3 y media ≥ 3,5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Formal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lean_chronology (4 invariantes) · TLA+/TLC del flujo (en desarrollo)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pre_publish · desarrollo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versión bloqueada; 1 ronda de reparación de los capítulos citados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Cada validador tiene nombre y punto de ejecución, y envía su resultado a Langfuse como score. </a:t>
            </a:r>
            <a:r>
              <a:rPr sz="1300" b="1" i="0">
                <a:solidFill>
                  <a:srgbClr val="52606D"/>
                </a:solidFill>
                <a:latin typeface="Calibri"/>
              </a:rPr>
              <a:t>Un fallo en pre_publish no reescribe la novela: </a:t>
            </a:r>
            <a:r>
              <a:rPr sz="1300" b="0" i="0">
                <a:solidFill>
                  <a:srgbClr val="52606D"/>
                </a:solidFill>
                <a:latin typeface="Calibri"/>
              </a:rPr>
              <a:t>solo se reabren los capítulos que cita la evidencia.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GUARDRAILS Y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Reglas que se cumplen aunque el modelo no quiera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6974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55648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Vetos en 3 niveles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10377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Global: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sembrado por migración (1300).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Novela: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los vetos del cliente en el brief.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Léxico: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variantes extra que aporta cada validador.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Un acierto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vuelve al escritor, ≤ 2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600200"/>
            <a:ext cx="3515258" cy="26974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6818" y="1755648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Un solo normalizador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6818" y="2240280"/>
            <a:ext cx="310377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Plegado común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de texto y término (NFKD, sin tildes).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Detecta: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t0nt0 · tontooo · t.o.n.t.o · cabrones → cabrón.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Sin falsos positivos: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«ridículo», «tontería».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Palabra completa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y frases, no subcadenas.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600200"/>
            <a:ext cx="3515258" cy="26974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6396" y="1755648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933"/>
                </a:solidFill>
                <a:latin typeface="Cambria"/>
              </a:rPr>
              <a:t>Audit log y hooks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6396" y="2240280"/>
            <a:ext cx="310377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policy_decision: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cada decisión con término, intento y traza.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Score guardrail:*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en Langfuse.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PreToolUse policy_guard: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.env, claves, escritura directa a la BD.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PostToolUse validate_chapter: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mismas reglas en ediciones a mano.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4526280"/>
          <a:ext cx="11094414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68665"/>
                <a:gridCol w="3025749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Intento en Claude Code (commit 54854d3)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Write backend/.env · valor con forma de clave sk-ant-…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bloqueado (exit 2)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Bash sqlite3 data/harness.sqlite "delete …"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bloqueado (exit 2)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Bash sqlite3 … "select …" · Edit backend/app/main.py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permitido (exit 0)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Capítulo con «c4br0n» o de 2 palabras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bloqueado (exit 2)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VERIFICACIÓN FORMAL · LEAN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Un build verde prueba que la cronología es coherente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2821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C2551F"/>
                </a:solidFill>
                <a:latin typeface="Courier New"/>
              </a:rPr>
              <a:t>temporalOrder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7568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Lo que se cuenta después ocurre el mismo día o más tarde.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60020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1688" y="172821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C2551F"/>
                </a:solidFill>
                <a:latin typeface="Courier New"/>
              </a:rPr>
              <a:t>agesCoherent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07568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Cada edad declarada = años cumplidos desde el nacimiento.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96265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C2551F"/>
                </a:solidFill>
                <a:latin typeface="Courier New"/>
              </a:rPr>
              <a:t>noBilocation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31012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Nadie está en dos lugares el mismo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28346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296265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C2551F"/>
                </a:solidFill>
                <a:latin typeface="Courier New"/>
              </a:rPr>
              <a:t>noAfterExit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331012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Tras una muerte o partida, esa persona no vuelve a aparecer.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6949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Bool + Prop + teorema de corrección: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la comprobación es una prueba, no un true.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Solo core Lean, sin Mathlib;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decide +kernel (decide revienta maxRecDepth ~100 eventos).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300" b="1" i="0">
                <a:solidFill>
                  <a:srgbClr val="1F2933"/>
                </a:solidFill>
                <a:latin typeface="Calibri"/>
              </a:rPr>
              <a:t>Se genera desde la story bible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en pre_publish; si falla, no se publica y el fallo vuelve al editor con los eventos.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9" y="16002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C2551F"/>
                </a:solidFill>
                <a:latin typeface="Cambria"/>
              </a:rPr>
              <a:t>3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22860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build · 100 eventos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16002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C2551F"/>
                </a:solidFill>
                <a:latin typeface="Cambria"/>
              </a:rPr>
              <a:t>17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22860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build · 300 eventos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2834640"/>
            <a:ext cx="3596335" cy="27432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944368"/>
            <a:ext cx="32305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Caso real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3310128"/>
            <a:ext cx="323057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2606D"/>
                </a:solidFill>
                <a:latin typeface="Calibri"/>
              </a:rPr>
              <a:t>b4-temporal: </a:t>
            </a:r>
            <a:r>
              <a:rPr sz="1200" b="0" i="0">
                <a:solidFill>
                  <a:srgbClr val="52606D"/>
                </a:solidFill>
                <a:latin typeface="Calibri"/>
              </a:rPr>
              <a:t>el diagnóstico de cronología del plan (los mismos invariantes) detectó noAfterExit — la mascota muerta que reaparece — antes de escribir una línea; tras 1 replan, parada controlada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606D"/>
                </a:solidFill>
                <a:latin typeface="Calibri"/>
              </a:rPr>
              <a:t>(0,25 USD en vez de una novela entera).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7B8794"/>
                </a:solidFill>
                <a:latin typeface="Calibri"/>
              </a:rPr>
              <a:t>Pendiente: un caso cazado por Lean en pre_publish y por ningún otro validador (docs/process/lean-caso-real.md).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VERIFICACIÓN FORMAL · TLA+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El flujo del harness, comprobado con TLC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Configured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18470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6060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Planned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06240" y="18470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6634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Scene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63640" y="18470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7208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Editor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8470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78240" y="16002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Close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78340" y="2103120"/>
            <a:ext cx="0" cy="41148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782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Checkpoint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8321040" y="27614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7208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6263640" y="27614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634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Calibri"/>
              </a:rPr>
              <a:t>PrePublish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206240" y="2761488"/>
            <a:ext cx="457200" cy="0"/>
          </a:xfrm>
          <a:prstGeom prst="line">
            <a:avLst/>
          </a:prstGeom>
          <a:ln w="19050">
            <a:solidFill>
              <a:srgbClr val="5260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6060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 w="12700">
            <a:solidFill>
              <a:srgbClr val="1F2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Published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514600"/>
            <a:ext cx="1600200" cy="502920"/>
          </a:xfrm>
          <a:prstGeom prst="roundRect">
            <a:avLst>
              <a:gd name="adj" fmla="val 8000"/>
            </a:avLst>
          </a:prstGeom>
          <a:solidFill>
            <a:srgbClr val="FBE4E4"/>
          </a:solidFill>
          <a:ln w="1270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Calibri"/>
              </a:rPr>
              <a:t>StoppedError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1546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Bucles acotados (≤ 2 reintentos, 1 reparación) → StoppedError al agotarse. Crash → Resume desde la BD. ChangeFact → versión v+1.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3611880"/>
          <a:ext cx="74066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711"/>
                <a:gridCol w="1033484"/>
                <a:gridCol w="378944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Propiedad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Garantiza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NoUnvalidatedPublish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invariante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 se publica nada que no pasó todos los validadores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ResumeNoDupNoLoss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invariante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reanudar no duplica ni pierde capítulos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PreviousVersionKept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invariante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la versión publicada anterior no cambia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RetriesBounded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invariante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reintentos acotados, también tras un crash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Termination · EveryGenerationEnds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liveness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toda generación acaba publicada o en error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8275319" y="3611880"/>
            <a:ext cx="3367735" cy="219456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19" y="3703320"/>
            <a:ext cx="291053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3F4EA"/>
                </a:solidFill>
                <a:latin typeface="Calibri"/>
              </a:rPr>
              <a:t>Sin errores</a:t>
            </a:r>
          </a:p>
          <a:p>
            <a:pPr algn="l"/>
            <a:r>
              <a:rPr sz="3000" b="1" i="0">
                <a:solidFill>
                  <a:srgbClr val="C2551F"/>
                </a:solidFill>
                <a:latin typeface="Cambria"/>
              </a:rPr>
              <a:t>696.062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estados distintos</a:t>
            </a:r>
          </a:p>
          <a:p>
            <a:pPr algn="l"/>
            <a:r>
              <a:rPr sz="1100" b="0" i="0">
                <a:solidFill>
                  <a:srgbClr val="C9CFD6"/>
                </a:solidFill>
                <a:latin typeface="Calibri"/>
              </a:rPr>
              <a:t>1.247.479 generados · profundidad 109 · 59s</a:t>
            </a:r>
          </a:p>
          <a:p>
            <a:pPr algn="l"/>
            <a:r>
              <a:rPr sz="1100" b="0" i="0">
                <a:solidFill>
                  <a:srgbClr val="C9CFD6"/>
                </a:solidFill>
                <a:latin typeface="Calibri"/>
              </a:rPr>
              <a:t>N = 5 capítulos · 3 escenas · reintentos 2/2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TLA+ · CONTRAEJEMPLOS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Cuatro trazas de TLC que cambiaron el código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606D"/>
                </a:solidFill>
                <a:latin typeface="Calibri"/>
              </a:rPr>
              <a:t>El modelo se escribió en paralelo al pipeline, leyendo el esquema y el plan tal cual. TLC encontró dónde esa lectura se rompía.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441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26"/>
                <a:gridCol w="1818756"/>
                <a:gridCol w="909378"/>
                <a:gridCol w="3910326"/>
                <a:gridCol w="3910326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Invariante violado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Traza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Causa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Regla para el código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CE1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ResumeNoDupNoLoss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18 estados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Un crash entre la fila del capítulo y su checkpoint duplica el capítulo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Texto del capítulo y checkpoint en una sola transacción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CE2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RetriesBounded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21 estados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El contador de reintentos de capítulo vivía en memoria; un crash lo reiniciaba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Reintentos de capítulo contados desde validator_result persistidos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CE3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ResumeNoDupNoLoss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46 estados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La ronda de reparación insertaba una segunda fila del mismo capítulo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Upsert por (versión, capítulo); una versión publicada no se escribe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CE4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RetriesBounded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50 estados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El contador de rondas de reparación vivía en memoria; un crash lo reiniciaba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Ronda de reparación guardada en novel_version junto a «blocked»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548640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Efecto: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la spec de la story bible volvió a borrador y se reaprobó antes de que existiera el pipeline, que nació con las cuatro reglas. Dos mutaciones (publicar sin pre_publish, regenerar en sitio) confirman que las propiedades no son vacías.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OBSERVABILIDAD · LANGFUSE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Qué hizo cada llamada, cuánto costó y con qué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Sesión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71907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una por novela: entrevista, generación y regeneraciones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246888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Traza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2542032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una por generate o change_fact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29184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Spans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364992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phase:* · chapter:&lt;n&gt; · role:&lt;rol&gt; · tool:&lt;nombre&gt;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11480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 w="12700">
            <a:solidFill>
              <a:srgbClr val="C2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Generaciones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418795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tokens, coste (pricing.py) y latencia por llamada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19" y="4937760"/>
            <a:ext cx="1600200" cy="603504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 w="12700">
            <a:solidFill>
              <a:srgbClr val="1F29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Scores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501091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2606D"/>
                </a:solidFill>
                <a:latin typeface="Calibri"/>
              </a:rPr>
              <a:t>cada validador, guardrail y criterio del juez; novel_cost_usd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645920"/>
            <a:ext cx="41449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mbria"/>
              </a:rPr>
              <a:t>Prompts versionados en las evals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498079" y="2057400"/>
          <a:ext cx="414497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243"/>
                <a:gridCol w="1355087"/>
                <a:gridCol w="956532"/>
                <a:gridCol w="79711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Versión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Llamadas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editor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editor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interviewer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fact_extractor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sha-609af91…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judge_chapter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judge_novel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writer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writer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498079" y="4453128"/>
            <a:ext cx="41449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606D"/>
                </a:solidFill>
                <a:latin typeface="Calibri"/>
              </a:rPr>
              <a:t>Cada llamada guarda prompt_version también en llm_call (SQLite), así el coste y la comparación antes/después no dependen de Langfuse. Sin claves: NoopObserver.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Cinco briefs × validadores · iteración «before»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0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5225"/>
                <a:gridCol w="652612"/>
                <a:gridCol w="652612"/>
                <a:gridCol w="652612"/>
                <a:gridCol w="652612"/>
                <a:gridCol w="652612"/>
                <a:gridCol w="652612"/>
                <a:gridCol w="652612"/>
                <a:gridCol w="652612"/>
                <a:gridCol w="652612"/>
                <a:gridCol w="652612"/>
                <a:gridCol w="652612"/>
                <a:gridCol w="652612"/>
                <a:gridCol w="1348732"/>
                <a:gridCol w="609105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brief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schema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vetos esc.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vetos cap.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longitud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nombres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cobertura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repetición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juez cap.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juez nov.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Lean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visual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inyección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b2-infantil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blocked 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1.1247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b3-injection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⚑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blocked v1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1.2392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b4-temporal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pipeline_error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0.2494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b5-contradiction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54864" marR="54864" marT="27432" marB="27432" anchor="ctr">
                    <a:solidFill>
                      <a:srgbClr val="FBE4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rejected_by_validation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3794760"/>
            <a:ext cx="11094415" cy="173736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3931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Iteración de tuning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343400"/>
            <a:ext cx="1054577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52606D"/>
                </a:solidFill>
                <a:latin typeface="Calibri"/>
              </a:rPr>
              <a:t>Lo que ya muestra «before»: </a:t>
            </a:r>
            <a:r>
              <a:rPr sz="1200" b="0" i="0">
                <a:solidFill>
                  <a:srgbClr val="52606D"/>
                </a:solidFill>
                <a:latin typeface="Calibri"/>
              </a:rPr>
              <a:t>el validador que bloquea es brief_coverage (recuerdos obligatorios que no aparecen literalmente); b3 marca la inyección y no la sigue; b4 se detiene en el plan por la cronología; b5 se rechaza antes de generar, como se esperaba.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52606D"/>
                </a:solidFill>
                <a:latin typeface="Calibri"/>
              </a:rPr>
              <a:t>Pendiente: </a:t>
            </a:r>
            <a:r>
              <a:rPr sz="1200" b="0" i="1">
                <a:solidFill>
                  <a:srgbClr val="52606D"/>
                </a:solidFill>
                <a:latin typeface="Calibri"/>
              </a:rPr>
              <a:t>la ejecución «after» tras un cambio de prompt y su comparación (compare_iterations.py → evals/results/tuning.md); esta sección se rellena sola al reconstruir.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RED-TEAM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Ataques probados, qué los detuvo y qué queda pendiente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446"/>
                <a:gridCol w="3667575"/>
                <a:gridCol w="4217711"/>
                <a:gridCol w="275068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Defensa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Inyección en texto libre (vivo, B2)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prescan + indicador del modelo; solo hechos al bible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✓ detectado y no seguido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R2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Inyección en el brief b3-injection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prescan, extractor, forbidden_words_*, juez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prescan ✓ (validación estática); generación pendiente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Trampas temporales b4-temporal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lean_chronology (4 invariantes), chronology_problems en el plan, judge_novel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R4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Contradicción b5-contradiction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validación del brief (brief_schema)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✓ rechazado, no se genera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Variantes de palabras prohibidas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normalizador de app/policy/normalise.py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✓ tests; en prosa generada pendiente</a:t>
                      </a:r>
                    </a:p>
                  </a:txBody>
                  <a:tcPr marL="54864" marR="54864" marT="27432" marB="27432" anchor="ctr">
                    <a:solidFill>
                      <a:srgbClr val="FDF3D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R6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Fuga de secretos vía Claude Code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hook policy_guard.py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✓ bloqueado (exit 2)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Escritura directa en la story bible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hook policy_guard.py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✓ bloqueado; lectura select permitida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R8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Nombres anonimizados por el propio modelo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no_placeholders + prompts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✓ (ver iteraciones)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Hallazgo de revisión (R2): el texto libre crudo llegaba al planner y al juez; desde a721bc7 solo reciben los hechos extraídos.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USO DE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Construido por un orquestador y subagentes en paralelo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185623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CLAUDE.md + AGENTS.md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Mapa de docs y Procesos 0–3: docs → spec → plan → código. Proceso 0 en 4 rondas antes de la spec 004.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6818" y="182880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8026" y="185623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Subagentes por bloque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37744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12 bloques, 4 oleadas, un git worktree por agente; contratos K1–K5 publicados antes que su implementación.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56396" y="182880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7604" y="185623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37744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gift-novel-run (creada: generar e inspeccionar de punta a punta), react, sqlite, verification, fastapi.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1188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84048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386791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Comandos 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8912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/generate-novel · /inspect-novel · /change-fact · /exam-gap.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361188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66818" y="384048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8026" y="386791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Hooks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38912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PreToolUse policy_guard y PostToolUse validate_chapter: el mismo código que el pipeline, 14 casos probados.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3611880"/>
            <a:ext cx="3515258" cy="1783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3840480"/>
            <a:ext cx="384048" cy="384048"/>
          </a:xfrm>
          <a:prstGeom prst="ellipse">
            <a:avLst/>
          </a:prstGeom>
          <a:solidFill>
            <a:srgbClr val="C25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77604" y="3867912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mbria"/>
              </a:rPr>
              <a:t>Browser MCP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389120"/>
            <a:ext cx="305805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Playwright MCP inspeccionó el lector: cazó un 500 intermitente (SQLite entre hilos) y fichas sin versionar; ambos corregidos.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5650992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Un límite que funcionó: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un subagente intentó ampliar las exenciones de una regla de seguridad y el clasificador del modo auto lo bloqueó; la decisión quedó para el humano.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COSTE Y LATENCIA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Lo que cuesta una novela con Claude Haiku 4.5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C2551F"/>
                </a:solidFill>
                <a:latin typeface="Cambria"/>
              </a:rPr>
              <a:t>0,31 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9424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coste medio por capítulo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24912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C2551F"/>
                </a:solidFill>
                <a:latin typeface="Cambria"/>
              </a:rPr>
              <a:t>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28416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tiempo de modelo por capítulo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3904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C2551F"/>
                </a:solidFill>
                <a:latin typeface="Cambria"/>
              </a:rPr>
              <a:t>3,36 USD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0740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estimación, novela de 10 capítulos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82896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C2551F"/>
                </a:solidFill>
                <a:latin typeface="Cambria"/>
              </a:rPr>
              <a:t>80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606D"/>
                </a:solidFill>
                <a:latin typeface="Calibri"/>
              </a:rPr>
              <a:t>estimación de tiempo, 10 capítulos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Medido en 6 capítulos de 3 ejecuciones de evals (tiempo de modelo secuencial); smoke de 1 capítulo: 0,30 USD, 7 llamadas, ~6,5 min.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4023360" y="1554480"/>
          <a:ext cx="3931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138160" y="1554480"/>
          <a:ext cx="352044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DECISIONES CLAVE Y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Qué elegimos, frente a qué, y lo que costó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4414" cy="4443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4060"/>
                <a:gridCol w="2200545"/>
                <a:gridCol w="3300817"/>
                <a:gridCol w="2658992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Frente a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Coste</a:t>
                      </a:r>
                    </a:p>
                  </a:txBody>
                  <a:tcPr marL="54864" marR="54864" marT="27432" marB="27432" anchor="ctr">
                    <a:solidFill>
                      <a:srgbClr val="1F2933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Multi-agente con orquestador determinista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un agente con herramientas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permisos en código, reintento por paso, trazas por 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más llamadas y más orquestación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SQLite autoritativa (y el texto en la BD)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ficheros + índice derivado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una sola verdad para validadores, lector y Lean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sin diffs de git sobre la prosa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Lector web + PDF exportado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solo PDF interactivo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pedir cambios, ver versiones, validar con MCP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dos superficies que mantener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TLA+ antes que el pipeline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modelar después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4 errores de diseño cazados cuando eran baratos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el modelo abstrae prosa y validadores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Lean core, decide +kernel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Mathlib, native_decide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sin descargas; confía en el kernel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noBilocation cuadrático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claude -p sin tools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SDK con API key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ninguna clave en el repo; rol aislado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arranque por llamada; política de privacidad del CLI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Haiku 4.5 para todos los roles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Sonnet/Opus en writer y juez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coste y latencia de 10 capítulos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calidad vigilada por juez; subida por 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Juez bloqueante (≥ 3, media ≥ 3,5)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juez consultivo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D11: la calidad también bloquea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3"/>
                          </a:solidFill>
                          <a:latin typeface="Calibri"/>
                        </a:rPr>
                        <a:t>reescrituras con presupuesto 2</a:t>
                      </a:r>
                    </a:p>
                  </a:txBody>
                  <a:tcPr marL="54864" marR="54864" marT="27432" marB="27432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B8794"/>
                </a:solidFill>
                <a:latin typeface="Calibri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B8794"/>
                </a:solidFill>
                <a:latin typeface="Calibri"/>
              </a:rPr>
              <a:t>My Story Marker · harness de novelas-regalo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LIMITACIONES Y SIGUIENTES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F2933"/>
                </a:solidFill>
                <a:latin typeface="Cambria"/>
              </a:rPr>
              <a:t>Lo que todavía no está demostrado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41605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3736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F2933"/>
                </a:solidFill>
                <a:latin typeface="Cambria"/>
              </a:rPr>
              <a:t>Limitaciones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40280"/>
            <a:ext cx="486140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Evals «before»: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b2 y b3 quedan bloqueadas por brief_coverage; falta publicar la novela de 10 capítulos del ejemplo.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Lean: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aún sin un caso real cazado en pre_publish que no viera otro validador.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Reparto sin versionar: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solo el nombre se reconstruye por versión.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Verificación ligera (V3),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registrada como riesgo aceptado U.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policy_guard trabaja por patrones;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la defensa de fondo es BibleRepository.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52606D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Regla de fronteras heredada: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21 accesos a ficheros fuera de los stores, pendientes de decisión humana.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00200"/>
            <a:ext cx="5410047" cy="4160520"/>
          </a:xfrm>
          <a:prstGeom prst="roundRect">
            <a:avLst>
              <a:gd name="adj" fmla="val 8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7327" y="173736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C2551F"/>
                </a:solidFill>
                <a:latin typeface="Cambria"/>
              </a:rPr>
              <a:t>Siguientes pasos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240280"/>
            <a:ext cx="486140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Tuning de cobertura: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cambio de prompt, ejecución «after» y comparación.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Novela de ejemplo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de 10 capítulos, publicada y exportada a PDF.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Revisión humana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de una novela completa y calibración del juez (compare.py).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Versionar el reparto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(descripción y rol por versión).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Subir un rol a Sonnet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solo si falla de forma repetida, con registro.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C2551F"/>
                </a:solidFill>
                <a:latin typeface="Calibri"/>
              </a:rPr>
              <a:t>■  </a:t>
            </a:r>
            <a:r>
              <a:rPr sz="1400" b="1" i="0">
                <a:solidFill>
                  <a:srgbClr val="1F2933"/>
                </a:solidFill>
                <a:latin typeface="Calibri"/>
              </a:rPr>
              <a:t>Vídeo de demo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del flujo completo.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51F"/>
                </a:solidFill>
                <a:latin typeface="Calibri"/>
              </a:rPr>
              <a:t>LA DECISIÓN DE DISEÑO MÁS IMPORTANTE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10362895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Cambria"/>
              </a:rPr>
              <a:t>Separar la verdad (story bible SQLite + validadores deterministas + Lean/TLA+) de la prosa generada, con un bucle acotado planner → writer → editor → juez que solo publica versiones que pasan todos los validadores.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2551F"/>
                </a:solidFill>
                <a:latin typeface="Calibri"/>
              </a:rPr>
              <a:t>ANEXOS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103628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CFD6"/>
                </a:solidFill>
                <a:latin typeface="Calibri"/>
              </a:rPr>
              <a:t>anexo-arquitectura.pdf  ·  anexo-tla-spec.pdf  ·  anexo-lean-invariantes.pdf  ·  anexo-evals-tabla.pdf  ·  anexo-revision-humana.pdf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893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794"/>
                </a:solidFill>
                <a:latin typeface="Calibri"/>
              </a:rPr>
              <a:t>presentacion/ · commit 78548f3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