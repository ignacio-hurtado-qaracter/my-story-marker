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Calibri"/>
              </a:rPr>
              <a:t>Coste por novela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C2551F"/>
            </a:solidFill>
          </c:spPr>
          <c:cat>
            <c:strRef>
              <c:f>Sheet1!$A$2:$A$7</c:f>
              <c:strCache>
                <c:ptCount val="6"/>
                <c:pt idx="0">
                  <c:v>10 cap. intento 2 (bloq.)</c:v>
                </c:pt>
                <c:pt idx="1">
                  <c:v>10 cap. intento 1 (bloq.)</c:v>
                </c:pt>
                <c:pt idx="2">
                  <c:v>novela-infantil (3 cap.)</c:v>
                </c:pt>
                <c:pt idx="3">
                  <c:v>b4-temporal (3 cap.)</c:v>
                </c:pt>
                <c:pt idx="4">
                  <c:v>b3-injection (3 cap.)</c:v>
                </c:pt>
                <c:pt idx="5">
                  <c:v>b2-infantil (3 cap.)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4.61</c:v>
                </c:pt>
                <c:pt idx="1">
                  <c:v>3.68</c:v>
                </c:pt>
                <c:pt idx="2">
                  <c:v>0.85</c:v>
                </c:pt>
                <c:pt idx="3">
                  <c:v>1.93</c:v>
                </c:pt>
                <c:pt idx="4">
                  <c:v>1.02</c:v>
                </c:pt>
                <c:pt idx="5">
                  <c:v>0.97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latin typeface="Calibri"/>
              </a:rPr>
              <a:t>Coste por rol, evals «after»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C2551F"/>
            </a:solidFill>
          </c:spPr>
          <c:cat>
            <c:strRef>
              <c:f>Sheet1!$A$2:$A$6</c:f>
              <c:strCache>
                <c:ptCount val="5"/>
                <c:pt idx="0">
                  <c:v>interviewer</c:v>
                </c:pt>
                <c:pt idx="1">
                  <c:v>planner</c:v>
                </c:pt>
                <c:pt idx="2">
                  <c:v>judge</c:v>
                </c:pt>
                <c:pt idx="3">
                  <c:v>editor</c:v>
                </c:pt>
                <c:pt idx="4">
                  <c:v>writer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0.57</c:v>
                </c:pt>
                <c:pt idx="2">
                  <c:v>0.91</c:v>
                </c:pt>
                <c:pt idx="3">
                  <c:v>1.13</c:v>
                </c:pt>
                <c:pt idx="4">
                  <c:v>1.3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Un producto (novelas-regalo) y el harness que lo hace fiable y verificable.</a:t>
            </a:r>
          </a:p>
          <a:p/>
          <a:p>
            <a:r>
              <a:t>QUÉ DECIR:</a:t>
            </a:r>
          </a:p>
          <a:p>
            <a:r>
              <a:t>- Buenos días. Soy [tu nombre] y presento My Story Marker.</a:t>
            </a:r>
          </a:p>
          <a:p>
            <a:r>
              <a:t>- Es una solución técnico-comercial: un servicio que escribe novelas personalizadas para regalar, y el harness de agentes que las genera.</a:t>
            </a:r>
          </a:p>
          <a:p>
            <a:r>
              <a:t>- La idea que quiero que os llevéis: aquí lo difícil no es escribir 10 capítulos, es poder demostrar que lo que se publica es coherente y está personalizado.</a:t>
            </a:r>
          </a:p>
          <a:p>
            <a:r>
              <a:t>- Os lo cuento en cuatro partes: el problema, cómo funciona, cómo sabemos que funciona y qué cuesta.</a:t>
            </a:r>
          </a:p>
          <a:p/>
          <a:p>
            <a:r>
              <a:t>CIFRAS: 10 capítulos · 6 roles en Haiku 4.5 · Lean 4 + TLA+</a:t>
            </a:r>
          </a:p>
          <a:p/>
          <a:p>
            <a:r>
              <a:t>TRANSICIÓN: Empiezo por el problema del cliente.</a:t>
            </a:r>
          </a:p>
          <a:p>
            <a:r>
              <a:t>(≈ 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El cliente quiere dos cosas a la vez: que el destinatario se reconozca y que la historia se lea bien.</a:t>
            </a:r>
          </a:p>
          <a:p/>
          <a:p>
            <a:r>
              <a:t>QUÉ DECIR:</a:t>
            </a:r>
          </a:p>
          <a:p>
            <a:r>
              <a:t>- Clientes: padres, parejas, bodas, jubilaciones. Y un regalo tiene fecha.</a:t>
            </a:r>
          </a:p>
          <a:p>
            <a:r>
              <a:t>- Si se lo pides a un LLM sin más, falla de formas muy concretas: cambia nombres, olvida recuerdos, contradice fechas, y la mascota que murió vuelve a aparecer.</a:t>
            </a:r>
          </a:p>
          <a:p>
            <a:r>
              <a:t>- Además el cliente tiene vetos: el nombre de una expareja, un tema que no quiere. Eso no puede aparecer nunca.</a:t>
            </a:r>
          </a:p>
          <a:p>
            <a:r>
              <a:t>- La propuesta: una entrevista que produce un brief validado, una novela de 10 capítulos, lectura web y PDF con portada, índice y fichas, y cambios puntuales.</a:t>
            </a:r>
          </a:p>
          <a:p>
            <a:r>
              <a:t>- La decisión D11 es el criterio de todo el sistema: personalización y calidad narrativa pesan igual. Meter los datos a martillazos no cuenta como éxito.</a:t>
            </a:r>
          </a:p>
          <a:p/>
          <a:p>
            <a:r>
              <a:t>TRANSICIÓN: Veamos cómo se ve el producto.</a:t>
            </a:r>
          </a:p>
          <a:p>
            <a:r>
              <a:t>(≈ 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El cliente recibe una novela con portada, índice y fichas, y puede pedir un cambio que solo toca lo necesario.</a:t>
            </a:r>
          </a:p>
          <a:p/>
          <a:p>
            <a:r>
              <a:t>QUÉ DECIR:</a:t>
            </a:r>
          </a:p>
          <a:p>
            <a:r>
              <a:t>- Estas capturas las tomó el propio sistema: el validador visual abre el lector con Playwright antes de publicar.</a:t>
            </a:r>
          </a:p>
          <a:p>
            <a:r>
              <a:t>- Portada con dedicatoria personalizada, índice navegable, y fichas de personajes y lugares generadas desde la base de datos, con enlaces al capítulo donde aparece cada uno.</a:t>
            </a:r>
          </a:p>
          <a:p>
            <a:r>
              <a:t>- Lo interesante es el cambio: el lector dice «el perro se llama Nala». Ese nombre es un único hecho en la base de datos y sabemos en qué capítulos se usa.</a:t>
            </a:r>
          </a:p>
          <a:p>
            <a:r>
              <a:t>- Solo esos capítulos se regeneran, en una versión nueva. La anterior se conserva y el índice marca qué ha cambiado; el PDF lleva una página de novedades.</a:t>
            </a:r>
          </a:p>
          <a:p>
            <a:r>
              <a:t>- Lo probamos de verdad: cero apariciones del nombre antiguo, dieciséis del nuevo, y la versión 1 intacta.</a:t>
            </a:r>
          </a:p>
          <a:p/>
          <a:p>
            <a:r>
              <a:t>CIFRAS: v1 conservada · 0 nombres antiguos / 16 nuevos</a:t>
            </a:r>
          </a:p>
          <a:p/>
          <a:p>
            <a:r>
              <a:t>TRANSICIÓN: ¿Qué hay detrás? La arquitectura.</a:t>
            </a:r>
          </a:p>
          <a:p>
            <a:r>
              <a:t>(≈ 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Seis roles con un solo trabajo cada uno; el código decide, los modelos solo redactan.</a:t>
            </a:r>
          </a:p>
          <a:p/>
          <a:p>
            <a:r>
              <a:t>QUÉ DECIR:</a:t>
            </a:r>
          </a:p>
          <a:p>
            <a:r>
              <a:t>- El entrevistador produce el brief; el planner, el plan con reparto y cronología; el writer escribe tres escenas por capítulo; el editor las une y pule; el juez puntúa con una rúbrica.</a:t>
            </a:r>
          </a:p>
          <a:p>
            <a:r>
              <a:t>- Debajo, los cuatro puntos de validación: al entregar el brief, en cada escena, al cerrar cada capítulo y antes de publicar.</a:t>
            </a:r>
          </a:p>
          <a:p>
            <a:r>
              <a:t>- Todo bucle está acotado: como mucho 2 reescrituras por escena, 2 por capítulo y 2 rondas de reparación de la novela.</a:t>
            </a:r>
          </a:p>
          <a:p>
            <a:r>
              <a:t>- La decisión clave: ningún modelo tiene herramientas. El orquestador, en Python, elige qué ve cada rol, valida su salida con JSON Schema y escribe él en la base de datos: los permisos se aplican en código, no se piden en un prompt.</a:t>
            </a:r>
          </a:p>
          <a:p/>
          <a:p>
            <a:r>
              <a:t>CIFRAS: reintentos 2/2 · 2 rondas de reparación</a:t>
            </a:r>
          </a:p>
          <a:p/>
          <a:p>
            <a:r>
              <a:t>TRANSICIÓN: Todo eso gira en torno a una memoria: la story bible.</a:t>
            </a:r>
          </a:p>
          <a:p>
            <a:r>
              <a:t>(≈ 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Una sola fuente de verdad en SQLite que usan validadores, lector y Lean.</a:t>
            </a:r>
          </a:p>
          <a:p/>
          <a:p>
            <a:r>
              <a:t>QUÉ DECIR:</a:t>
            </a:r>
          </a:p>
          <a:p>
            <a:r>
              <a:t>- La story bible es una SQLite autoritativa: si algo no está ahí, no es verdad para el sistema.</a:t>
            </a:r>
          </a:p>
          <a:p>
            <a:r>
              <a:t>- Cada hecho del brief es una fila, y fact_usage registra en qué capítulo y escena se usa. Eso es lo que permite regenerar solo los capítulos afectados.</a:t>
            </a:r>
          </a:p>
          <a:p>
            <a:r>
              <a:t>- La cronología guarda eventos con fecha, lugar y participantes, y es exactamente lo que se exporta a Lean.</a:t>
            </a:r>
          </a:p>
          <a:p>
            <a:r>
              <a:t>- Texto del capítulo y checkpoint se guardan en la misma transacción: si se cae, se reanuda en el primer capítulo incompleto sin duplicar ni perder nada.</a:t>
            </a:r>
          </a:p>
          <a:p/>
          <a:p>
            <a:r>
              <a:t>CIFRAS: 16 tablas</a:t>
            </a:r>
          </a:p>
          <a:p/>
          <a:p>
            <a:r>
              <a:t>TRANSICIÓN: Sobre esa memoria actúan los validadores.</a:t>
            </a:r>
          </a:p>
          <a:p>
            <a:r>
              <a:t>(≈ 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Cuatro tipos de validador, cada uno en el punto donde arreglar el fallo es más barato.</a:t>
            </a:r>
          </a:p>
          <a:p/>
          <a:p>
            <a:r>
              <a:t>QUÉ DECIR:</a:t>
            </a:r>
          </a:p>
          <a:p>
            <a:r>
              <a:t>- Programáticos: schema, longitud, nombres exactos, cobertura de los datos del brief. El último que añadimos es calendar_consistency: comprueba que un día de la semana junto a una fecha es el correcto. Luego os cuento por qué.</a:t>
            </a:r>
          </a:p>
          <a:p>
            <a:r>
              <a:t>- También hay un linter de prosa, prose_repetition, que detecta repeticiones y clichés de IA; es el opcional X02 y es blando para no provocar bucles.</a:t>
            </a:r>
          </a:p>
          <a:p>
            <a:r>
              <a:t>- Semánticos: el juez por capítulo y por novela, con una rúbrica de continuidad, tono, calidad narrativa, personalización natural y final. Aprueba con cada criterio ≥ 3 y media ≥ 3,5.</a:t>
            </a:r>
          </a:p>
          <a:p>
            <a:r>
              <a:t>- Formales: Lean sobre la cronología de cada novela, y TLA+ sobre el propio harness.</a:t>
            </a:r>
          </a:p>
          <a:p>
            <a:r>
              <a:t>- La regla: si un fallo agota su presupuesto, la versión se bloquea. Nunca se publica algo que no pasó.</a:t>
            </a:r>
          </a:p>
          <a:p/>
          <a:p>
            <a:r>
              <a:t>CIFRAS: 4 tipos · 4 puntos de ejecución · juez: ≥ 3 y media ≥ 3,5</a:t>
            </a:r>
          </a:p>
          <a:p/>
          <a:p>
            <a:r>
              <a:t>TRANSICIÓN: Un tipo especial de validador son los guardrails.</a:t>
            </a:r>
          </a:p>
          <a:p>
            <a:r>
              <a:t>(≈ 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Los vetos del cliente y la inyección se paran en código, antes y después del modelo.</a:t>
            </a:r>
          </a:p>
          <a:p/>
          <a:p>
            <a:r>
              <a:t>QUÉ DECIR:</a:t>
            </a:r>
          </a:p>
          <a:p>
            <a:r>
              <a:t>- Palabras prohibidas en tres niveles: globales, las del cliente para su novela, y variantes léxicas.</a:t>
            </a:r>
          </a:p>
          <a:p>
            <a:r>
              <a:t>- Un único normalizador quita tildes, mayúsculas, plurales y leetspeak antes de comparar.</a:t>
            </a:r>
          </a:p>
          <a:p>
            <a:r>
              <a:t>- Si aparece un veto, el capítulo vuelve al escritor con un límite de intentos; si se agota, la generación se para y queda registrado.</a:t>
            </a:r>
          </a:p>
          <a:p>
            <a:r>
              <a:t>- El texto libre del cliente se trata como no confiable: un prescan determinista antes del modelo, el extractor solo devuelve hechos, y ningún rol ve el texto crudo.</a:t>
            </a:r>
          </a:p>
          <a:p>
            <a:r>
              <a:t>- Y los hooks de Claude Code usan el mismo código: si yo, o un agente, intento escribir una clave o borrar la base de datos, se bloquea.</a:t>
            </a:r>
          </a:p>
          <a:p/>
          <a:p>
            <a:r>
              <a:t>CIFRAS: 3 niveles de vetos · 14 casos de hooks probados</a:t>
            </a:r>
          </a:p>
          <a:p/>
          <a:p>
            <a:r>
              <a:t>TRANSICIÓN: Para la coherencia temporal usamos verificación formal: Lean.</a:t>
            </a:r>
          </a:p>
          <a:p>
            <a:r>
              <a:t>(≈ 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Lean prueba la coherencia temporal de la cronología; en el caso real cazó lo que el juez de capítulo aprobó.</a:t>
            </a:r>
          </a:p>
          <a:p/>
          <a:p>
            <a:r>
              <a:t>QUÉ DECIR:</a:t>
            </a:r>
          </a:p>
          <a:p>
            <a:r>
              <a:t>- De la story bible se genera un fichero Lean y se demuestran cuatro invariantes: orden temporal, edades, nadie en dos sitios, nadie reaparece tras morir o irse.</a:t>
            </a:r>
          </a:p>
          <a:p>
            <a:r>
              <a:t>- Corre antes de publicar; si falla, la versión no se publica y el fallo vuelve al editor. Y el mismo diagnóstico se aplica al plan, antes de escribir una línea.</a:t>
            </a:r>
          </a:p>
          <a:p>
            <a:r>
              <a:t>- El enunciado pide un caso real. Lo forzamos con el brief de trampas temporales, quitando el prechequeo: la mascota muere en 2005 y lleva los anillos en la boda de 2008.</a:t>
            </a:r>
          </a:p>
          <a:p>
            <a:r>
              <a:t>- Lean lo vio, con evento, fecha y capítulo. El juez de novela también. Pero el juez de capítulo aprobó el capítulo que cuenta la muerte y la boda, y los validadores programáticos no miran fechas.</a:t>
            </a:r>
          </a:p>
          <a:p>
            <a:r>
              <a:t>- Lo digo con honestidad: no es algo que solo viera Lean. Su valor es que es determinista, localiza el evento y actúa antes de gastar la escritura.</a:t>
            </a:r>
          </a:p>
          <a:p/>
          <a:p>
            <a:r>
              <a:t>CIFRAS: 2 validadores lo vieron · ~0,12 USD en el plan frente a ~1,3 USD de novela</a:t>
            </a:r>
          </a:p>
          <a:p/>
          <a:p>
            <a:r>
              <a:t>TRANSICIÓN: Lean verifica la historia; TLA+ verifica el harness.</a:t>
            </a:r>
          </a:p>
          <a:p>
            <a:r>
              <a:t>(≈ 60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El harness es una máquina de estados y TLC comprueba que nunca publica nada sin validar y que siempre termina.</a:t>
            </a:r>
          </a:p>
          <a:p/>
          <a:p>
            <a:r>
              <a:t>QUÉ DECIR:</a:t>
            </a:r>
          </a:p>
          <a:p>
            <a:r>
              <a:t>- Modelamos el flujo completo como máquina de estados: configuración, plan, escenas, editor, cierre de capítulo, checkpoint, pre-publicación y publicación; con reintentos, crash y reanudación, y cambio del lector.</a:t>
            </a:r>
          </a:p>
          <a:p>
            <a:r>
              <a:t>- Cuatro invariantes de seguridad: nunca se publica sin validar, reanudar no duplica ni pierde capítulos, la versión anterior se conserva, y los reintentos están acotados incluso tras un crash.</a:t>
            </a:r>
          </a:p>
          <a:p>
            <a:r>
              <a:t>- Y liveness: toda generación acaba publicando o en error, nunca en un bucle.</a:t>
            </a:r>
          </a:p>
          <a:p>
            <a:r>
              <a:t>- TLC explora el modelo pequeño que pide el enunciado, 5 capítulos con 2 reintentos: 5.492.531 estados distintos, sin errores.</a:t>
            </a:r>
          </a:p>
          <a:p>
            <a:r>
              <a:t>- Al subir las rondas de reparación de 1 a 2, lo primero fue volver a pasar TLC.</a:t>
            </a:r>
          </a:p>
          <a:p/>
          <a:p>
            <a:r>
              <a:t>CIFRAS: 5.492.531 estados distintos · 10.031.846 generados · profundidad 127 · 08min 17s</a:t>
            </a:r>
          </a:p>
          <a:p/>
          <a:p>
            <a:r>
              <a:t>TRANSICIÓN: Lo más valioso de TLA+ no fue este verde, fueron los rojos de antes.</a:t>
            </a:r>
          </a:p>
          <a:p>
            <a:r>
              <a:t>(≈ 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TLC encontró cuatro errores de diseño cuando aún eran baratos: antes de escribir el pipeline.</a:t>
            </a:r>
          </a:p>
          <a:p/>
          <a:p>
            <a:r>
              <a:t>QUÉ DECIR:</a:t>
            </a:r>
          </a:p>
          <a:p>
            <a:r>
              <a:t>- Escribimos el modelo en paralelo al diseño, leyendo el esquema tal cual. TLC encontró cuatro trazas mínimas que lo rompían.</a:t>
            </a:r>
          </a:p>
          <a:p>
            <a:r>
              <a:t>- CE1: si el proceso cae entre guardar el capítulo y guardar el checkpoint, al reanudar se escribe dos veces. Solución: las dos cosas en una transacción.</a:t>
            </a:r>
          </a:p>
          <a:p>
            <a:r>
              <a:t>- CE2 y CE4: los contadores de reintentos y de rondas de reparación vivían en memoria; un crash los ponía a cero y el coste dejaba de estar acotado. Solución: se leen de la base de datos.</a:t>
            </a:r>
          </a:p>
          <a:p>
            <a:r>
              <a:t>- CE3: la reparación insertaba una segunda fila del mismo capítulo. Solución: upsert por versión y capítulo, y una versión publicada no se toca. El pipeline nació ya con esas cuatro reglas.</a:t>
            </a:r>
          </a:p>
          <a:p/>
          <a:p>
            <a:r>
              <a:t>CIFRAS: 4 contraejemplos · trazas de 18 a 50 estados</a:t>
            </a:r>
          </a:p>
          <a:p/>
          <a:p>
            <a:r>
              <a:t>TRANSICIÓN: Todo esto se puede ver en ejecución gracias a la observabilidad.</a:t>
            </a:r>
          </a:p>
          <a:p>
            <a:r>
              <a:t>(≈ 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Cada novela es una sesión con coste, validadores y versión de prompt por llamada.</a:t>
            </a:r>
          </a:p>
          <a:p/>
          <a:p>
            <a:r>
              <a:t>QUÉ DECIR:</a:t>
            </a:r>
          </a:p>
          <a:p>
            <a:r>
              <a:t>- Una sesión por novela, que incluye la entrevista y las regeneraciones; una traza por generación o cambio.</a:t>
            </a:r>
          </a:p>
          <a:p>
            <a:r>
              <a:t>- Spans con nombre por fase, capítulo, rol y tool; tokens, coste y latencia por llamada, por capítulo y por novela.</a:t>
            </a:r>
          </a:p>
          <a:p>
            <a:r>
              <a:t>- Todos los validadores, incluidos Lean y el juez, llegan como scores.</a:t>
            </a:r>
          </a:p>
          <a:p>
            <a:r>
              <a:t>- Y los prompts están versionados en Langfuse: la tabla de la derecha sale de las evals y dice qué versión produjo cada resultado. Es lo que hace creíble el antes/después del tuning.</a:t>
            </a:r>
          </a:p>
          <a:p/>
          <a:p>
            <a:r>
              <a:t>TRANSICIÓN: Y eso nos lleva a las evals.</a:t>
            </a:r>
          </a:p>
          <a:p>
            <a:r>
              <a:t>(≈ 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Una iteración de tuning medida: de 0 a 2 novelas publicadas sin bajar ningún umbral.</a:t>
            </a:r>
          </a:p>
          <a:p/>
          <a:p>
            <a:r>
              <a:t>QUÉ DECIR:</a:t>
            </a:r>
          </a:p>
          <a:p>
            <a:r>
              <a:t>- Cinco briefs: ejemplo, infantil, inyección, trampas temporales y contradictorio.</a:t>
            </a:r>
          </a:p>
          <a:p>
            <a:r>
              <a:t>- Antes del tuning se publicaban 0 de 3. El problema no eran las novelas: brief_coverage exigía la frase literal del recuerdo aunque el capítulo lo contara, y el espejo Python de noAfterExit daba un falso positivo.</a:t>
            </a:r>
          </a:p>
          <a:p>
            <a:r>
              <a:t>- Arreglamos los validadores, añadimos marcas temporales al plan, hicimos que el juez solo bloquee por defectos graves y concretos, y que la reparación toque solo los capítulos que el juez pide.</a:t>
            </a:r>
          </a:p>
          <a:p>
            <a:r>
              <a:t>- Después: 2 de 3 publicadas. Los umbrales de calidad no se bajaron.</a:t>
            </a:r>
          </a:p>
          <a:p>
            <a:r>
              <a:t>- El brief de trampas temporales sigue bloqueado, y es lo correcto: su trampa de edad no tiene ninguna lectura coherente. El contradictorio se rechaza antes de generar.</a:t>
            </a:r>
          </a:p>
          <a:p/>
          <a:p>
            <a:r>
              <a:t>CIFRAS: 0/3 → 2/3 publicadas · coste medio publicada ≈ 0,99 USD</a:t>
            </a:r>
          </a:p>
          <a:p/>
          <a:p>
            <a:r>
              <a:t>TRANSICIÓN: Antes de los resultados finales, un punto de seguridad.</a:t>
            </a:r>
          </a:p>
          <a:p>
            <a:r>
              <a:t>(≈ 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Revisión de seguridad hecha por un agente: 15 hallazgos, ninguno crítico ni alto, y los medios corregidos con test.</a:t>
            </a:r>
          </a:p>
          <a:p/>
          <a:p>
            <a:r>
              <a:t>QUÉ DECIR:</a:t>
            </a:r>
          </a:p>
          <a:p>
            <a:r>
              <a:t>- Además del red-team, hicimos el opcional X04: un agente revisó el sistema. 15 hallazgos, 0 críticos o altos; los 5 medios están corregidos, cada uno con un test que falla sin el cambio.</a:t>
            </a:r>
          </a:p>
          <a:p>
            <a:r>
              <a:t>- Ejemplo: el prescan de inyección solo detectaba 10 de 17 variantes; ahora 17 de 17.</a:t>
            </a:r>
          </a:p>
          <a:p>
            <a:r>
              <a:t>- El hallazgo más serio era que no había autenticación. Lo cerró el login, X03: bcrypt, JWT, y un usuario no puede ver las novelas de otro.</a:t>
            </a:r>
          </a:p>
          <a:p>
            <a:r>
              <a:t>- X01 es un servidor MCP de solo lectura para consultar y descargar novelas, que respeta la identidad. X02 es el linter de prosa.</a:t>
            </a:r>
          </a:p>
          <a:p/>
          <a:p>
            <a:r>
              <a:t>CIFRAS: 15 hallazgos · 0 críticos/altos · 6 corregidos · inyección 17/17</a:t>
            </a:r>
          </a:p>
          <a:p/>
          <a:p>
            <a:r>
              <a:t>TRANSICIÓN: Ahora, los resultados con novelas de verdad de 10 capítulos.</a:t>
            </a:r>
          </a:p>
          <a:p>
            <a:r>
              <a:t>(≈ 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Las dos primeras novelas completas se bloquearon, y eso es el sistema funcionando: nada sin validar llega al cliente.</a:t>
            </a:r>
          </a:p>
          <a:p/>
          <a:p>
            <a:r>
              <a:t>QUÉ DECIR:</a:t>
            </a:r>
          </a:p>
          <a:p>
            <a:r>
              <a:t>- Esta es para mí la diapositiva más importante.</a:t>
            </a:r>
          </a:p>
          <a:p>
            <a:r>
              <a:t>- Primer intento: diez capítulos escritos y el juez de novela la suspendió por saltos temporales y dos capítulos solapados. Coste 3,68 USD. No se publicó. Eso motivó el tuning 1.</a:t>
            </a:r>
          </a:p>
          <a:p>
            <a:r>
              <a:t>- Segundo intento, tras el tuning 1: tras 2 rondas de reparación, bloqueada otra vez: el 24 de junio aparecía como lunes cuando es miércoles, y en cada ronda los días de la semana cambiaban. Coste 4,61 USD. Tampoco se publicó.</a:t>
            </a:r>
          </a:p>
          <a:p>
            <a:r>
              <a:t>- La causa: nadie calculaba el calendario. El modelo inventaba el día de la semana, y cada reparación inventaba otro, así que no convergía. El error ya estaba en el plan.</a:t>
            </a:r>
          </a:p>
          <a:p>
            <a:r>
              <a:t>- Tuning 2: el calendario lo calcula Python, no el LLM. El plan se corrige, el writer recibe las fechas reales, y un validador determinista para el error en el capítulo, sin gastar una ronda del juez.</a:t>
            </a:r>
          </a:p>
          <a:p>
            <a:r>
              <a:t>- El intento final, con el tuning 2, se estaba generando al preparar esta presentación; si os preguntan, está en runs.json y en el log.</a:t>
            </a:r>
          </a:p>
          <a:p/>
          <a:p>
            <a:r>
              <a:t>CIFRAS: intentos bloqueados: 3,68 USD y 4,61 USD · total gastado sin publicar: 8,29 USD</a:t>
            </a:r>
          </a:p>
          <a:p/>
          <a:p>
            <a:r>
              <a:t>TRANSICIÓN: Veamos la novela que sí se entrega.</a:t>
            </a:r>
          </a:p>
          <a:p>
            <a:r>
              <a:t>(≈ 70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El sistema funciona de principio a fin: brief → novela publicada → PDF.</a:t>
            </a:r>
          </a:p>
          <a:p/>
          <a:p>
            <a:r>
              <a:t>QUÉ DECIR:</a:t>
            </a:r>
          </a:p>
          <a:p>
            <a:r>
              <a:t>- Esta es la novela que tenemos publicada de principio a fin con el pipeline real: 3 capítulos, 3.409 palabras, para una niña de siete años.</a:t>
            </a:r>
          </a:p>
          <a:p>
            <a:r>
              <a:t>- Costó 0,85 USD y 21 min; necesitó 1 ronda de reparación y después pasó todo.</a:t>
            </a:r>
          </a:p>
          <a:p>
            <a:r>
              <a:t>- Portada con dedicatoria, índice y fichas, exportada a PDF.</a:t>
            </a:r>
          </a:p>
          <a:p>
            <a:r>
              <a:t>- La novela de 10 capítulos con el brief de ejemplo es la que se estaba generando con el tuning 2; si está, este hueco la muestra al reconstruir.</a:t>
            </a:r>
          </a:p>
          <a:p/>
          <a:p>
            <a:r>
              <a:t>CIFRAS: 3 capítulos · 3.409 palabras · 0,85 USD · 21 min</a:t>
            </a:r>
          </a:p>
          <a:p/>
          <a:p>
            <a:r>
              <a:t>TRANSICIÓN: ¿Y cuánto cuesta esto como negocio?</a:t>
            </a:r>
          </a:p>
          <a:p>
            <a:r>
              <a:t>(≈ 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Una novela de 10 capítulos cuesta unos pocos dólares de modelo y se genera en menos de dos horas.</a:t>
            </a:r>
          </a:p>
          <a:p/>
          <a:p>
            <a:r>
              <a:t>QUÉ DECIR:</a:t>
            </a:r>
          </a:p>
          <a:p>
            <a:r>
              <a:t>- Un capítulo cuesta de media 0,35 USD y unos 8 min de modelo, contando escenas, editor, juez y reparaciones.</a:t>
            </a:r>
          </a:p>
          <a:p>
            <a:r>
              <a:t>- Las novelas de 10 capítulos completas costaron entre 3,68 USD y 4,61 USD, y eso incluye las rondas de reparación.</a:t>
            </a:r>
          </a:p>
          <a:p>
            <a:r>
              <a:t>- El writer es el rol más caro, seguido del editor y el juez: tiene sentido, son los que producen y leen más texto.</a:t>
            </a:r>
          </a:p>
          <a:p>
            <a:r>
              <a:t>- Comercialmente, el coste de modelo es pequeño frente al precio de un regalo personalizado; lo que cuesta de verdad es el tiempo, y por eso los bucles están acotados: una novela nunca se queda gastando indefinidamente.</a:t>
            </a:r>
          </a:p>
          <a:p/>
          <a:p>
            <a:r>
              <a:t>CIFRAS: 0,35 USD/capítulo · 8 min/capítulo · 3,68 USD · 4,61 USD</a:t>
            </a:r>
          </a:p>
          <a:p/>
          <a:p>
            <a:r>
              <a:t>TRANSICIÓN: Cómo se construyó todo esto: Claude Code.</a:t>
            </a:r>
          </a:p>
          <a:p>
            <a:r>
              <a:t>(≈ 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Claude Code fue el equipo: un orquestador, subagentes en paralelo y reglas que hacían cumplir el proceso.</a:t>
            </a:r>
          </a:p>
          <a:p/>
          <a:p>
            <a:r>
              <a:t>QUÉ DECIR:</a:t>
            </a:r>
          </a:p>
          <a:p>
            <a:r>
              <a:t>- CLAUDE.md y AGENTS.md definen el proceso: primero docs, luego spec, luego plan y código, y antes de editar, una ronda de preguntas con recomendación.</a:t>
            </a:r>
          </a:p>
          <a:p>
            <a:r>
              <a:t>- Un orquestador repartió el trabajo en bloques; cada subagente trabajaba en su propio worktree, en paralelo, y los contratos entre bloques se publicaban primero.</a:t>
            </a:r>
          </a:p>
          <a:p>
            <a:r>
              <a:t>- Skills propias: gift-novel-run para generar e inspeccionar una novela, y security-review-harness para repetir la revisión de seguridad. Comandos como /generate-novel o /change-fact.</a:t>
            </a:r>
          </a:p>
          <a:p>
            <a:r>
              <a:t>- Y el browser MCP no fue decorativo: encontró un error 500 intermitente por una conexión SQLite compartida entre hilos, que corregimos.</a:t>
            </a:r>
          </a:p>
          <a:p/>
          <a:p>
            <a:r>
              <a:t>CIFRAS: 14 casos de hooks · 1 worktree por agente</a:t>
            </a:r>
          </a:p>
          <a:p/>
          <a:p>
            <a:r>
              <a:t>TRANSICIÓN: Toda esta construcción se apoya en decisiones que tomamos conscientemente.</a:t>
            </a:r>
          </a:p>
          <a:p>
            <a:r>
              <a:t>(≈ 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Cada decisión tiene alternativa, criterio y coste; la más importante es separar la verdad de la prosa.</a:t>
            </a:r>
          </a:p>
          <a:p/>
          <a:p>
            <a:r>
              <a:t>QUÉ DECIR:</a:t>
            </a:r>
          </a:p>
          <a:p>
            <a:r>
              <a:t>- Multi-agente frente a un agente con herramientas: elegimos roles orquestados por código porque los permisos se aplican en código y cada paso se valida y reintenta por separado. El precio: más llamadas.</a:t>
            </a:r>
          </a:p>
          <a:p>
            <a:r>
              <a:t>- SQLite con hechos estructurados frente a RAG vectorial: aquí necesitamos hechos exactos y saber en qué capítulo se usa cada uno, no fragmentos parecidos.</a:t>
            </a:r>
          </a:p>
          <a:p>
            <a:r>
              <a:t>- Calendario en Python en vez de confiar en el juez: lo aprendimos por las malas con la segunda novela bloqueada.</a:t>
            </a:r>
          </a:p>
          <a:p>
            <a:r>
              <a:t>- Y el juez es bloqueante: por D11, la calidad narrativa también puede impedir la publicación.</a:t>
            </a:r>
          </a:p>
          <a:p/>
          <a:p>
            <a:r>
              <a:t>TRANSICIÓN: Ninguna de estas decisiones es gratis; estas son las limitaciones.</a:t>
            </a:r>
          </a:p>
          <a:p>
            <a:r>
              <a:t>(≈ 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Sabemos exactamente qué no está demostrado todavía, y está escrito.</a:t>
            </a:r>
          </a:p>
          <a:p/>
          <a:p>
            <a:r>
              <a:t>QUÉ DECIR:</a:t>
            </a:r>
          </a:p>
          <a:p>
            <a:r>
              <a:t>- Prefiero decirlo yo antes de que me lo preguntéis.</a:t>
            </a:r>
          </a:p>
          <a:p>
            <a:r>
              <a:t>- Las fichas de personajes no están versionadas en la base de datos: si cambia la descripción de un personaje, la versión antigua de la ficha no la conserva; el nombre sí.</a:t>
            </a:r>
          </a:p>
          <a:p>
            <a:r>
              <a:t>- El validador de calendario solo mira días de la semana junto a una fecha; «aquel lunes» o «treinta años» dependen del prompt.</a:t>
            </a:r>
          </a:p>
          <a:p>
            <a:r>
              <a:t>- Lean solo prueba lo que el planner mete en la cronología: si alguien emigra y el plan no crea el evento de partida, nadie lo detecta.</a:t>
            </a:r>
          </a:p>
          <a:p>
            <a:r>
              <a:t>- Y queda una decisión abierta sobre una regla heredada de accesos a ficheros.</a:t>
            </a:r>
          </a:p>
          <a:p/>
          <a:p>
            <a:r>
              <a:t>TRANSICIÓN: Para cerrar, la decisión que lo resume todo.</a:t>
            </a:r>
          </a:p>
          <a:p>
            <a:r>
              <a:t>(≈ 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MENSAJE: Separar la verdad de la prosa, y publicar solo lo que pasa todos los validadores.</a:t>
            </a:r>
          </a:p>
          <a:p/>
          <a:p>
            <a:r>
              <a:t>QUÉ DECIR:</a:t>
            </a:r>
          </a:p>
          <a:p>
            <a:r>
              <a:t>- Si tuviera que quedarme con una decisión: separar la verdad de la prosa.</a:t>
            </a:r>
          </a:p>
          <a:p>
            <a:r>
              <a:t>- Lo que es cierto sobre la historia vive en una base de datos, y lo comprueban validadores deterministas, Lean y TLA+. Los modelos solo redactan.</a:t>
            </a:r>
          </a:p>
          <a:p>
            <a:r>
              <a:t>- El bucle está acotado y solo publica lo que pasa todo. Las dos novelas bloqueadas que os he enseñado son la prueba de que eso se cumple.</a:t>
            </a:r>
          </a:p>
          <a:p>
            <a:r>
              <a:t>- En los anexos está el detalle de TLA+, Lean, evals y arquitectura. Muchas gracias; encantado de responder preguntas.</a:t>
            </a:r>
          </a:p>
          <a:p/>
          <a:p>
            <a:r>
              <a:t>TRANSICIÓN: Preguntas.</a:t>
            </a:r>
          </a:p>
          <a:p>
            <a:r>
              <a:t>(≈ 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551F"/>
                </a:solidFill>
                <a:latin typeface="Calibri"/>
              </a:rPr>
              <a:t>HARNESS ENGINEERING · ENTREGA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My Story 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4E7EB"/>
                </a:solidFill>
                <a:latin typeface="Calibri"/>
              </a:rPr>
              <a:t>Novelas personalizadas para regalar, escritas por un harness de agentes que se puede verificar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2551F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capítulos de 1.000–1.500</a:t>
            </a:r>
          </a:p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palabras, en español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886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2551F"/>
                </a:solidFill>
                <a:latin typeface="Cambri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6634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roles con Claude Haiku 4.5</a:t>
            </a:r>
          </a:p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orquestados por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862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2551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6634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tipos de validador:</a:t>
            </a:r>
          </a:p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programático, semántico,</a:t>
            </a:r>
          </a:p>
          <a:p>
            <a:pPr algn="l"/>
            <a:r>
              <a:rPr sz="1200" b="0" i="0">
                <a:solidFill>
                  <a:srgbClr val="C9CFD6"/>
                </a:solidFill>
                <a:latin typeface="Calibri"/>
              </a:rPr>
              <a:t>Lean 4 y TLA+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Repositorio storyMaker · commit 81e1518 · 2026</a:t>
            </a:r>
          </a:p>
        </p:txBody>
      </p:sp>
      <p:pic>
        <p:nvPicPr>
          <p:cNvPr id="12" name="Picture 11" descr="desktop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822960"/>
            <a:ext cx="4572000" cy="4575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PROBLEMA Y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Un regalo único que no se puede comprar hecho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49240" cy="3291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3"/>
                </a:solidFill>
                <a:latin typeface="Cambria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Escribir una novela sobre alguien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lleva meses; un regalo tiene fecha.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Un LLM sin harness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mezcla nombres, olvida recuerdos, contradice fechas y resucita a la mascota.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El cliente tiene vetos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(un nombre, un tema) que no pueden aparecer nunca.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329184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551F"/>
                </a:solidFill>
                <a:latin typeface="Cambria"/>
              </a:rPr>
              <a:t>La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Entrevista guiada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→ brief validado con schema; detecta datos que faltan y contradicciones.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Novela de 10 capítulos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en la que el destinatario se reconoce.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Lectura web y PDF: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portada con dedicatoria, índice, fichas de personajes.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Cambios puntuales: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«el perro se llama Nala» regenera solo lo necesario.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230368"/>
            <a:ext cx="1045433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C2551F"/>
                </a:solidFill>
                <a:latin typeface="Calibri"/>
              </a:rPr>
              <a:t>D11 ·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Personalización y calidad narrativa pesan igual.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Que aparezcan todos los datos no basta si la historia no funciona como historia: validadores, editor y juez comprueban las dos cosas.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LA SOLUCIÓN · DEMO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Del brief a una novela que se lee, se regala y se corrige</a:t>
            </a:r>
          </a:p>
        </p:txBody>
      </p:sp>
      <p:pic>
        <p:nvPicPr>
          <p:cNvPr id="6" name="Picture 5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2148840" cy="1938992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7" name="Oval 6"/>
          <p:cNvSpPr/>
          <p:nvPr/>
        </p:nvSpPr>
        <p:spPr>
          <a:xfrm>
            <a:off x="548640" y="3919275"/>
            <a:ext cx="310896" cy="310896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937563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Portada con dedicatoria</a:t>
            </a:r>
          </a:p>
        </p:txBody>
      </p:sp>
      <p:pic>
        <p:nvPicPr>
          <p:cNvPr id="9" name="Picture 8" descr="02-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645920"/>
            <a:ext cx="2148840" cy="1443751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10" name="Oval 9"/>
          <p:cNvSpPr/>
          <p:nvPr/>
        </p:nvSpPr>
        <p:spPr>
          <a:xfrm>
            <a:off x="2834640" y="3919275"/>
            <a:ext cx="310896" cy="310896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3937563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Índice con marcas de versión</a:t>
            </a:r>
          </a:p>
        </p:txBody>
      </p:sp>
      <p:pic>
        <p:nvPicPr>
          <p:cNvPr id="12" name="Picture 11" descr="04-she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2148840" cy="2044755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13" name="Oval 12"/>
          <p:cNvSpPr/>
          <p:nvPr/>
        </p:nvSpPr>
        <p:spPr>
          <a:xfrm>
            <a:off x="5120640" y="3919275"/>
            <a:ext cx="310896" cy="310896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3937563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Fichas desde la story bible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50795"/>
            <a:ext cx="6720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Lector web en React y PDF exportado con la misma portada, índice navegable y fichas con enlaces «Aparece en» a cada capítulo.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600200"/>
            <a:ext cx="4007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El lector pide un cambio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2130551"/>
            <a:ext cx="329184" cy="329184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03120"/>
            <a:ext cx="3550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«El perro se llama Nala»</a:t>
            </a:r>
          </a:p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desde la página, la CLI o la API.</a:t>
            </a:r>
          </a:p>
        </p:txBody>
      </p:sp>
      <p:sp>
        <p:nvSpPr>
          <p:cNvPr id="19" name="Oval 18"/>
          <p:cNvSpPr/>
          <p:nvPr/>
        </p:nvSpPr>
        <p:spPr>
          <a:xfrm>
            <a:off x="7635240" y="2679191"/>
            <a:ext cx="329184" cy="329184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51760"/>
            <a:ext cx="3550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Un único hecho en la BD</a:t>
            </a:r>
          </a:p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fact_usage dice qué capítulos lo usan.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3227832"/>
            <a:ext cx="329184" cy="329184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200400"/>
            <a:ext cx="3550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Solo esos se regeneran</a:t>
            </a:r>
          </a:p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a una versión v+1, en una transacción.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3776472"/>
            <a:ext cx="329184" cy="329184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749039"/>
            <a:ext cx="3550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La v1 se conserva</a:t>
            </a:r>
          </a:p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el índice marca «modificado».</a:t>
            </a:r>
          </a:p>
        </p:txBody>
      </p:sp>
      <p:sp>
        <p:nvSpPr>
          <p:cNvPr id="25" name="Oval 24"/>
          <p:cNvSpPr/>
          <p:nvPr/>
        </p:nvSpPr>
        <p:spPr>
          <a:xfrm>
            <a:off x="7635240" y="4325112"/>
            <a:ext cx="329184" cy="329184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297679"/>
            <a:ext cx="3550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PDF con «novedades»</a:t>
            </a:r>
          </a:p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enlaces a los capítulos cambiados.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4937760"/>
            <a:ext cx="4007815" cy="123444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19" y="5010912"/>
            <a:ext cx="364205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Ejecución real (ab4731f):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novela de 2 capítulos → versión 2 publicada; 0 apariciones del nombre antiguo, 16 del nuevo; versión 1 intacta.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FUNCIONA ·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Roles con un solo trabajo, orquestados por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interviewer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brief + hechos
del texto libre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2350008"/>
            <a:ext cx="356616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78024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planner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plan, reparto
y cronología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0791" y="2350008"/>
            <a:ext cx="356616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07407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writer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3 escenas
por capítulo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0175" y="2350008"/>
            <a:ext cx="356616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36792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editor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une, pule,
reescribe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350008"/>
            <a:ext cx="356616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66175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3"/>
                </a:solidFill>
                <a:latin typeface="Calibri"/>
              </a:rPr>
              <a:t>judge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rúbrica de
5 criterios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38944" y="2350008"/>
            <a:ext cx="356616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59" y="1874519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270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publicación</a:t>
            </a:r>
          </a:p>
          <a:p>
            <a:pPr algn="ctr"/>
            <a:r>
              <a:rPr sz="1100">
                <a:solidFill>
                  <a:srgbClr val="C9CFD6"/>
                </a:solidFill>
                <a:latin typeface="Calibri"/>
              </a:rPr>
              <a:t>versión v
(lector + PDF)</a:t>
            </a:r>
          </a:p>
        </p:txBody>
      </p:sp>
      <p:sp>
        <p:nvSpPr>
          <p:cNvPr id="17" name="Hexagon 16"/>
          <p:cNvSpPr/>
          <p:nvPr/>
        </p:nvSpPr>
        <p:spPr>
          <a:xfrm>
            <a:off x="548640" y="3154680"/>
            <a:ext cx="1572768" cy="713232"/>
          </a:xfrm>
          <a:prstGeom prst="hexagon">
            <a:avLst/>
          </a:prstGeom>
          <a:solidFill>
            <a:srgbClr val="FFFFFF"/>
          </a:solidFill>
          <a:ln w="1270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Calibri"/>
              </a:rPr>
              <a:t>brief_schema</a:t>
            </a:r>
          </a:p>
          <a:p>
            <a:pPr algn="ctr"/>
            <a:r>
              <a:rPr sz="1000">
                <a:solidFill>
                  <a:srgbClr val="52606D"/>
                </a:solidFill>
                <a:latin typeface="Calibri"/>
              </a:rPr>
              <a:t>hook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35024" y="2834639"/>
            <a:ext cx="0" cy="320041"/>
          </a:xfrm>
          <a:prstGeom prst="line">
            <a:avLst/>
          </a:prstGeom>
          <a:ln w="12700">
            <a:solidFill>
              <a:srgbClr val="7B8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Hexagon 18"/>
          <p:cNvSpPr/>
          <p:nvPr/>
        </p:nvSpPr>
        <p:spPr>
          <a:xfrm>
            <a:off x="4407407" y="3154680"/>
            <a:ext cx="1572768" cy="713232"/>
          </a:xfrm>
          <a:prstGeom prst="hexagon">
            <a:avLst/>
          </a:prstGeom>
          <a:solidFill>
            <a:srgbClr val="FFFFFF"/>
          </a:solidFill>
          <a:ln w="1270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Calibri"/>
              </a:rPr>
              <a:t>scene_accept</a:t>
            </a:r>
          </a:p>
          <a:p>
            <a:pPr algn="ctr"/>
            <a:r>
              <a:rPr sz="1000">
                <a:solidFill>
                  <a:srgbClr val="52606D"/>
                </a:solidFill>
                <a:latin typeface="Calibri"/>
              </a:rPr>
              <a:t>≤ 2 reescrituras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93792" y="2834639"/>
            <a:ext cx="0" cy="320041"/>
          </a:xfrm>
          <a:prstGeom prst="line">
            <a:avLst/>
          </a:prstGeom>
          <a:ln w="12700">
            <a:solidFill>
              <a:srgbClr val="7B8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exagon 20"/>
          <p:cNvSpPr/>
          <p:nvPr/>
        </p:nvSpPr>
        <p:spPr>
          <a:xfrm>
            <a:off x="8037575" y="3154680"/>
            <a:ext cx="2029967" cy="713232"/>
          </a:xfrm>
          <a:prstGeom prst="hexagon">
            <a:avLst/>
          </a:prstGeom>
          <a:solidFill>
            <a:srgbClr val="FFFFFF"/>
          </a:solidFill>
          <a:ln w="1270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Calibri"/>
              </a:rPr>
              <a:t>chapter_close</a:t>
            </a:r>
          </a:p>
          <a:p>
            <a:pPr algn="ctr"/>
            <a:r>
              <a:rPr sz="1000">
                <a:solidFill>
                  <a:srgbClr val="52606D"/>
                </a:solidFill>
                <a:latin typeface="Calibri"/>
              </a:rPr>
              <a:t>≤ 2 reescrituras · checkpoint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52559" y="2834639"/>
            <a:ext cx="0" cy="320041"/>
          </a:xfrm>
          <a:prstGeom prst="line">
            <a:avLst/>
          </a:prstGeom>
          <a:ln w="12700">
            <a:solidFill>
              <a:srgbClr val="7B8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Hexagon 22"/>
          <p:cNvSpPr/>
          <p:nvPr/>
        </p:nvSpPr>
        <p:spPr>
          <a:xfrm>
            <a:off x="10195559" y="3154680"/>
            <a:ext cx="1572768" cy="713232"/>
          </a:xfrm>
          <a:prstGeom prst="hexagon">
            <a:avLst/>
          </a:prstGeom>
          <a:solidFill>
            <a:srgbClr val="FFFFFF"/>
          </a:solidFill>
          <a:ln w="12700">
            <a:solidFill>
              <a:srgbClr val="52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Calibri"/>
              </a:rPr>
              <a:t>pre_publish</a:t>
            </a:r>
          </a:p>
          <a:p>
            <a:pPr algn="ctr"/>
            <a:r>
              <a:rPr sz="1000">
                <a:solidFill>
                  <a:srgbClr val="52606D"/>
                </a:solidFill>
                <a:latin typeface="Calibri"/>
              </a:rPr>
              <a:t>cobertura · Lean · juez · visual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81943" y="2834639"/>
            <a:ext cx="0" cy="320041"/>
          </a:xfrm>
          <a:prstGeom prst="line">
            <a:avLst/>
          </a:prstGeom>
          <a:ln w="12700">
            <a:solidFill>
              <a:srgbClr val="7B8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416052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7040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Story bible · SQLite autoritativa</a:t>
            </a:r>
          </a:p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Brief, hechos y su uso por escena, cronología, versiones, checkpoints, resultados de validadores, log de políticas y coste. Solo BibleRepository la toca.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4160520"/>
            <a:ext cx="3459175" cy="11430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30476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Langfuse</a:t>
            </a:r>
          </a:p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Sesión por novela, spans por rol y tool, coste, scores y prompts versionados.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2606D"/>
                </a:solidFill>
                <a:latin typeface="Calibri"/>
              </a:rPr>
              <a:t>Ningún modelo tiene herramientas. 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El orquestador (app/novel/pipeline.py) decide qué documentos ve cada rol, valida su salida con JSON Schema y escribe en la BD en su nombre: la tabla de permisos se aplica en código, no en un prompt. Cada fallo vuelve, con feedback y presupuesto, al rol que puede arreglarlo.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FUNCIONA ·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La story bible: una SQLite autoritativa con 16 tablas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1874519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874519"/>
            <a:ext cx="411480" cy="411480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874519"/>
            <a:ext cx="43127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mbria"/>
              </a:rPr>
              <a:t>Hechos y su 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313432"/>
            <a:ext cx="4312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2551F"/>
                </a:solidFill>
                <a:latin typeface="Courier New"/>
              </a:rPr>
              <a:t>fact · fact_usage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51760"/>
            <a:ext cx="4267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Cada hecho del brief es una fila; fact_usage lo liga a (versión, capítulo, escena). Así change_fact sabe qué capítulos regenerar.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5410047" cy="1874519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1874519"/>
            <a:ext cx="411480" cy="411480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687" y="1874519"/>
            <a:ext cx="43127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mbria"/>
              </a:rPr>
              <a:t>Cronología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313432"/>
            <a:ext cx="4312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2551F"/>
                </a:solidFill>
                <a:latin typeface="Courier New"/>
              </a:rPr>
              <a:t>chronology_event · event_participant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7" y="2651760"/>
            <a:ext cx="4267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Fechas, lugares, participantes, edades declaradas y salidas (muerte, partida). Es la entrada del modelo Lean.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10047" cy="1874519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4023359"/>
            <a:ext cx="411480" cy="411480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023359"/>
            <a:ext cx="43127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mbria"/>
              </a:rPr>
              <a:t>Versiones y checkpoints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462272"/>
            <a:ext cx="4312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2551F"/>
                </a:solidFill>
                <a:latin typeface="Courier New"/>
              </a:rPr>
              <a:t>novel_version · chapter_version ·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800600"/>
            <a:ext cx="4267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Texto + hash por capítulo y versión; texto y checkpoint en una transacción. Reanudación en el primer capítulo incompleto.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749039"/>
            <a:ext cx="5410047" cy="1874519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023359"/>
            <a:ext cx="411480" cy="411480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1687" y="4023359"/>
            <a:ext cx="43127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mbria"/>
              </a:rPr>
              <a:t>Auditoría y coste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462272"/>
            <a:ext cx="4312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2551F"/>
                </a:solidFill>
                <a:latin typeface="Courier New"/>
              </a:rPr>
              <a:t>validator_result · policy_decision · llm_call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687" y="4800600"/>
            <a:ext cx="4267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Cada validador, decisión de política y llamada con tokens, coste, latencia y versión de prompt. Nada se borra (D6).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Los roles reciben hechos estructurados a través de tools con schema (app/tools/), no fragmentos recuperados por similitud. Diagrama ER en anexo-arquitectura.pdf.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VALIDADORES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Cada fallo se detecta donde es barato repararlo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554480"/>
            <a:ext cx="2514600" cy="658368"/>
          </a:xfrm>
          <a:prstGeom prst="homePlate">
            <a:avLst/>
          </a:prstGeom>
          <a:solidFill>
            <a:srgbClr val="F3F5F7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hook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al entregar el brief</a:t>
            </a:r>
          </a:p>
        </p:txBody>
      </p:sp>
      <p:sp>
        <p:nvSpPr>
          <p:cNvPr id="7" name="Chevron 6"/>
          <p:cNvSpPr/>
          <p:nvPr/>
        </p:nvSpPr>
        <p:spPr>
          <a:xfrm>
            <a:off x="3429000" y="1554480"/>
            <a:ext cx="2514600" cy="658368"/>
          </a:xfrm>
          <a:prstGeom prst="chevron">
            <a:avLst/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scene_accept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cada escena</a:t>
            </a:r>
          </a:p>
        </p:txBody>
      </p:sp>
      <p:sp>
        <p:nvSpPr>
          <p:cNvPr id="8" name="Chevron 7"/>
          <p:cNvSpPr/>
          <p:nvPr/>
        </p:nvSpPr>
        <p:spPr>
          <a:xfrm>
            <a:off x="6309359" y="1554480"/>
            <a:ext cx="2514600" cy="658368"/>
          </a:xfrm>
          <a:prstGeom prst="chevron">
            <a:avLst/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chapter_close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cada capítulo</a:t>
            </a:r>
          </a:p>
        </p:txBody>
      </p:sp>
      <p:sp>
        <p:nvSpPr>
          <p:cNvPr id="9" name="Chevron 8"/>
          <p:cNvSpPr/>
          <p:nvPr/>
        </p:nvSpPr>
        <p:spPr>
          <a:xfrm>
            <a:off x="9189719" y="1554480"/>
            <a:ext cx="2514600" cy="658368"/>
          </a:xfrm>
          <a:prstGeom prst="chevron">
            <a:avLst/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pre_publish</a:t>
            </a:r>
          </a:p>
          <a:p>
            <a:pPr algn="ctr"/>
            <a:r>
              <a:rPr sz="1100">
                <a:solidFill>
                  <a:srgbClr val="52606D"/>
                </a:solidFill>
                <a:latin typeface="Calibri"/>
              </a:rPr>
              <a:t>antes de publicar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468880"/>
          <a:ext cx="1109441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961"/>
                <a:gridCol w="4401090"/>
                <a:gridCol w="2658992"/>
                <a:gridCol w="284237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Validadores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Punto de ejecución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 falla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Programático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brief_schema · schema_role_output · chapter_length · exact_names · brief_coverage · no_placeholders · calendar_consistency · prose_repetition (linter X02) · visual_check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hook · scene_accept · chapter_close · pre_publish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vuelve al rol productor con la evidencia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forbidden_words_scene · forbidden_words_chapter · free_text_injection (prescan)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entrevista · scene_accept · chapter_close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reescritura ≤ 2 → forbidden_word_limit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Semántico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judge_chapter · judge_novel · revisión humana (misma rúbrica)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chapter_close · pre_publish · una novela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editor; aprueba si cada criterio ≥ 3 y media ≥ 3,5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Formal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lean_chronology (4 invariantes) · TLA+/TLC del flujo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pre_publish · desarrollo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versión bloqueada; ≤ 2 rondas de reparación de los capítulos citados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Cada validador tiene nombre y punto de ejecución, y envía su resultado a Langfuse como score. </a:t>
            </a:r>
            <a:r>
              <a:rPr sz="1300" b="1" i="0">
                <a:solidFill>
                  <a:srgbClr val="52606D"/>
                </a:solidFill>
                <a:latin typeface="Calibri"/>
              </a:rPr>
              <a:t>Si se agota el presupuesto, la versión queda bloqueada: 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nunca se publica.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Reglas que se cumplen aunque el modelo no quiera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697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Vetos en 3 niveles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0377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Global: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sembrado por migración (1300).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Novela: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los vetos del cliente en el brief.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Léxico: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variantes extra que aporta cada validador.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Un acierto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vuelve al escritor, ≤ 2 veces.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600200"/>
            <a:ext cx="3515258" cy="2697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818" y="1755648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Un solo normalizador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2240280"/>
            <a:ext cx="310377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Plegado común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de texto y término (NFKD, sin tildes).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Detecta: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t0nt0 · tontooo · t.o.n.t.o · cabrones → cabrón.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Sin falsos positivos: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«ridículo», «tontería».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Palabra completa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y frases, no subcadenas.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600200"/>
            <a:ext cx="3515258" cy="26974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6396" y="1755648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Texto libre = no confiable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396" y="2240280"/>
            <a:ext cx="310377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Prescan determinista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de inyección antes del modelo.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El extractor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solo devuelve hechos, y marca la sospecha.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Ningún rol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recibe el texto libre crudo.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Cada decisión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en policy_decision y en Langfuse.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526280"/>
          <a:ext cx="1109441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665"/>
                <a:gridCol w="3025749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Hooks de Claude Code (mismo código que el pipeline)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Write backend/.env · valor con forma de clave de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bloqueado (exit 2)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Bash sqlite3 data/harness.sqlite "delete …"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bloqueado (exit 2)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Bash sqlite3 … "select …" · Edit backend/app/main.py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permitido (exit 0)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Capítulo con «c4br0n» o de 2 palabras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bloqueado (exit 2)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LEAN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La cronología de cada novela se demuestra, no se opina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551F"/>
                </a:solidFill>
                <a:latin typeface="Courier New"/>
              </a:rPr>
              <a:t>temporalOrder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Lo contado después ocurre el mismo día o más tarde.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0020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709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551F"/>
                </a:solidFill>
                <a:latin typeface="Courier New"/>
              </a:rPr>
              <a:t>agesCoherent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011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Cada edad declarada = años desde el nacimiento.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807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551F"/>
                </a:solidFill>
                <a:latin typeface="Courier New"/>
              </a:rPr>
              <a:t>noBilocation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Nadie está en dos lugares el mismo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6974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807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2551F"/>
                </a:solidFill>
                <a:latin typeface="Courier New"/>
              </a:rPr>
              <a:t>noAfterExit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Tras una muerte o partida, esa persona no reaparece.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7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200" b="1" i="0">
                <a:solidFill>
                  <a:srgbClr val="1F2933"/>
                </a:solidFill>
                <a:latin typeface="Calibri"/>
              </a:rPr>
              <a:t>Se genera desde la story bible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y corre en pre_publish (lake build); si falla, no se publica.</a:t>
            </a:r>
          </a:p>
          <a:p>
            <a:pPr algn="l">
              <a:spcAft>
                <a:spcPts val="500"/>
              </a:spcAft>
            </a:pPr>
            <a:r>
              <a:rPr sz="7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200" b="1" i="0">
                <a:solidFill>
                  <a:srgbClr val="1F2933"/>
                </a:solidFill>
                <a:latin typeface="Calibri"/>
              </a:rPr>
              <a:t>También antes de escribir: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el plan pasa el mismo diagnóstico y se replanea.</a:t>
            </a:r>
          </a:p>
          <a:p>
            <a:pPr algn="l">
              <a:spcAft>
                <a:spcPts val="500"/>
              </a:spcAft>
            </a:pPr>
            <a:r>
              <a:rPr sz="7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200" b="1" i="0">
                <a:solidFill>
                  <a:srgbClr val="1F2933"/>
                </a:solidFill>
                <a:latin typeface="Calibri"/>
              </a:rPr>
              <a:t>Bool + Prop + teorema: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la comprobación es una prueba; decide +kernel, sin Mathlib (300 eventos en 17 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B8794"/>
                </a:solidFill>
                <a:latin typeface="Calibri"/>
              </a:rPr>
              <a:t>Lo que Lean no vio: </a:t>
            </a:r>
            <a:r>
              <a:rPr sz="1100" b="0" i="0">
                <a:solidFill>
                  <a:srgbClr val="7B8794"/>
                </a:solidFill>
                <a:latin typeface="Calibri"/>
              </a:rPr>
              <a:t>edades (las recalcula el exportador; las vio judge_chapter) y una partida que el planner no registró como evento.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00200"/>
            <a:ext cx="5470855" cy="45262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19072"/>
            <a:ext cx="5013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Caso real (L04)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5013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b4-temporal, plan sin prechequeo: la mascota muere en 2005 y lleva los anillos en la boda de 2008.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0" y="2697480"/>
          <a:ext cx="501365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161"/>
                <a:gridCol w="289249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Validador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¿Lo vio?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lean_chronology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Sí — noAfterExit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judge_novel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Sí — continuidad 2/5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judge_chapter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No — aprobó el capítulo de la muerte y la boda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6 validadores programáticos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0" y="4754880"/>
            <a:ext cx="5013655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2606D"/>
                </a:solidFill>
                <a:latin typeface="Calibri"/>
              </a:rPr>
              <a:t>Lectura honesta: </a:t>
            </a:r>
            <a:r>
              <a:rPr sz="1200" b="0" i="0">
                <a:solidFill>
                  <a:srgbClr val="52606D"/>
                </a:solidFill>
                <a:latin typeface="Calibri"/>
              </a:rPr>
              <a:t>no lo vio solo Lean; judge_novel coincidió. Lean es determinista, señala el evento exacto y actúa antes de escribir (~0,12 USD frente a ~1,3 USD). Solo prueba lo que el planner pone en la cronología.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TLA+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El flujo del harness, comprobado con TLC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Configured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18470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40" y="16002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Planned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8470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6002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Scene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18470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6002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Editor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18470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6002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Close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78340" y="2103120"/>
            <a:ext cx="0" cy="41148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25146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Checkpoint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321040" y="27614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20840" y="25146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263640" y="27614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63440" y="25146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3"/>
                </a:solidFill>
                <a:latin typeface="Calibri"/>
              </a:rPr>
              <a:t>PrePublish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206240" y="2761488"/>
            <a:ext cx="457200" cy="0"/>
          </a:xfrm>
          <a:prstGeom prst="line">
            <a:avLst/>
          </a:prstGeom>
          <a:ln w="19050">
            <a:solidFill>
              <a:srgbClr val="5260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06040" y="25146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270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Published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1460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Calibri"/>
              </a:rPr>
              <a:t>StoppedError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Bucles acotados (≤ 2 reintentos, ≤ 2 rondas de reparación) → StoppedError al agotarse. Crash → Resume desde la BD. ChangeFact → versión v+1.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611880"/>
          <a:ext cx="74066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711"/>
                <a:gridCol w="1033484"/>
                <a:gridCol w="378944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Propiedad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Garantiza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NoUnvalidatedPublish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invariante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no se publica nada que no pasó todos los validadores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ResumeNoDupNoLoss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invariante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reanudar no duplica ni pierde capítulos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PreviousVersionKept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invariante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la versión publicada anterior no cambia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RetriesBounded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invariante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reintentos acotados, también tras un crash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Termination · EveryGenerationEnds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liveness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toda generación acaba publicada o en 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8275319" y="3611880"/>
            <a:ext cx="3367735" cy="21945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3703320"/>
            <a:ext cx="291053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3F4EA"/>
                </a:solidFill>
                <a:latin typeface="Calibri"/>
              </a:rPr>
              <a:t>Sin errores</a:t>
            </a:r>
          </a:p>
          <a:p>
            <a:pPr algn="l"/>
            <a:r>
              <a:rPr sz="3000" b="1" i="0">
                <a:solidFill>
                  <a:srgbClr val="C2551F"/>
                </a:solidFill>
                <a:latin typeface="Cambria"/>
              </a:rPr>
              <a:t>5.492.531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estados distintos</a:t>
            </a:r>
          </a:p>
          <a:p>
            <a:pPr algn="l"/>
            <a:r>
              <a:rPr sz="1100" b="0" i="0">
                <a:solidFill>
                  <a:srgbClr val="C9CFD6"/>
                </a:solidFill>
                <a:latin typeface="Calibri"/>
              </a:rPr>
              <a:t>10.031.846 generados · profundidad 127 · 08min 17s</a:t>
            </a:r>
          </a:p>
          <a:p>
            <a:pPr algn="l"/>
            <a:r>
              <a:rPr sz="1100" b="0" i="0">
                <a:solidFill>
                  <a:srgbClr val="C9CFD6"/>
                </a:solidFill>
                <a:latin typeface="Calibri"/>
              </a:rPr>
              <a:t>N = 5 capítulos · 3 escenas · reintentos 2/2 · reparación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TLC se re-ejecutó al subir MAX_REPAIR_ROUNDS de 1 a 2 en el tuning 1. Correspondencia acción → código en formal/tla/README.md.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TLA+ · CONTRAEJEMPLOS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Cuatro trazas de TLC que cambiaron el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2606D"/>
                </a:solidFill>
                <a:latin typeface="Calibri"/>
              </a:rPr>
              <a:t>El modelo se escribió antes que el pipeline, leyendo el esquema y el plan tal cual. TLC encontró dónde esa lectura se rompía.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944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26"/>
                <a:gridCol w="1818756"/>
                <a:gridCol w="909378"/>
                <a:gridCol w="3910326"/>
                <a:gridCol w="3910326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Invariante violado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Traza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Regla para el código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CE1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ResumeNoDupNoLoss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18 estados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Un crash entre la fila del capítulo y su checkpoint duplica el capítulo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Texto del capítulo y checkpoint en una sola transacción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CE2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RetriesBounded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21 estados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El contador de reintentos de capítulo vivía en memoria; un crash lo reiniciaba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Reintentos de capítulo contados desde validator_result persistidos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CE3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ResumeNoDupNoLoss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46 estados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La ronda de reparación insertaba una segunda fila del mismo capítulo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Upsert por (versión, capítulo); una versión publicada no se escribe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CE4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RetriesBounded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50 estados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El contador de rondas de reparación vivía en memoria; un crash lo reiniciaba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Ronda de reparación guardada en novel_version junto a «blocked»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548640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Efecto: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la spec de la story bible volvió a borrador y se reaprobó antes de que existiera el pipeline, que nació con las cuatro reglas. Dos mutaciones (publicar sin pre_publish, regenerar en sitio) confirman que las propiedades no son vacías.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LANGFUSE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Qué hizo cada llamada, cuánto costó y con qué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00200" cy="603504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Sesión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1907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una por novela: entrevista, generación y regeneraciones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468880"/>
            <a:ext cx="1600200" cy="603504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Traza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54203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una por generate o change_fact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91840"/>
            <a:ext cx="1600200" cy="603504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Spans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36499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phase:* · chapter:&lt;n&gt; · role:&lt;rol&gt; · tool:&lt;nombre&gt;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1600200" cy="603504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 w="12700">
            <a:solidFill>
              <a:srgbClr val="C25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Generaciones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18795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tokens, coste y latencia por llamada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19" y="4937760"/>
            <a:ext cx="1600200" cy="603504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 w="12700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01091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cada validador, guardrail y criterio del juez; novel_cost_usd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645920"/>
            <a:ext cx="41449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Prompts versionados en las evals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79" y="2057400"/>
          <a:ext cx="414497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43"/>
                <a:gridCol w="1355087"/>
                <a:gridCol w="956532"/>
                <a:gridCol w="79711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Llamadas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editor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editor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interviewer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fact_extractor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sha-609af91…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judge_chapter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judge_novel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writer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writer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98079" y="4453128"/>
            <a:ext cx="41449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Última versión usada por prompt. Cada llamada guarda prompt_version también en llm_call (SQLite): el antes/después no depende de Langfuse.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EVALS Y TUNING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Cinco briefs, antes y después de la iteración de 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840480" cy="192024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NOVELAS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29968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0/3 → 2/3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CFD6"/>
                </a:solidFill>
                <a:latin typeface="Calibri"/>
              </a:rPr>
              <a:t>entre los briefs generables (antes → después); b5 se rechaza en el brief, como se espera.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49039"/>
          <a:ext cx="3840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109"/>
                <a:gridCol w="980548"/>
                <a:gridCol w="980548"/>
                <a:gridCol w="49027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Brief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Después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b2-infantil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bloqueada</a:t>
                      </a:r>
                    </a:p>
                  </a:txBody>
                  <a:tcPr marL="54864" marR="54864" marT="27432" marB="27432" anchor="ctr"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publicada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0,97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b3-injection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bloqueada</a:t>
                      </a:r>
                    </a:p>
                  </a:txBody>
                  <a:tcPr marL="54864" marR="54864" marT="27432" marB="27432" anchor="ctr"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publicada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1,02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b4-temporal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parada (plan)</a:t>
                      </a:r>
                    </a:p>
                  </a:txBody>
                  <a:tcPr marL="54864" marR="54864" marT="27432" marB="27432" anchor="ctr">
                    <a:solidFill>
                      <a:srgbClr val="FBE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bloqueada</a:t>
                      </a:r>
                    </a:p>
                  </a:txBody>
                  <a:tcPr marL="54864" marR="54864" marT="27432" marB="27432" anchor="ctr"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1,93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b5-contradiction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rechazado</a:t>
                      </a:r>
                    </a:p>
                  </a:txBody>
                  <a:tcPr marL="54864" marR="54864" marT="27432" marB="27432" anchor="ctr"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rechazado</a:t>
                      </a:r>
                    </a:p>
                  </a:txBody>
                  <a:tcPr marL="54864" marR="54864" marT="27432" marB="27432" anchor="ctr">
                    <a:solidFill>
                      <a:srgbClr val="FDF3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663440" y="1600200"/>
            <a:ext cx="6979615" cy="45262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719072"/>
            <a:ext cx="6430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mbria"/>
              </a:rPr>
              <a:t>Qué cambió: causa y arreglo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194560"/>
            <a:ext cx="6430975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brief_coverage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exigía la frase literal del recuerdo → palabras de contenido normalizadas (spec 008).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noAfterExit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daba por «salido» a quien enterraba a la mascota → eje de la historia, solo el primer participante; Lean y Python iguales.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Planner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capítulos solapados y saltos vagos → time_marker por capítulo y chequeo de solape.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Juez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bloqueaba por defectos «posibles» → solo un defecto «alta» concreto; umbrales D11 intactos.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300" b="1" i="0">
                <a:solidFill>
                  <a:srgbClr val="1F2933"/>
                </a:solidFill>
                <a:latin typeface="Calibri"/>
              </a:rPr>
              <a:t>Reparación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rehacía capítulos que nadie pedía → solo capitulos_a_reparar; MAX_REPAIR_ROUNDS 1 → 2, TLC re-ejecutado.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5120640"/>
            <a:ext cx="6430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Prompts en Langfuse: planner 2 → 4 · writer 3 → 4 · editor 3 → 4 · juez 1 → 2. b4 pasa de un falso positivo a un bloqueo correcto: su trampa de edad no tiene lectura coherente.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SABEMOS QUE FUNCIONA · SEGURIDAD Y OPCIONALES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Red-team, informe de seguridad y los extras que suman nota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C2551F"/>
                </a:solidFill>
                <a:latin typeface="Cambri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hallazgos en el informe X04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243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C2551F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críticos o altos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C2551F"/>
                </a:solidFill>
                <a:latin typeface="Cambria"/>
              </a:rP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9709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medios corregidos, con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7258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C2551F"/>
                </a:solidFill>
                <a:latin typeface="Cambr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2122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corregidos en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15000"/>
            <a:ext cx="3017520" cy="50292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42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Red-team: 8/8 casos detenidos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600200"/>
            <a:ext cx="3718407" cy="2103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78308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X04 · Informe de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40280"/>
            <a:ext cx="32612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Secretos en 201 commits, pip-audit y npm audit, inyección (prescan 10/17 → 17/17), exfiltración entre novelas, hooks. Skill security-review-harness para repetirlo.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647" y="1600200"/>
            <a:ext cx="3718407" cy="2103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247" y="178308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X03 · Login con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247" y="2240280"/>
            <a:ext cx="32612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bcrypt + JWT; cada novela tiene dueño y otro usuario recibe 404. Cierra SEC-01 y SEC-08 (spec 018).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931920"/>
            <a:ext cx="3718407" cy="2103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11480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X01 · Servidor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572000"/>
            <a:ext cx="32612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FastMCP de solo lectura: list_novels, get_chapter, list_versions, query_story_bible, download_novel. Schemas, trazas en Langfuse e identidad del usuario.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4647" y="3931920"/>
            <a:ext cx="3718407" cy="210312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247" y="411480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mbria"/>
              </a:rPr>
              <a:t>X02 · Linter de prosa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247" y="4572000"/>
            <a:ext cx="32612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606D"/>
                </a:solidFill>
                <a:latin typeface="Calibri"/>
              </a:rPr>
              <a:t>prose_repetition: repeticiones, 4-gramas y clichés de IA en español; blando para no crear bucles de reescritura.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RESULTADOS · NOVELAS DE 10 CAPÍTULOS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Dos novelas bloqueadas: nada sin validar se publica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971800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551F"/>
                </a:solidFill>
                <a:latin typeface="Calibri"/>
              </a:rPr>
              <a:t>INTENTO 1 · ANTES DEL TUNING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53030"/>
                </a:solidFill>
                <a:latin typeface="Cambria"/>
              </a:rPr>
              <a:t>Bloqueada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judge_novel: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saltos temporales sin anclaje y capítulos 1 y 2 solapados («la última clase»)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606D"/>
                </a:solidFill>
                <a:latin typeface="Calibri"/>
              </a:rPr>
              <a:t>10 capítulos escritos · 1 ronda de reparación · 91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mbria"/>
              </a:rPr>
              <a:t>3,68 USD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2186" y="3063240"/>
            <a:ext cx="237744" cy="0"/>
          </a:xfrm>
          <a:prstGeom prst="line">
            <a:avLst/>
          </a:prstGeom>
          <a:ln w="25400">
            <a:solidFill>
              <a:srgbClr val="C25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4663440"/>
            <a:ext cx="30580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→ motivó el tuning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600200"/>
            <a:ext cx="3515258" cy="2971800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818" y="17373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551F"/>
                </a:solidFill>
                <a:latin typeface="Calibri"/>
              </a:rPr>
              <a:t>INTENTO 2 · DESPUÉS DEL TUNING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0116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53030"/>
                </a:solidFill>
                <a:latin typeface="Cambria"/>
              </a:rPr>
              <a:t>Bloqueada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606040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judge_novel: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días de la semana que contradicen su fecha (21, 23 y 24 de junio de 2026) y «treinta años» frente a 34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606D"/>
                </a:solidFill>
                <a:latin typeface="Calibri"/>
              </a:rPr>
              <a:t>10 capítulos escritos · 2 rondas de reparación · 109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397763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mbria"/>
              </a:rPr>
              <a:t>4,61 USD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71764" y="3063240"/>
            <a:ext cx="237744" cy="0"/>
          </a:xfrm>
          <a:prstGeom prst="line">
            <a:avLst/>
          </a:prstGeom>
          <a:ln w="25400">
            <a:solidFill>
              <a:srgbClr val="C255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66818" y="4663440"/>
            <a:ext cx="30580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→ motivó el tuning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1600200"/>
            <a:ext cx="3515258" cy="29718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396" y="1737360"/>
            <a:ext cx="30580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551F"/>
                </a:solidFill>
                <a:latin typeface="Calibri"/>
              </a:rPr>
              <a:t>INTENTO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01168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7B8794"/>
                </a:solidFill>
                <a:latin typeface="Cambria"/>
              </a:rPr>
              <a:t>Pendiente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2606040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Generándose con el tuning 2. </a:t>
            </a:r>
            <a:r>
              <a:rPr sz="1200" b="0" i="0">
                <a:solidFill>
                  <a:srgbClr val="1F2933"/>
                </a:solidFill>
                <a:latin typeface="Calibri"/>
              </a:rPr>
              <a:t>Estado, coste, palabras y rondas se rellenan desde runs.json al reconstruir.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396" y="397763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2933"/>
                </a:solidFill>
                <a:latin typeface="Cambria"/>
              </a:rPr>
              <a:t>pendiente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193792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Tuning 2 · calendario determinista.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El writer inventaba el día de la semana y cada reparación inventaba otro. Ahora el plan corrige los días en Python (calendar_facts.py), writer y editor reciben plan/calendar.txt con fechas y cifras canónicas, y calendar_consistency para en chapter_close «…pero el 23 de junio de 2026 es martes».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RESULTADOS · LA NOVELA DE EJEMPLO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Una novela publicada de principio a fin, en PDF</a:t>
            </a:r>
          </a:p>
        </p:txBody>
      </p:sp>
      <p:pic>
        <p:nvPicPr>
          <p:cNvPr id="6" name="Picture 5" descr="novela-3-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5905"/>
            <a:ext cx="2240280" cy="3180428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pic>
        <p:nvPicPr>
          <p:cNvPr id="7" name="Picture 6" descr="novela-3-in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655905"/>
            <a:ext cx="2240280" cy="3180428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pic>
        <p:nvPicPr>
          <p:cNvPr id="8" name="Picture 7" descr="novela-3-ca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655905"/>
            <a:ext cx="2240280" cy="3180428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983480"/>
            <a:ext cx="7086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ejemplos/novela-infantil-3-capitulos.pdf · portada, índice y capítulo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2551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39112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capítulos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50008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2551F"/>
                </a:solidFill>
                <a:latin typeface="Cambria"/>
              </a:rPr>
              <a:t>3.409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8892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palabras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099815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2551F"/>
                </a:solidFill>
                <a:latin typeface="Cambria"/>
              </a:rPr>
              <a:t>0,85 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38727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coste con Haiku 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49624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2551F"/>
                </a:solidFill>
                <a:latin typeface="Cambria"/>
              </a:rPr>
              <a:t>21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288536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de generación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599431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2551F"/>
                </a:solidFill>
                <a:latin typeface="Cambr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5038344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606D"/>
                </a:solidFill>
                <a:latin typeface="Calibri"/>
              </a:rPr>
              <a:t>rondas de reparación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8000"/>
            </a:avLst>
          </a:prstGeom>
          <a:solidFill>
            <a:srgbClr val="FDF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48640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Brief b2-infantil, 3 capítulos. La novela de 10 capítulos (ejemplos/novela-ejemplo.pdf) está pendiente y sustituye a esta al reconstruir.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RESULTADOS · COSTE Y LATENCIA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Lo que cuesta una novela con Claude Haiku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2551F"/>
                </a:solidFill>
                <a:latin typeface="Cambria"/>
              </a:rPr>
              <a:t>0,35 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942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coste medio por capítulo (evals)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24912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2551F"/>
                </a:solidFill>
                <a:latin typeface="Cambria"/>
              </a:rPr>
              <a:t>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tiempo de modelo por capítulo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3904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2551F"/>
                </a:solidFill>
                <a:latin typeface="Cambria"/>
              </a:rPr>
              <a:t>3,68–4,61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074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novela de 10 capítulos (intentos completos)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2551F"/>
                </a:solidFill>
                <a:latin typeface="Cambria"/>
              </a:rPr>
              <a:t>91–109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tiempo real, 10 capítulos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023360" y="1554480"/>
          <a:ext cx="4206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412480" y="1554480"/>
          <a:ext cx="324612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Datos: tabla llm_call (evals/results/*/*.json) y logs de la CLI (presentacion/build/data/runs.json). Las reparaciones cuentan en el coste.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CÓMO SE CONSTRUYÓ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Un orquestador y subagentes en paralelo, con reglas escritas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5623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CLAUDE.md + AGENTS.md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Mapa de docs y Procesos 0–3: docs → spec → plan → código. Proceso 0: preguntas con recomendación antes de editar.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6818" y="182880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8026" y="185623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Subagentes por bloque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37744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Un git worktree por agente, bloques en oleadas; contratos K1–K5 publicados antes que su implementación.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6396" y="182880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7604" y="185623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37744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gift-novel-run y security-review-harness (creadas), react, sqlite, verification, fastapi.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86791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Comandos 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/generate-novel · /inspect-novel · /change-fact · /exam-gap.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361188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66818" y="384048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026" y="386791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38912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PreToolUse policy_guard y PostToolUse validate_chapter: el mismo código que el pipeline, 14 casos probados.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3611880"/>
            <a:ext cx="3515258" cy="17830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56396" y="3840480"/>
            <a:ext cx="384048" cy="384048"/>
          </a:xfrm>
          <a:prstGeom prst="ellipse">
            <a:avLst/>
          </a:prstGeom>
          <a:solidFill>
            <a:srgbClr val="C2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7604" y="3867912"/>
            <a:ext cx="2600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933"/>
                </a:solidFill>
                <a:latin typeface="Cambria"/>
              </a:rPr>
              <a:t>Browser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389120"/>
            <a:ext cx="305805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2606D"/>
                </a:solidFill>
                <a:latin typeface="Calibri"/>
              </a:rPr>
              <a:t>Playwright MCP inspeccionó el lector: cazó un 500 intermitente (SQLite entre hilos) y fichas sin versionar; ambos corregidos.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650992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Un límite que funcionó: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un subagente intentó ampliar las exenciones de una regla de seguridad y el clasificador del modo auto lo bloqueó; la decisión quedó para el humano.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DECISIONES CLAVE Y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Qué elegimos, frente a qué, y lo que costó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4060"/>
                <a:gridCol w="2292234"/>
                <a:gridCol w="3300817"/>
                <a:gridCol w="2567302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Frente a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Coste</a:t>
                      </a:r>
                    </a:p>
                  </a:txBody>
                  <a:tcPr marL="54864" marR="54864" marT="27432" marB="27432" anchor="ctr">
                    <a:solidFill>
                      <a:srgbClr val="1F2933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Multi-agente con orquestador determinista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un agente con herramientas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permisos en código, reintento por paso, trazas por 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más llamadas y más orquestación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SQLite autoritativa con hechos estructurados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RAG vectorial sobre la prosa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hechos exactos, fact_usage, entrada de Lean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sin búsqueda semántica en el pipeline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Calendario y cifras en Python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confiar en el LLM y el juez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determinista y barato; converge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solo días junto a una fecha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Lector web + PDF exportado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solo PDF interactivo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pedir cambios, ver versiones, validar con MCP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dos superficies que mantener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TLA+ antes que el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modelar después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4 errores de diseño cazados cuando eran baratos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el modelo abstrae la prosa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Lean core, decide +kernel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Mathlib, native_decide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sin descargas; confía en el kernel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noBilocation cuadrático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claude -p sin tools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SDK con API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ninguna clave en el repo; rol aislado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arranque por llamada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Haiku 4.5 para todos los roles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Sonnet/Opus en writer y juez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coste y latencia de 10 capítulos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calidad vigilada por el juez</a:t>
                      </a:r>
                    </a:p>
                  </a:txBody>
                  <a:tcPr marL="54864" marR="54864" marT="27432" marB="27432" anchor="ctr">
                    <a:solidFill>
                      <a:srgbClr val="F3F5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Juez bloqueante (≥ 3, media ≥ 3,5)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juez consultivo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D11: la calidad también bloquea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reescrituras ≤ 2, reparaciones ≤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B8794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B8794"/>
                </a:solidFill>
                <a:latin typeface="Calibri"/>
              </a:rPr>
              <a:t>My Story Marker · harness de novelas-regalo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LIMITACIONES Y SIGUIENTES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mbria"/>
              </a:rPr>
              <a:t>Lo que todavía no está demostrado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45262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Cambria"/>
              </a:rPr>
              <a:t>Limitaciones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86140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Novela de 10 capítulos: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pendiente de publicar con el tuning 2.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Fichas de personajes sin versionar en la BD: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solo el nombre se reconstruye por versión.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Días sin fecha al lado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(«aquel lunes») y duraciones («treinta años») no se validan; van por prompt.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Lean solo prueba lo que hay en la cronología: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una partida que el planner no registra no se detecta.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b4 bloquea bien pero caro: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agota reparaciones y el timeout de 45 min.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Regla de fronteras heredada: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21 accesos a ficheros fuera de los stores, pendientes de decisión.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00200"/>
            <a:ext cx="5410047" cy="4526280"/>
          </a:xfrm>
          <a:prstGeom prst="roundRect">
            <a:avLst>
              <a:gd name="adj" fmla="val 8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173736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C2551F"/>
                </a:solidFill>
                <a:latin typeface="Cambria"/>
              </a:rPr>
              <a:t>Con más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40280"/>
            <a:ext cx="486140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Versionar el reparto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(descripción y rol por versión).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Validar días y duraciones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en la prosa, no solo junto a fechas.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Evento «departure» obligatorio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cuando el brief dice que alguien se fue.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Revisión humana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y calibración del juez con compare.py.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Paralelizar capítulos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independientes para bajar la latencia.</a:t>
            </a:r>
          </a:p>
          <a:p>
            <a:pPr algn="l">
              <a:spcAft>
                <a:spcPts val="900"/>
              </a:spcAft>
            </a:pPr>
            <a:r>
              <a:rPr sz="900" b="0" i="0">
                <a:solidFill>
                  <a:srgbClr val="C2551F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1F2933"/>
                </a:solidFill>
                <a:latin typeface="Calibri"/>
              </a:rPr>
              <a:t>Tools de escritura en el MCP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con permisos y confirmación.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2551F"/>
                </a:solidFill>
                <a:latin typeface="Calibri"/>
              </a:rPr>
              <a:t>LA DECISIÓN DE DISEÑO MÁS IMPORTANTE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62895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mbria"/>
              </a:rPr>
              <a:t>Separar la verdad (story bible SQLite + validadores deterministas + Lean/TLA+) de la prosa generada, con un bucle acotado planner → writer → editor → juez que solo publica versiones que pasan todos los validadores.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2551F"/>
                </a:solidFill>
                <a:latin typeface="Calibri"/>
              </a:rPr>
              <a:t>ANEXOS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CFD6"/>
                </a:solidFill>
                <a:latin typeface="Calibri"/>
              </a:rPr>
              <a:t>anexo-arquitectura.pdf  ·  anexo-tla-spec.pdf  ·  anexo-lean-invariantes.pdf  ·  anexo-evals-tabla.pdf  ·  anexo-revision-humana.pdf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B8794"/>
                </a:solidFill>
                <a:latin typeface="Calibri"/>
              </a:rPr>
              <a:t>Gracias · preguntas · presentacion/ · commit 81e1518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